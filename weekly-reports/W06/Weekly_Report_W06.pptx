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1d4574e-5157-52a0-be3c-b8e801286e02}">
          <p14:sldIdLst>
            <p14:sldId id="256"/>
          </p14:sldIdLst>
        </p14:section>
        <p14:section name="Technical progress" id="{a184f01f-da5e-5f3b-7ce1-628269ff21e7}">
          <p14:sldIdLst>
            <p14:sldId id="257"/>
            <p14:sldId id="258"/>
            <p14:sldId id="259"/>
            <p14:sldId id="260"/>
            <p14:sldId id="261"/>
            <p14:sldId id="262"/>
            <p14:sldId id="263"/>
            <p14:sldId id="264"/>
          </p14:sldIdLst>
        </p14:section>
        <p14:section name="Deliverables" id="{a03befef-9ef4-16eb-307a-ea3e24495676}">
          <p14:sldIdLst>
            <p14:sldId id="265"/>
            <p14:sldId id="266"/>
          </p14:sldIdLst>
        </p14:section>
        <p14:section name="Team" id="{661905c8-903a-34fd-631f-8c5020e56fce}">
          <p14:sldIdLst>
            <p14:sldId id="267"/>
          </p14:sldIdLst>
        </p14:section>
        <p14:section name="Conclusion" id="{26427d31-9d6f-1d5a-eed6-a1162f8c6cd5}">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(max 10 min): 1) Technical progress – system development; 2) Experimental progress – deliverables; 3) Team collaboration and management (max 2 min). After the W05 feedback we decided to go deep on one use case, Process Sale, instead of describing everything at a high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primary actor, four supporting actors (external systems), five use cases. UC5 Return Rental is new: the analysis showed that returning rented equipment was not covered. Same links as the SRS §3.1.3 and Borja's diagram v0.2 (assets/use_case_diagram.puml): UC1, UC2, UC3 and UC5 use the Payment Service, Tax Calculator and Accounting System; UC4 uses the HR System and the Accounting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open questions in the W06 documents (use case model, glossary). We decided them as a team and applied them in the SRS v0.1. This is the kind of correction requirements analysis should 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Fully dressed use case in the SRS §3.2.1: stakeholders and interests, precondition (open cashier session, UC4), success and failure guarantees, 13 steps in two columns, 13 extensions, special requirements and open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Throw-away prototype, as decided in the process model: it validates the cashier's screens and the use case flows, it is not production code. Demo live if there is time: index.html → New sale → scan 1001 → Pay → Exact → Complete. Built by Haifa and Yasmine.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extensions in total (SRS §3.2.1). Each one is a condition the system can detect plus the response, and each is linked to a business rule (glossary) or an interface requirement (external interfaces). Main principle: an external failure never loses a sale or a payment, and never breaks a store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Documents: SRS §3.2.6 (FR), nfrs.md (NFR), glossary.md (BR), external_interfaces.md (IR), requirements_conventions.md (IDs, MoSCoW, writing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Texts are copied from the SRS (FR), the external interfaces inventory (IR), nfrs.md (NFR) and the glossary (BR). BR-06 is still Proposed until we confirm the rules against the full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chain we want for every requirement: why it exists (use case and business rule), what the system must do (FR), which external system is involved (IR), which quality constraint applies (NFR) and how we will test it (TC). Test case TC-10 is from Josué's traceability matrix (requirements_conventions.md).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status: #14 Josué → Haifa (external interfaces), #16 Alfonso → Borja (use case model, fixed in v0.2), #17 Haifa → Avni (glossary), #19 Avni → Alfonso (SRS, 6 findings, fixed in v0.2 and v0.3), #20 and #21 Borja → Yasmine (stakeholders, elicitation plan). Still missing: Yasmine → Josué. Update this column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fully dressed use case adds its own FRs (FR-18 onwards) to the SRS.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to 2 minutes. Reviews form a cycle so nobody reviews their own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4D5C"/>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8046720" cy="822960"/>
          </a:xfrm>
          <a:prstGeom prst="rect">
            <a:avLst/>
          </a:prstGeom>
          <a:noFill/>
          <a:ln/>
        </p:spPr>
        <p:txBody>
          <a:bodyPr wrap="square" lIns="0" tIns="0" rIns="0" bIns="0" rtlCol="0" anchor="ctr"/>
          <a:lstStyle/>
          <a:p>
            <a:pPr indent="0" marL="0">
              <a:buNone/>
            </a:pPr>
            <a:r>
              <a:rPr lang="en-US" sz="3800" b="1" dirty="0">
                <a:solidFill>
                  <a:srgbClr val="FFFFFF"/>
                </a:solidFill>
              </a:rPr>
              <a:t>NewEra POS — Progress Report</a:t>
            </a:r>
            <a:endParaRPr lang="en-US" sz="3800" dirty="0"/>
          </a:p>
        </p:txBody>
      </p:sp>
      <p:sp>
        <p:nvSpPr>
          <p:cNvPr id="3" name="Text 1"/>
          <p:cNvSpPr txBox="1"/>
          <p:nvPr/>
        </p:nvSpPr>
        <p:spPr>
          <a:xfrm>
            <a:off x="548640" y="2240280"/>
            <a:ext cx="8046720" cy="411480"/>
          </a:xfrm>
          <a:prstGeom prst="rect">
            <a:avLst/>
          </a:prstGeom>
          <a:noFill/>
          <a:ln/>
        </p:spPr>
        <p:txBody>
          <a:bodyPr wrap="square" lIns="0" tIns="0" rIns="0" bIns="0" rtlCol="0" anchor="ctr"/>
          <a:lstStyle/>
          <a:p>
            <a:pPr indent="0" marL="0">
              <a:buNone/>
            </a:pPr>
            <a:r>
              <a:rPr lang="en-US" sz="1800" dirty="0">
                <a:solidFill>
                  <a:srgbClr val="CFE3E1"/>
                </a:solidFill>
              </a:rPr>
              <a:t>Weekly Report W06 · Increment 1 – Requirements: UC1 Process Sale end to end</a:t>
            </a:r>
            <a:endParaRPr lang="en-US" sz="1800" dirty="0"/>
          </a:p>
        </p:txBody>
      </p:sp>
      <p:sp>
        <p:nvSpPr>
          <p:cNvPr id="4" name="Text 2"/>
          <p:cNvSpPr txBox="1"/>
          <p:nvPr/>
        </p:nvSpPr>
        <p:spPr>
          <a:xfrm>
            <a:off x="548640" y="2788920"/>
            <a:ext cx="8046720" cy="548640"/>
          </a:xfrm>
          <a:prstGeom prst="rect">
            <a:avLst/>
          </a:prstGeom>
          <a:noFill/>
          <a:ln/>
        </p:spPr>
        <p:txBody>
          <a:bodyPr wrap="square" lIns="0" tIns="0" rIns="0" bIns="0" rtlCol="0" anchor="ctr"/>
          <a:lstStyle/>
          <a:p>
            <a:pPr indent="0" marL="0">
              <a:buNone/>
            </a:pPr>
            <a:r>
              <a:rPr lang="en-US" sz="1400" i="1" dirty="0">
                <a:solidFill>
                  <a:srgbClr val="F2C98A"/>
                </a:solidFill>
              </a:rPr>
              <a:t>Response to the W05 feedback: we went deep on one use case — from the scenario to requirements, rules, interfaces and traceability.</a:t>
            </a:r>
            <a:endParaRPr lang="en-US" sz="1400" dirty="0"/>
          </a:p>
        </p:txBody>
      </p:sp>
      <p:sp>
        <p:nvSpPr>
          <p:cNvPr id="5" name="Text 3"/>
          <p:cNvSpPr txBox="1"/>
          <p:nvPr/>
        </p:nvSpPr>
        <p:spPr>
          <a:xfrm>
            <a:off x="548640" y="4023360"/>
            <a:ext cx="8046720" cy="320040"/>
          </a:xfrm>
          <a:prstGeom prst="rect">
            <a:avLst/>
          </a:prstGeom>
          <a:noFill/>
          <a:ln/>
        </p:spPr>
        <p:txBody>
          <a:bodyPr wrap="square" lIns="0" tIns="0" rIns="0" bIns="0" rtlCol="0" anchor="ctr"/>
          <a:lstStyle/>
          <a:p>
            <a:pPr indent="0" marL="0">
              <a:buNone/>
            </a:pPr>
            <a:r>
              <a:rPr lang="en-US" sz="1300" dirty="0">
                <a:solidFill>
                  <a:srgbClr val="CFE3E1"/>
                </a:solidFill>
              </a:rPr>
              <a:t>Team D · Software Engineering · Beihang University (BUAA) · github.com/bhsei/26D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274320" y="4681728"/>
            <a:ext cx="1005840" cy="182880"/>
          </a:xfrm>
          <a:prstGeom prst="rect">
            <a:avLst/>
          </a:prstGeom>
          <a:noFill/>
          <a:ln/>
        </p:spPr>
        <p:txBody>
          <a:bodyPr wrap="square" lIns="0" tIns="0" rIns="0" bIns="0" rtlCol="0" anchor="ctr"/>
          <a:lstStyle/>
          <a:p>
            <a:pPr indent="0" marL="0">
              <a:buNone/>
            </a:pPr>
            <a:r>
              <a:rPr lang="en-US" sz="800" b="1" dirty="0">
                <a:solidFill>
                  <a:srgbClr val="5F6B70"/>
                </a:solidFill>
              </a:rPr>
              <a:t>Course timeline</a:t>
            </a:r>
            <a:endParaRPr lang="en-US" sz="800" dirty="0"/>
          </a:p>
        </p:txBody>
      </p:sp>
      <p:sp>
        <p:nvSpPr>
          <p:cNvPr id="3" name="Shape 1"/>
          <p:cNvSpPr/>
          <p:nvPr/>
        </p:nvSpPr>
        <p:spPr>
          <a:xfrm>
            <a:off x="1325880" y="4773168"/>
            <a:ext cx="6537960" cy="0"/>
          </a:xfrm>
          <a:prstGeom prst="line">
            <a:avLst/>
          </a:prstGeom>
          <a:noFill/>
          <a:ln w="19050">
            <a:solidFill>
              <a:srgbClr val="C9D9D8"/>
            </a:solidFill>
            <a:prstDash val="solid"/>
          </a:ln>
        </p:spPr>
      </p:sp>
      <p:sp>
        <p:nvSpPr>
          <p:cNvPr id="4" name="Shape 2"/>
          <p:cNvSpPr/>
          <p:nvPr/>
        </p:nvSpPr>
        <p:spPr>
          <a:xfrm>
            <a:off x="1325880" y="4773168"/>
            <a:ext cx="2179320" cy="0"/>
          </a:xfrm>
          <a:prstGeom prst="line">
            <a:avLst/>
          </a:prstGeom>
          <a:noFill/>
          <a:ln w="31750">
            <a:solidFill>
              <a:srgbClr val="1B7F79"/>
            </a:solidFill>
            <a:prstDash val="solid"/>
          </a:ln>
        </p:spPr>
      </p:sp>
      <p:sp>
        <p:nvSpPr>
          <p:cNvPr id="5" name="Shape 3"/>
          <p:cNvSpPr/>
          <p:nvPr/>
        </p:nvSpPr>
        <p:spPr>
          <a:xfrm>
            <a:off x="1293876" y="4741164"/>
            <a:ext cx="64008" cy="64008"/>
          </a:xfrm>
          <a:prstGeom prst="ellipse">
            <a:avLst/>
          </a:prstGeom>
          <a:solidFill>
            <a:srgbClr val="1B7F79"/>
          </a:solidFill>
          <a:ln w="12700">
            <a:solidFill>
              <a:srgbClr val="1B7F79"/>
            </a:solidFill>
            <a:prstDash val="solid"/>
          </a:ln>
        </p:spPr>
      </p:sp>
      <p:sp>
        <p:nvSpPr>
          <p:cNvPr id="6" name="Text 4"/>
          <p:cNvSpPr txBox="1"/>
          <p:nvPr/>
        </p:nvSpPr>
        <p:spPr>
          <a:xfrm>
            <a:off x="105156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a:t>
            </a:r>
            <a:endParaRPr lang="en-US" sz="700" dirty="0"/>
          </a:p>
        </p:txBody>
      </p:sp>
      <p:sp>
        <p:nvSpPr>
          <p:cNvPr id="7" name="Shape 5"/>
          <p:cNvSpPr/>
          <p:nvPr/>
        </p:nvSpPr>
        <p:spPr>
          <a:xfrm>
            <a:off x="1729740" y="4741164"/>
            <a:ext cx="64008" cy="64008"/>
          </a:xfrm>
          <a:prstGeom prst="ellipse">
            <a:avLst/>
          </a:prstGeom>
          <a:solidFill>
            <a:srgbClr val="1B7F79"/>
          </a:solidFill>
          <a:ln w="12700">
            <a:solidFill>
              <a:srgbClr val="1B7F79"/>
            </a:solidFill>
            <a:prstDash val="solid"/>
          </a:ln>
        </p:spPr>
      </p:sp>
      <p:sp>
        <p:nvSpPr>
          <p:cNvPr id="8" name="Text 6"/>
          <p:cNvSpPr txBox="1"/>
          <p:nvPr/>
        </p:nvSpPr>
        <p:spPr>
          <a:xfrm>
            <a:off x="148742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W2</a:t>
            </a:r>
            <a:endParaRPr lang="en-US" sz="700" dirty="0"/>
          </a:p>
        </p:txBody>
      </p:sp>
      <p:sp>
        <p:nvSpPr>
          <p:cNvPr id="9" name="Shape 7"/>
          <p:cNvSpPr/>
          <p:nvPr/>
        </p:nvSpPr>
        <p:spPr>
          <a:xfrm>
            <a:off x="2165604" y="4741164"/>
            <a:ext cx="64008" cy="64008"/>
          </a:xfrm>
          <a:prstGeom prst="ellipse">
            <a:avLst/>
          </a:prstGeom>
          <a:solidFill>
            <a:srgbClr val="1B7F79"/>
          </a:solidFill>
          <a:ln w="12700">
            <a:solidFill>
              <a:srgbClr val="1B7F79"/>
            </a:solidFill>
            <a:prstDash val="solid"/>
          </a:ln>
        </p:spPr>
      </p:sp>
      <p:sp>
        <p:nvSpPr>
          <p:cNvPr id="10" name="Text 8"/>
          <p:cNvSpPr txBox="1"/>
          <p:nvPr/>
        </p:nvSpPr>
        <p:spPr>
          <a:xfrm>
            <a:off x="192328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W3</a:t>
            </a:r>
            <a:endParaRPr lang="en-US" sz="700" dirty="0"/>
          </a:p>
        </p:txBody>
      </p:sp>
      <p:sp>
        <p:nvSpPr>
          <p:cNvPr id="11" name="Shape 9"/>
          <p:cNvSpPr/>
          <p:nvPr/>
        </p:nvSpPr>
        <p:spPr>
          <a:xfrm>
            <a:off x="2578608" y="4718304"/>
            <a:ext cx="109728" cy="109728"/>
          </a:xfrm>
          <a:prstGeom prst="ellipse">
            <a:avLst/>
          </a:prstGeom>
          <a:solidFill>
            <a:srgbClr val="1B7F79"/>
          </a:solidFill>
          <a:ln w="12700">
            <a:solidFill>
              <a:srgbClr val="1B7F79"/>
            </a:solidFill>
            <a:prstDash val="solid"/>
          </a:ln>
        </p:spPr>
      </p:sp>
      <p:sp>
        <p:nvSpPr>
          <p:cNvPr id="12" name="Text 10"/>
          <p:cNvSpPr txBox="1"/>
          <p:nvPr/>
        </p:nvSpPr>
        <p:spPr>
          <a:xfrm>
            <a:off x="235915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W4</a:t>
            </a:r>
            <a:endParaRPr lang="en-US" sz="700" dirty="0"/>
          </a:p>
        </p:txBody>
      </p:sp>
      <p:sp>
        <p:nvSpPr>
          <p:cNvPr id="13" name="Text 11"/>
          <p:cNvSpPr txBox="1"/>
          <p:nvPr/>
        </p:nvSpPr>
        <p:spPr>
          <a:xfrm>
            <a:off x="2084832"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Process models</a:t>
            </a:r>
            <a:endParaRPr lang="en-US" sz="700" dirty="0"/>
          </a:p>
        </p:txBody>
      </p:sp>
      <p:sp>
        <p:nvSpPr>
          <p:cNvPr id="14" name="Shape 12"/>
          <p:cNvSpPr/>
          <p:nvPr/>
        </p:nvSpPr>
        <p:spPr>
          <a:xfrm>
            <a:off x="3037332" y="4741164"/>
            <a:ext cx="64008" cy="64008"/>
          </a:xfrm>
          <a:prstGeom prst="ellipse">
            <a:avLst/>
          </a:prstGeom>
          <a:solidFill>
            <a:srgbClr val="1B7F79"/>
          </a:solidFill>
          <a:ln w="12700">
            <a:solidFill>
              <a:srgbClr val="1B7F79"/>
            </a:solidFill>
            <a:prstDash val="solid"/>
          </a:ln>
        </p:spPr>
      </p:sp>
      <p:sp>
        <p:nvSpPr>
          <p:cNvPr id="15" name="Text 13"/>
          <p:cNvSpPr txBox="1"/>
          <p:nvPr/>
        </p:nvSpPr>
        <p:spPr>
          <a:xfrm>
            <a:off x="279501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W5</a:t>
            </a:r>
            <a:endParaRPr lang="en-US" sz="700" dirty="0"/>
          </a:p>
        </p:txBody>
      </p:sp>
      <p:sp>
        <p:nvSpPr>
          <p:cNvPr id="16" name="Shape 14"/>
          <p:cNvSpPr/>
          <p:nvPr/>
        </p:nvSpPr>
        <p:spPr>
          <a:xfrm>
            <a:off x="3427476" y="4695444"/>
            <a:ext cx="155448" cy="155448"/>
          </a:xfrm>
          <a:prstGeom prst="ellipse">
            <a:avLst/>
          </a:prstGeom>
          <a:solidFill>
            <a:srgbClr val="E09F3E"/>
          </a:solidFill>
          <a:ln w="12700">
            <a:solidFill>
              <a:srgbClr val="E09F3E"/>
            </a:solidFill>
            <a:prstDash val="solid"/>
          </a:ln>
        </p:spPr>
      </p:sp>
      <p:sp>
        <p:nvSpPr>
          <p:cNvPr id="17" name="Text 15"/>
          <p:cNvSpPr txBox="1"/>
          <p:nvPr/>
        </p:nvSpPr>
        <p:spPr>
          <a:xfrm>
            <a:off x="3230880" y="4855464"/>
            <a:ext cx="548640" cy="146304"/>
          </a:xfrm>
          <a:prstGeom prst="rect">
            <a:avLst/>
          </a:prstGeom>
          <a:noFill/>
          <a:ln/>
        </p:spPr>
        <p:txBody>
          <a:bodyPr wrap="square" lIns="0" tIns="0" rIns="0" bIns="0" rtlCol="0" anchor="ctr"/>
          <a:lstStyle/>
          <a:p>
            <a:pPr algn="ctr" indent="0" marL="0">
              <a:buNone/>
            </a:pPr>
            <a:r>
              <a:rPr lang="en-US" sz="700" b="1" dirty="0">
                <a:solidFill>
                  <a:srgbClr val="E09F3E"/>
                </a:solidFill>
              </a:rPr>
              <a:t>W6 · now</a:t>
            </a:r>
            <a:endParaRPr lang="en-US" sz="700" dirty="0"/>
          </a:p>
        </p:txBody>
      </p:sp>
      <p:sp>
        <p:nvSpPr>
          <p:cNvPr id="18" name="Shape 16"/>
          <p:cNvSpPr/>
          <p:nvPr/>
        </p:nvSpPr>
        <p:spPr>
          <a:xfrm>
            <a:off x="3886200" y="4718304"/>
            <a:ext cx="109728" cy="109728"/>
          </a:xfrm>
          <a:prstGeom prst="ellipse">
            <a:avLst/>
          </a:prstGeom>
          <a:solidFill>
            <a:srgbClr val="0E4D5C"/>
          </a:solidFill>
          <a:ln w="12700">
            <a:solidFill>
              <a:srgbClr val="0E4D5C"/>
            </a:solidFill>
            <a:prstDash val="solid"/>
          </a:ln>
        </p:spPr>
      </p:sp>
      <p:sp>
        <p:nvSpPr>
          <p:cNvPr id="19" name="Text 17"/>
          <p:cNvSpPr txBox="1"/>
          <p:nvPr/>
        </p:nvSpPr>
        <p:spPr>
          <a:xfrm>
            <a:off x="366674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W7</a:t>
            </a:r>
            <a:endParaRPr lang="en-US" sz="700" dirty="0"/>
          </a:p>
        </p:txBody>
      </p:sp>
      <p:sp>
        <p:nvSpPr>
          <p:cNvPr id="20" name="Text 18"/>
          <p:cNvSpPr txBox="1"/>
          <p:nvPr/>
        </p:nvSpPr>
        <p:spPr>
          <a:xfrm>
            <a:off x="3392424"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SRS</a:t>
            </a:r>
            <a:endParaRPr lang="en-US" sz="700" dirty="0"/>
          </a:p>
        </p:txBody>
      </p:sp>
      <p:sp>
        <p:nvSpPr>
          <p:cNvPr id="21" name="Shape 19"/>
          <p:cNvSpPr/>
          <p:nvPr/>
        </p:nvSpPr>
        <p:spPr>
          <a:xfrm>
            <a:off x="4344924" y="4741164"/>
            <a:ext cx="64008" cy="64008"/>
          </a:xfrm>
          <a:prstGeom prst="ellipse">
            <a:avLst/>
          </a:prstGeom>
          <a:solidFill>
            <a:srgbClr val="C9D9D8"/>
          </a:solidFill>
          <a:ln w="12700">
            <a:solidFill>
              <a:srgbClr val="C9D9D8"/>
            </a:solidFill>
            <a:prstDash val="solid"/>
          </a:ln>
        </p:spPr>
      </p:sp>
      <p:sp>
        <p:nvSpPr>
          <p:cNvPr id="22" name="Text 20"/>
          <p:cNvSpPr txBox="1"/>
          <p:nvPr/>
        </p:nvSpPr>
        <p:spPr>
          <a:xfrm>
            <a:off x="410260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W8</a:t>
            </a:r>
            <a:endParaRPr lang="en-US" sz="700" dirty="0"/>
          </a:p>
        </p:txBody>
      </p:sp>
      <p:sp>
        <p:nvSpPr>
          <p:cNvPr id="23" name="Shape 21"/>
          <p:cNvSpPr/>
          <p:nvPr/>
        </p:nvSpPr>
        <p:spPr>
          <a:xfrm>
            <a:off x="4780788" y="4741164"/>
            <a:ext cx="64008" cy="64008"/>
          </a:xfrm>
          <a:prstGeom prst="ellipse">
            <a:avLst/>
          </a:prstGeom>
          <a:solidFill>
            <a:srgbClr val="C9D9D8"/>
          </a:solidFill>
          <a:ln w="12700">
            <a:solidFill>
              <a:srgbClr val="C9D9D8"/>
            </a:solidFill>
            <a:prstDash val="solid"/>
          </a:ln>
        </p:spPr>
      </p:sp>
      <p:sp>
        <p:nvSpPr>
          <p:cNvPr id="24" name="Text 22"/>
          <p:cNvSpPr txBox="1"/>
          <p:nvPr/>
        </p:nvSpPr>
        <p:spPr>
          <a:xfrm>
            <a:off x="453847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W9</a:t>
            </a:r>
            <a:endParaRPr lang="en-US" sz="700" dirty="0"/>
          </a:p>
        </p:txBody>
      </p:sp>
      <p:sp>
        <p:nvSpPr>
          <p:cNvPr id="25" name="Shape 23"/>
          <p:cNvSpPr/>
          <p:nvPr/>
        </p:nvSpPr>
        <p:spPr>
          <a:xfrm>
            <a:off x="5216652" y="4741164"/>
            <a:ext cx="64008" cy="64008"/>
          </a:xfrm>
          <a:prstGeom prst="ellipse">
            <a:avLst/>
          </a:prstGeom>
          <a:solidFill>
            <a:srgbClr val="C9D9D8"/>
          </a:solidFill>
          <a:ln w="12700">
            <a:solidFill>
              <a:srgbClr val="C9D9D8"/>
            </a:solidFill>
            <a:prstDash val="solid"/>
          </a:ln>
        </p:spPr>
      </p:sp>
      <p:sp>
        <p:nvSpPr>
          <p:cNvPr id="26" name="Text 24"/>
          <p:cNvSpPr txBox="1"/>
          <p:nvPr/>
        </p:nvSpPr>
        <p:spPr>
          <a:xfrm>
            <a:off x="497433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W10</a:t>
            </a:r>
            <a:endParaRPr lang="en-US" sz="700" dirty="0"/>
          </a:p>
        </p:txBody>
      </p:sp>
      <p:sp>
        <p:nvSpPr>
          <p:cNvPr id="27" name="Shape 25"/>
          <p:cNvSpPr/>
          <p:nvPr/>
        </p:nvSpPr>
        <p:spPr>
          <a:xfrm>
            <a:off x="5629656" y="4718304"/>
            <a:ext cx="109728" cy="109728"/>
          </a:xfrm>
          <a:prstGeom prst="ellipse">
            <a:avLst/>
          </a:prstGeom>
          <a:solidFill>
            <a:srgbClr val="0E4D5C"/>
          </a:solidFill>
          <a:ln w="12700">
            <a:solidFill>
              <a:srgbClr val="0E4D5C"/>
            </a:solidFill>
            <a:prstDash val="solid"/>
          </a:ln>
        </p:spPr>
      </p:sp>
      <p:sp>
        <p:nvSpPr>
          <p:cNvPr id="28" name="Text 26"/>
          <p:cNvSpPr txBox="1"/>
          <p:nvPr/>
        </p:nvSpPr>
        <p:spPr>
          <a:xfrm>
            <a:off x="541020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W11</a:t>
            </a:r>
            <a:endParaRPr lang="en-US" sz="700" dirty="0"/>
          </a:p>
        </p:txBody>
      </p:sp>
      <p:sp>
        <p:nvSpPr>
          <p:cNvPr id="29" name="Text 27"/>
          <p:cNvSpPr txBox="1"/>
          <p:nvPr/>
        </p:nvSpPr>
        <p:spPr>
          <a:xfrm>
            <a:off x="513588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Design</a:t>
            </a:r>
            <a:endParaRPr lang="en-US" sz="700" dirty="0"/>
          </a:p>
        </p:txBody>
      </p:sp>
      <p:sp>
        <p:nvSpPr>
          <p:cNvPr id="30" name="Shape 28"/>
          <p:cNvSpPr/>
          <p:nvPr/>
        </p:nvSpPr>
        <p:spPr>
          <a:xfrm>
            <a:off x="6088380" y="4741164"/>
            <a:ext cx="64008" cy="64008"/>
          </a:xfrm>
          <a:prstGeom prst="ellipse">
            <a:avLst/>
          </a:prstGeom>
          <a:solidFill>
            <a:srgbClr val="C9D9D8"/>
          </a:solidFill>
          <a:ln w="12700">
            <a:solidFill>
              <a:srgbClr val="C9D9D8"/>
            </a:solidFill>
            <a:prstDash val="solid"/>
          </a:ln>
        </p:spPr>
      </p:sp>
      <p:sp>
        <p:nvSpPr>
          <p:cNvPr id="31" name="Text 29"/>
          <p:cNvSpPr txBox="1"/>
          <p:nvPr/>
        </p:nvSpPr>
        <p:spPr>
          <a:xfrm>
            <a:off x="584606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W12</a:t>
            </a:r>
            <a:endParaRPr lang="en-US" sz="700" dirty="0"/>
          </a:p>
        </p:txBody>
      </p:sp>
      <p:sp>
        <p:nvSpPr>
          <p:cNvPr id="32" name="Shape 30"/>
          <p:cNvSpPr/>
          <p:nvPr/>
        </p:nvSpPr>
        <p:spPr>
          <a:xfrm>
            <a:off x="6524244" y="4741164"/>
            <a:ext cx="64008" cy="64008"/>
          </a:xfrm>
          <a:prstGeom prst="ellipse">
            <a:avLst/>
          </a:prstGeom>
          <a:solidFill>
            <a:srgbClr val="C9D9D8"/>
          </a:solidFill>
          <a:ln w="12700">
            <a:solidFill>
              <a:srgbClr val="C9D9D8"/>
            </a:solidFill>
            <a:prstDash val="solid"/>
          </a:ln>
        </p:spPr>
      </p:sp>
      <p:sp>
        <p:nvSpPr>
          <p:cNvPr id="33" name="Text 31"/>
          <p:cNvSpPr txBox="1"/>
          <p:nvPr/>
        </p:nvSpPr>
        <p:spPr>
          <a:xfrm>
            <a:off x="628192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W13</a:t>
            </a:r>
            <a:endParaRPr lang="en-US" sz="700" dirty="0"/>
          </a:p>
        </p:txBody>
      </p:sp>
      <p:sp>
        <p:nvSpPr>
          <p:cNvPr id="34" name="Shape 32"/>
          <p:cNvSpPr/>
          <p:nvPr/>
        </p:nvSpPr>
        <p:spPr>
          <a:xfrm>
            <a:off x="6960108" y="4741164"/>
            <a:ext cx="64008" cy="64008"/>
          </a:xfrm>
          <a:prstGeom prst="ellipse">
            <a:avLst/>
          </a:prstGeom>
          <a:solidFill>
            <a:srgbClr val="C9D9D8"/>
          </a:solidFill>
          <a:ln w="12700">
            <a:solidFill>
              <a:srgbClr val="C9D9D8"/>
            </a:solidFill>
            <a:prstDash val="solid"/>
          </a:ln>
        </p:spPr>
      </p:sp>
      <p:sp>
        <p:nvSpPr>
          <p:cNvPr id="35" name="Text 33"/>
          <p:cNvSpPr txBox="1"/>
          <p:nvPr/>
        </p:nvSpPr>
        <p:spPr>
          <a:xfrm>
            <a:off x="671779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W14</a:t>
            </a:r>
            <a:endParaRPr lang="en-US" sz="700" dirty="0"/>
          </a:p>
        </p:txBody>
      </p:sp>
      <p:sp>
        <p:nvSpPr>
          <p:cNvPr id="36" name="Shape 34"/>
          <p:cNvSpPr/>
          <p:nvPr/>
        </p:nvSpPr>
        <p:spPr>
          <a:xfrm>
            <a:off x="7395972" y="4741164"/>
            <a:ext cx="64008" cy="64008"/>
          </a:xfrm>
          <a:prstGeom prst="ellipse">
            <a:avLst/>
          </a:prstGeom>
          <a:solidFill>
            <a:srgbClr val="C9D9D8"/>
          </a:solidFill>
          <a:ln w="12700">
            <a:solidFill>
              <a:srgbClr val="C9D9D8"/>
            </a:solidFill>
            <a:prstDash val="solid"/>
          </a:ln>
        </p:spPr>
      </p:sp>
      <p:sp>
        <p:nvSpPr>
          <p:cNvPr id="37" name="Text 35"/>
          <p:cNvSpPr txBox="1"/>
          <p:nvPr/>
        </p:nvSpPr>
        <p:spPr>
          <a:xfrm>
            <a:off x="715365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W15</a:t>
            </a:r>
            <a:endParaRPr lang="en-US" sz="700" dirty="0"/>
          </a:p>
        </p:txBody>
      </p:sp>
      <p:sp>
        <p:nvSpPr>
          <p:cNvPr id="38" name="Shape 36"/>
          <p:cNvSpPr/>
          <p:nvPr/>
        </p:nvSpPr>
        <p:spPr>
          <a:xfrm>
            <a:off x="7808976" y="4718304"/>
            <a:ext cx="109728" cy="109728"/>
          </a:xfrm>
          <a:prstGeom prst="ellipse">
            <a:avLst/>
          </a:prstGeom>
          <a:solidFill>
            <a:srgbClr val="0E4D5C"/>
          </a:solidFill>
          <a:ln w="12700">
            <a:solidFill>
              <a:srgbClr val="0E4D5C"/>
            </a:solidFill>
            <a:prstDash val="solid"/>
          </a:ln>
        </p:spPr>
      </p:sp>
      <p:sp>
        <p:nvSpPr>
          <p:cNvPr id="39" name="Text 37"/>
          <p:cNvSpPr txBox="1"/>
          <p:nvPr/>
        </p:nvSpPr>
        <p:spPr>
          <a:xfrm>
            <a:off x="758952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W16</a:t>
            </a:r>
            <a:endParaRPr lang="en-US" sz="700" dirty="0"/>
          </a:p>
        </p:txBody>
      </p:sp>
      <p:sp>
        <p:nvSpPr>
          <p:cNvPr id="40" name="Text 38"/>
          <p:cNvSpPr txBox="1"/>
          <p:nvPr/>
        </p:nvSpPr>
        <p:spPr>
          <a:xfrm>
            <a:off x="731520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Launch</a:t>
            </a:r>
            <a:endParaRPr lang="en-US" sz="700" dirty="0"/>
          </a:p>
        </p:txBody>
      </p:sp>
      <p:sp>
        <p:nvSpPr>
          <p:cNvPr id="41" name="Text 39"/>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100" kern="0" dirty="0">
                <a:solidFill>
                  <a:srgbClr val="1B7F79"/>
                </a:solidFill>
              </a:rPr>
              <a:t>1 · TECHNICAL PROGRESS — SYSTEM DEVELOPMENT</a:t>
            </a:r>
            <a:endParaRPr lang="en-US" sz="1000" dirty="0"/>
          </a:p>
        </p:txBody>
      </p:sp>
      <p:sp>
        <p:nvSpPr>
          <p:cNvPr id="42" name="Text 4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0E4D5C"/>
                </a:solidFill>
              </a:rPr>
              <a:t>System requirements: use case model</a:t>
            </a:r>
            <a:endParaRPr lang="en-US" sz="2800" dirty="0"/>
          </a:p>
        </p:txBody>
      </p:sp>
      <p:sp>
        <p:nvSpPr>
          <p:cNvPr id="43" name="Shape 41"/>
          <p:cNvSpPr/>
          <p:nvPr/>
        </p:nvSpPr>
        <p:spPr>
          <a:xfrm>
            <a:off x="2103120" y="1143000"/>
            <a:ext cx="3657600" cy="3291840"/>
          </a:xfrm>
          <a:prstGeom prst="rect">
            <a:avLst/>
          </a:prstGeom>
          <a:solidFill>
            <a:srgbClr val="F4F8F8"/>
          </a:solidFill>
          <a:ln w="15875">
            <a:solidFill>
              <a:srgbClr val="0E4D5C"/>
            </a:solidFill>
            <a:prstDash val="solid"/>
          </a:ln>
        </p:spPr>
      </p:sp>
      <p:sp>
        <p:nvSpPr>
          <p:cNvPr id="44" name="Text 42"/>
          <p:cNvSpPr txBox="1"/>
          <p:nvPr/>
        </p:nvSpPr>
        <p:spPr>
          <a:xfrm>
            <a:off x="2194560" y="1170432"/>
            <a:ext cx="1828800" cy="228600"/>
          </a:xfrm>
          <a:prstGeom prst="rect">
            <a:avLst/>
          </a:prstGeom>
          <a:noFill/>
          <a:ln/>
        </p:spPr>
        <p:txBody>
          <a:bodyPr wrap="square" lIns="0" tIns="0" rIns="0" bIns="0" rtlCol="0" anchor="ctr"/>
          <a:lstStyle/>
          <a:p>
            <a:pPr indent="0" marL="0">
              <a:buNone/>
            </a:pPr>
            <a:r>
              <a:rPr lang="en-US" sz="1100" b="1" dirty="0">
                <a:solidFill>
                  <a:srgbClr val="0E4D5C"/>
                </a:solidFill>
              </a:rPr>
              <a:t>NewEra POS</a:t>
            </a:r>
            <a:endParaRPr lang="en-US" sz="1100" dirty="0"/>
          </a:p>
        </p:txBody>
      </p:sp>
      <p:sp>
        <p:nvSpPr>
          <p:cNvPr id="45" name="Shape 43"/>
          <p:cNvSpPr/>
          <p:nvPr/>
        </p:nvSpPr>
        <p:spPr>
          <a:xfrm>
            <a:off x="795528" y="2194560"/>
            <a:ext cx="237744" cy="237744"/>
          </a:xfrm>
          <a:prstGeom prst="ellipse">
            <a:avLst/>
          </a:prstGeom>
          <a:solidFill>
            <a:srgbClr val="FFFFFF"/>
          </a:solidFill>
          <a:ln w="19050">
            <a:solidFill>
              <a:srgbClr val="34495E"/>
            </a:solidFill>
            <a:prstDash val="solid"/>
          </a:ln>
        </p:spPr>
      </p:sp>
      <p:sp>
        <p:nvSpPr>
          <p:cNvPr id="46" name="Shape 44"/>
          <p:cNvSpPr/>
          <p:nvPr/>
        </p:nvSpPr>
        <p:spPr>
          <a:xfrm>
            <a:off x="914400" y="2432304"/>
            <a:ext cx="9144" cy="402336"/>
          </a:xfrm>
          <a:prstGeom prst="line">
            <a:avLst/>
          </a:prstGeom>
          <a:noFill/>
          <a:ln w="19050">
            <a:solidFill>
              <a:srgbClr val="34495E"/>
            </a:solidFill>
            <a:prstDash val="solid"/>
          </a:ln>
        </p:spPr>
      </p:sp>
      <p:sp>
        <p:nvSpPr>
          <p:cNvPr id="47" name="Shape 45"/>
          <p:cNvSpPr/>
          <p:nvPr/>
        </p:nvSpPr>
        <p:spPr>
          <a:xfrm>
            <a:off x="685800" y="2560320"/>
            <a:ext cx="457200" cy="9144"/>
          </a:xfrm>
          <a:prstGeom prst="line">
            <a:avLst/>
          </a:prstGeom>
          <a:noFill/>
          <a:ln w="19050">
            <a:solidFill>
              <a:srgbClr val="34495E"/>
            </a:solidFill>
            <a:prstDash val="solid"/>
          </a:ln>
        </p:spPr>
      </p:sp>
      <p:sp>
        <p:nvSpPr>
          <p:cNvPr id="48" name="Shape 46"/>
          <p:cNvSpPr/>
          <p:nvPr/>
        </p:nvSpPr>
        <p:spPr>
          <a:xfrm flipV="1">
            <a:off x="731520" y="2834640"/>
            <a:ext cx="182880" cy="274320"/>
          </a:xfrm>
          <a:prstGeom prst="line">
            <a:avLst/>
          </a:prstGeom>
          <a:noFill/>
          <a:ln w="19050">
            <a:solidFill>
              <a:srgbClr val="34495E"/>
            </a:solidFill>
            <a:prstDash val="solid"/>
          </a:ln>
        </p:spPr>
      </p:sp>
      <p:sp>
        <p:nvSpPr>
          <p:cNvPr id="49" name="Shape 47"/>
          <p:cNvSpPr/>
          <p:nvPr/>
        </p:nvSpPr>
        <p:spPr>
          <a:xfrm>
            <a:off x="914400" y="2834640"/>
            <a:ext cx="182880" cy="274320"/>
          </a:xfrm>
          <a:prstGeom prst="line">
            <a:avLst/>
          </a:prstGeom>
          <a:noFill/>
          <a:ln w="19050">
            <a:solidFill>
              <a:srgbClr val="34495E"/>
            </a:solidFill>
            <a:prstDash val="solid"/>
          </a:ln>
        </p:spPr>
      </p:sp>
      <p:sp>
        <p:nvSpPr>
          <p:cNvPr id="50" name="Text 48"/>
          <p:cNvSpPr txBox="1"/>
          <p:nvPr/>
        </p:nvSpPr>
        <p:spPr>
          <a:xfrm>
            <a:off x="274320" y="3136392"/>
            <a:ext cx="1280160" cy="228600"/>
          </a:xfrm>
          <a:prstGeom prst="rect">
            <a:avLst/>
          </a:prstGeom>
          <a:noFill/>
          <a:ln/>
        </p:spPr>
        <p:txBody>
          <a:bodyPr wrap="square" lIns="0" tIns="0" rIns="0" bIns="0" rtlCol="0" anchor="ctr"/>
          <a:lstStyle/>
          <a:p>
            <a:pPr algn="ctr" indent="0" marL="0">
              <a:buNone/>
            </a:pPr>
            <a:r>
              <a:rPr lang="en-US" sz="1200" b="1" dirty="0">
                <a:solidFill>
                  <a:srgbClr val="1F2A30"/>
                </a:solidFill>
              </a:rPr>
              <a:t>Cashier</a:t>
            </a:r>
            <a:endParaRPr lang="en-US" sz="1200" dirty="0"/>
          </a:p>
        </p:txBody>
      </p:sp>
      <p:sp>
        <p:nvSpPr>
          <p:cNvPr id="51" name="Shape 49"/>
          <p:cNvSpPr/>
          <p:nvPr/>
        </p:nvSpPr>
        <p:spPr>
          <a:xfrm flipV="1">
            <a:off x="1161288" y="1645920"/>
            <a:ext cx="1581912" cy="960120"/>
          </a:xfrm>
          <a:prstGeom prst="line">
            <a:avLst/>
          </a:prstGeom>
          <a:noFill/>
          <a:ln w="12700">
            <a:solidFill>
              <a:srgbClr val="34495E"/>
            </a:solidFill>
            <a:prstDash val="solid"/>
          </a:ln>
        </p:spPr>
      </p:sp>
      <p:sp>
        <p:nvSpPr>
          <p:cNvPr id="52" name="Shape 50"/>
          <p:cNvSpPr/>
          <p:nvPr/>
        </p:nvSpPr>
        <p:spPr>
          <a:xfrm flipV="1">
            <a:off x="1161288" y="2221992"/>
            <a:ext cx="1581912" cy="384048"/>
          </a:xfrm>
          <a:prstGeom prst="line">
            <a:avLst/>
          </a:prstGeom>
          <a:noFill/>
          <a:ln w="12700">
            <a:solidFill>
              <a:srgbClr val="34495E"/>
            </a:solidFill>
            <a:prstDash val="solid"/>
          </a:ln>
        </p:spPr>
      </p:sp>
      <p:sp>
        <p:nvSpPr>
          <p:cNvPr id="53" name="Shape 51"/>
          <p:cNvSpPr/>
          <p:nvPr/>
        </p:nvSpPr>
        <p:spPr>
          <a:xfrm>
            <a:off x="1161288" y="2606040"/>
            <a:ext cx="1581912" cy="192024"/>
          </a:xfrm>
          <a:prstGeom prst="line">
            <a:avLst/>
          </a:prstGeom>
          <a:noFill/>
          <a:ln w="12700">
            <a:solidFill>
              <a:srgbClr val="34495E"/>
            </a:solidFill>
            <a:prstDash val="solid"/>
          </a:ln>
        </p:spPr>
      </p:sp>
      <p:sp>
        <p:nvSpPr>
          <p:cNvPr id="54" name="Shape 52"/>
          <p:cNvSpPr/>
          <p:nvPr/>
        </p:nvSpPr>
        <p:spPr>
          <a:xfrm>
            <a:off x="1161288" y="2606040"/>
            <a:ext cx="1581912" cy="768096"/>
          </a:xfrm>
          <a:prstGeom prst="line">
            <a:avLst/>
          </a:prstGeom>
          <a:noFill/>
          <a:ln w="12700">
            <a:solidFill>
              <a:srgbClr val="34495E"/>
            </a:solidFill>
            <a:prstDash val="solid"/>
          </a:ln>
        </p:spPr>
      </p:sp>
      <p:sp>
        <p:nvSpPr>
          <p:cNvPr id="55" name="Shape 53"/>
          <p:cNvSpPr/>
          <p:nvPr/>
        </p:nvSpPr>
        <p:spPr>
          <a:xfrm>
            <a:off x="1161288" y="2606040"/>
            <a:ext cx="1581912" cy="1344168"/>
          </a:xfrm>
          <a:prstGeom prst="line">
            <a:avLst/>
          </a:prstGeom>
          <a:noFill/>
          <a:ln w="12700">
            <a:solidFill>
              <a:srgbClr val="34495E"/>
            </a:solidFill>
            <a:prstDash val="solid"/>
          </a:ln>
        </p:spPr>
      </p:sp>
      <p:sp>
        <p:nvSpPr>
          <p:cNvPr id="56" name="Shape 54"/>
          <p:cNvSpPr/>
          <p:nvPr/>
        </p:nvSpPr>
        <p:spPr>
          <a:xfrm>
            <a:off x="2743200" y="1417320"/>
            <a:ext cx="2377440" cy="457200"/>
          </a:xfrm>
          <a:prstGeom prst="ellipse">
            <a:avLst/>
          </a:prstGeom>
          <a:solidFill>
            <a:srgbClr val="0E4D5C"/>
          </a:solidFill>
          <a:ln w="12700">
            <a:solidFill>
              <a:srgbClr val="0E4D5C"/>
            </a:solidFill>
            <a:prstDash val="solid"/>
          </a:ln>
        </p:spPr>
      </p:sp>
      <p:sp>
        <p:nvSpPr>
          <p:cNvPr id="57" name="Text 55"/>
          <p:cNvSpPr txBox="1"/>
          <p:nvPr/>
        </p:nvSpPr>
        <p:spPr>
          <a:xfrm>
            <a:off x="2743200" y="1417320"/>
            <a:ext cx="2377440" cy="457200"/>
          </a:xfrm>
          <a:prstGeom prst="rect">
            <a:avLst/>
          </a:prstGeom>
          <a:noFill/>
          <a:ln/>
        </p:spPr>
        <p:txBody>
          <a:bodyPr wrap="square" lIns="0" tIns="0" rIns="0" bIns="0" rtlCol="0" anchor="ctr"/>
          <a:lstStyle/>
          <a:p>
            <a:pPr algn="ctr" indent="0" marL="0">
              <a:buNone/>
            </a:pPr>
            <a:r>
              <a:rPr lang="en-US" sz="1200" b="1" dirty="0">
                <a:solidFill>
                  <a:srgbClr val="FFFFFF"/>
                </a:solidFill>
              </a:rPr>
              <a:t>UC1 Process Sale</a:t>
            </a:r>
            <a:endParaRPr lang="en-US" sz="1200" dirty="0"/>
          </a:p>
        </p:txBody>
      </p:sp>
      <p:sp>
        <p:nvSpPr>
          <p:cNvPr id="58" name="Shape 56"/>
          <p:cNvSpPr/>
          <p:nvPr/>
        </p:nvSpPr>
        <p:spPr>
          <a:xfrm>
            <a:off x="2743200" y="1993392"/>
            <a:ext cx="2377440" cy="457200"/>
          </a:xfrm>
          <a:prstGeom prst="ellipse">
            <a:avLst/>
          </a:prstGeom>
          <a:solidFill>
            <a:srgbClr val="EAF2F2"/>
          </a:solidFill>
          <a:ln w="12700">
            <a:solidFill>
              <a:srgbClr val="0E4D5C"/>
            </a:solidFill>
            <a:prstDash val="solid"/>
          </a:ln>
        </p:spPr>
      </p:sp>
      <p:sp>
        <p:nvSpPr>
          <p:cNvPr id="59" name="Text 57"/>
          <p:cNvSpPr txBox="1"/>
          <p:nvPr/>
        </p:nvSpPr>
        <p:spPr>
          <a:xfrm>
            <a:off x="2743200" y="1993392"/>
            <a:ext cx="2377440" cy="457200"/>
          </a:xfrm>
          <a:prstGeom prst="rect">
            <a:avLst/>
          </a:prstGeom>
          <a:noFill/>
          <a:ln/>
        </p:spPr>
        <p:txBody>
          <a:bodyPr wrap="square" lIns="0" tIns="0" rIns="0" bIns="0" rtlCol="0" anchor="ctr"/>
          <a:lstStyle/>
          <a:p>
            <a:pPr algn="ctr" indent="0" marL="0">
              <a:buNone/>
            </a:pPr>
            <a:r>
              <a:rPr lang="en-US" sz="1200" b="1" dirty="0">
                <a:solidFill>
                  <a:srgbClr val="0E4D5C"/>
                </a:solidFill>
              </a:rPr>
              <a:t>UC2 Handle Returns</a:t>
            </a:r>
            <a:endParaRPr lang="en-US" sz="1200" dirty="0"/>
          </a:p>
        </p:txBody>
      </p:sp>
      <p:sp>
        <p:nvSpPr>
          <p:cNvPr id="60" name="Shape 58"/>
          <p:cNvSpPr/>
          <p:nvPr/>
        </p:nvSpPr>
        <p:spPr>
          <a:xfrm>
            <a:off x="2743200" y="2569464"/>
            <a:ext cx="2377440" cy="457200"/>
          </a:xfrm>
          <a:prstGeom prst="ellipse">
            <a:avLst/>
          </a:prstGeom>
          <a:solidFill>
            <a:srgbClr val="EAF2F2"/>
          </a:solidFill>
          <a:ln w="12700">
            <a:solidFill>
              <a:srgbClr val="0E4D5C"/>
            </a:solidFill>
            <a:prstDash val="solid"/>
          </a:ln>
        </p:spPr>
      </p:sp>
      <p:sp>
        <p:nvSpPr>
          <p:cNvPr id="61" name="Text 59"/>
          <p:cNvSpPr txBox="1"/>
          <p:nvPr/>
        </p:nvSpPr>
        <p:spPr>
          <a:xfrm>
            <a:off x="2743200" y="2569464"/>
            <a:ext cx="2377440" cy="457200"/>
          </a:xfrm>
          <a:prstGeom prst="rect">
            <a:avLst/>
          </a:prstGeom>
          <a:noFill/>
          <a:ln/>
        </p:spPr>
        <p:txBody>
          <a:bodyPr wrap="square" lIns="0" tIns="0" rIns="0" bIns="0" rtlCol="0" anchor="ctr"/>
          <a:lstStyle/>
          <a:p>
            <a:pPr algn="ctr" indent="0" marL="0">
              <a:buNone/>
            </a:pPr>
            <a:r>
              <a:rPr lang="en-US" sz="1200" b="1" dirty="0">
                <a:solidFill>
                  <a:srgbClr val="0E4D5C"/>
                </a:solidFill>
              </a:rPr>
              <a:t>UC3 Process Rental</a:t>
            </a:r>
            <a:endParaRPr lang="en-US" sz="1200" dirty="0"/>
          </a:p>
        </p:txBody>
      </p:sp>
      <p:sp>
        <p:nvSpPr>
          <p:cNvPr id="62" name="Shape 60"/>
          <p:cNvSpPr/>
          <p:nvPr/>
        </p:nvSpPr>
        <p:spPr>
          <a:xfrm>
            <a:off x="2743200" y="3145536"/>
            <a:ext cx="2377440" cy="457200"/>
          </a:xfrm>
          <a:prstGeom prst="ellipse">
            <a:avLst/>
          </a:prstGeom>
          <a:solidFill>
            <a:srgbClr val="EAF2F2"/>
          </a:solidFill>
          <a:ln w="12700">
            <a:solidFill>
              <a:srgbClr val="0E4D5C"/>
            </a:solidFill>
            <a:prstDash val="solid"/>
          </a:ln>
        </p:spPr>
      </p:sp>
      <p:sp>
        <p:nvSpPr>
          <p:cNvPr id="63" name="Text 61"/>
          <p:cNvSpPr txBox="1"/>
          <p:nvPr/>
        </p:nvSpPr>
        <p:spPr>
          <a:xfrm>
            <a:off x="2743200" y="3145536"/>
            <a:ext cx="2377440" cy="457200"/>
          </a:xfrm>
          <a:prstGeom prst="rect">
            <a:avLst/>
          </a:prstGeom>
          <a:noFill/>
          <a:ln/>
        </p:spPr>
        <p:txBody>
          <a:bodyPr wrap="square" lIns="0" tIns="0" rIns="0" bIns="0" rtlCol="0" anchor="ctr"/>
          <a:lstStyle/>
          <a:p>
            <a:pPr algn="ctr" indent="0" marL="0">
              <a:buNone/>
            </a:pPr>
            <a:r>
              <a:rPr lang="en-US" sz="1200" b="1" dirty="0">
                <a:solidFill>
                  <a:srgbClr val="0E4D5C"/>
                </a:solidFill>
              </a:rPr>
              <a:t>UC4 Start Up</a:t>
            </a:r>
            <a:endParaRPr lang="en-US" sz="1200" dirty="0"/>
          </a:p>
        </p:txBody>
      </p:sp>
      <p:sp>
        <p:nvSpPr>
          <p:cNvPr id="64" name="Shape 62"/>
          <p:cNvSpPr/>
          <p:nvPr/>
        </p:nvSpPr>
        <p:spPr>
          <a:xfrm>
            <a:off x="2743200" y="3721608"/>
            <a:ext cx="2377440" cy="457200"/>
          </a:xfrm>
          <a:prstGeom prst="ellipse">
            <a:avLst/>
          </a:prstGeom>
          <a:solidFill>
            <a:srgbClr val="FCEFD9"/>
          </a:solidFill>
          <a:ln w="19050">
            <a:solidFill>
              <a:srgbClr val="E09F3E"/>
            </a:solidFill>
            <a:prstDash val="dash"/>
          </a:ln>
        </p:spPr>
      </p:sp>
      <p:sp>
        <p:nvSpPr>
          <p:cNvPr id="65" name="Text 63"/>
          <p:cNvSpPr txBox="1"/>
          <p:nvPr/>
        </p:nvSpPr>
        <p:spPr>
          <a:xfrm>
            <a:off x="2743200" y="3721608"/>
            <a:ext cx="2377440" cy="457200"/>
          </a:xfrm>
          <a:prstGeom prst="rect">
            <a:avLst/>
          </a:prstGeom>
          <a:noFill/>
          <a:ln/>
        </p:spPr>
        <p:txBody>
          <a:bodyPr wrap="square" lIns="0" tIns="0" rIns="0" bIns="0" rtlCol="0" anchor="ctr"/>
          <a:lstStyle/>
          <a:p>
            <a:pPr algn="ctr" indent="0" marL="0">
              <a:buNone/>
            </a:pPr>
            <a:r>
              <a:rPr lang="en-US" sz="1200" b="1" dirty="0">
                <a:solidFill>
                  <a:srgbClr val="0E4D5C"/>
                </a:solidFill>
              </a:rPr>
              <a:t>UC5 Return Rental</a:t>
            </a:r>
            <a:endParaRPr lang="en-US" sz="1200" dirty="0"/>
          </a:p>
        </p:txBody>
      </p:sp>
      <p:sp>
        <p:nvSpPr>
          <p:cNvPr id="66" name="Text 64"/>
          <p:cNvSpPr txBox="1"/>
          <p:nvPr/>
        </p:nvSpPr>
        <p:spPr>
          <a:xfrm>
            <a:off x="4846320" y="3611880"/>
            <a:ext cx="548640" cy="182880"/>
          </a:xfrm>
          <a:prstGeom prst="rect">
            <a:avLst/>
          </a:prstGeom>
          <a:noFill/>
          <a:ln/>
        </p:spPr>
        <p:txBody>
          <a:bodyPr wrap="square" lIns="0" tIns="0" rIns="0" bIns="0" rtlCol="0" anchor="ctr"/>
          <a:lstStyle/>
          <a:p>
            <a:pPr indent="0" marL="0">
              <a:buNone/>
            </a:pPr>
            <a:r>
              <a:rPr lang="en-US" sz="900" b="1" dirty="0">
                <a:solidFill>
                  <a:srgbClr val="E09F3E"/>
                </a:solidFill>
              </a:rPr>
              <a:t>NEW</a:t>
            </a:r>
            <a:endParaRPr lang="en-US" sz="900" dirty="0"/>
          </a:p>
        </p:txBody>
      </p:sp>
      <p:sp>
        <p:nvSpPr>
          <p:cNvPr id="67" name="Shape 65"/>
          <p:cNvSpPr/>
          <p:nvPr/>
        </p:nvSpPr>
        <p:spPr>
          <a:xfrm>
            <a:off x="6492240" y="1234440"/>
            <a:ext cx="2194560" cy="566928"/>
          </a:xfrm>
          <a:prstGeom prst="rect">
            <a:avLst/>
          </a:prstGeom>
          <a:solidFill>
            <a:srgbClr val="FFFFFF"/>
          </a:solidFill>
          <a:ln w="12700">
            <a:solidFill>
              <a:srgbClr val="34495E"/>
            </a:solidFill>
            <a:prstDash val="solid"/>
          </a:ln>
        </p:spPr>
      </p:sp>
      <p:sp>
        <p:nvSpPr>
          <p:cNvPr id="68" name="Text 66"/>
          <p:cNvSpPr txBox="1"/>
          <p:nvPr/>
        </p:nvSpPr>
        <p:spPr>
          <a:xfrm>
            <a:off x="6492240" y="1234440"/>
            <a:ext cx="2194560" cy="566928"/>
          </a:xfrm>
          <a:prstGeom prst="rect">
            <a:avLst/>
          </a:prstGeom>
          <a:noFill/>
          <a:ln/>
        </p:spPr>
        <p:txBody>
          <a:bodyPr wrap="square" lIns="0" tIns="0" rIns="0" bIns="0" rtlCol="0" anchor="ctr"/>
          <a:lstStyle/>
          <a:p>
            <a:pPr algn="ctr" indent="0" marL="0">
              <a:buNone/>
            </a:pPr>
            <a:r>
              <a:rPr lang="en-US" sz="900" dirty="0">
                <a:solidFill>
                  <a:srgbClr val="5F6B70"/>
                </a:solidFill>
              </a:rPr>
              <a:t>«actor»</a:t>
            </a:r>
            <a:endParaRPr lang="en-US" sz="900" dirty="0"/>
          </a:p>
          <a:p>
            <a:pPr algn="ctr" indent="0" marL="0">
              <a:buNone/>
            </a:pPr>
            <a:r>
              <a:rPr lang="en-US" sz="1200" b="1" dirty="0">
                <a:solidFill>
                  <a:srgbClr val="1F2A30"/>
                </a:solidFill>
              </a:rPr>
              <a:t>Payment Service</a:t>
            </a:r>
            <a:endParaRPr lang="en-US" sz="900" dirty="0"/>
          </a:p>
        </p:txBody>
      </p:sp>
      <p:sp>
        <p:nvSpPr>
          <p:cNvPr id="69" name="Shape 67"/>
          <p:cNvSpPr/>
          <p:nvPr/>
        </p:nvSpPr>
        <p:spPr>
          <a:xfrm>
            <a:off x="6492240" y="2011680"/>
            <a:ext cx="2194560" cy="566928"/>
          </a:xfrm>
          <a:prstGeom prst="rect">
            <a:avLst/>
          </a:prstGeom>
          <a:solidFill>
            <a:srgbClr val="FFFFFF"/>
          </a:solidFill>
          <a:ln w="12700">
            <a:solidFill>
              <a:srgbClr val="34495E"/>
            </a:solidFill>
            <a:prstDash val="solid"/>
          </a:ln>
        </p:spPr>
      </p:sp>
      <p:sp>
        <p:nvSpPr>
          <p:cNvPr id="70" name="Text 68"/>
          <p:cNvSpPr txBox="1"/>
          <p:nvPr/>
        </p:nvSpPr>
        <p:spPr>
          <a:xfrm>
            <a:off x="6492240" y="2011680"/>
            <a:ext cx="2194560" cy="566928"/>
          </a:xfrm>
          <a:prstGeom prst="rect">
            <a:avLst/>
          </a:prstGeom>
          <a:noFill/>
          <a:ln/>
        </p:spPr>
        <p:txBody>
          <a:bodyPr wrap="square" lIns="0" tIns="0" rIns="0" bIns="0" rtlCol="0" anchor="ctr"/>
          <a:lstStyle/>
          <a:p>
            <a:pPr algn="ctr" indent="0" marL="0">
              <a:buNone/>
            </a:pPr>
            <a:r>
              <a:rPr lang="en-US" sz="900" dirty="0">
                <a:solidFill>
                  <a:srgbClr val="5F6B70"/>
                </a:solidFill>
              </a:rPr>
              <a:t>«actor»</a:t>
            </a:r>
            <a:endParaRPr lang="en-US" sz="900" dirty="0"/>
          </a:p>
          <a:p>
            <a:pPr algn="ctr" indent="0" marL="0">
              <a:buNone/>
            </a:pPr>
            <a:r>
              <a:rPr lang="en-US" sz="1200" b="1" dirty="0">
                <a:solidFill>
                  <a:srgbClr val="1F2A30"/>
                </a:solidFill>
              </a:rPr>
              <a:t>Tax Calculator</a:t>
            </a:r>
            <a:endParaRPr lang="en-US" sz="900" dirty="0"/>
          </a:p>
        </p:txBody>
      </p:sp>
      <p:sp>
        <p:nvSpPr>
          <p:cNvPr id="71" name="Shape 69"/>
          <p:cNvSpPr/>
          <p:nvPr/>
        </p:nvSpPr>
        <p:spPr>
          <a:xfrm>
            <a:off x="6492240" y="2788920"/>
            <a:ext cx="2194560" cy="566928"/>
          </a:xfrm>
          <a:prstGeom prst="rect">
            <a:avLst/>
          </a:prstGeom>
          <a:solidFill>
            <a:srgbClr val="FFFFFF"/>
          </a:solidFill>
          <a:ln w="12700">
            <a:solidFill>
              <a:srgbClr val="34495E"/>
            </a:solidFill>
            <a:prstDash val="solid"/>
          </a:ln>
        </p:spPr>
      </p:sp>
      <p:sp>
        <p:nvSpPr>
          <p:cNvPr id="72" name="Text 70"/>
          <p:cNvSpPr txBox="1"/>
          <p:nvPr/>
        </p:nvSpPr>
        <p:spPr>
          <a:xfrm>
            <a:off x="6492240" y="2788920"/>
            <a:ext cx="2194560" cy="566928"/>
          </a:xfrm>
          <a:prstGeom prst="rect">
            <a:avLst/>
          </a:prstGeom>
          <a:noFill/>
          <a:ln/>
        </p:spPr>
        <p:txBody>
          <a:bodyPr wrap="square" lIns="0" tIns="0" rIns="0" bIns="0" rtlCol="0" anchor="ctr"/>
          <a:lstStyle/>
          <a:p>
            <a:pPr algn="ctr" indent="0" marL="0">
              <a:buNone/>
            </a:pPr>
            <a:r>
              <a:rPr lang="en-US" sz="900" dirty="0">
                <a:solidFill>
                  <a:srgbClr val="5F6B70"/>
                </a:solidFill>
              </a:rPr>
              <a:t>«actor»</a:t>
            </a:r>
            <a:endParaRPr lang="en-US" sz="900" dirty="0"/>
          </a:p>
          <a:p>
            <a:pPr algn="ctr" indent="0" marL="0">
              <a:buNone/>
            </a:pPr>
            <a:r>
              <a:rPr lang="en-US" sz="1200" b="1" dirty="0">
                <a:solidFill>
                  <a:srgbClr val="1F2A30"/>
                </a:solidFill>
              </a:rPr>
              <a:t>Accounting System</a:t>
            </a:r>
            <a:endParaRPr lang="en-US" sz="900" dirty="0"/>
          </a:p>
        </p:txBody>
      </p:sp>
      <p:sp>
        <p:nvSpPr>
          <p:cNvPr id="73" name="Shape 71"/>
          <p:cNvSpPr/>
          <p:nvPr/>
        </p:nvSpPr>
        <p:spPr>
          <a:xfrm>
            <a:off x="6492240" y="3566160"/>
            <a:ext cx="2194560" cy="566928"/>
          </a:xfrm>
          <a:prstGeom prst="rect">
            <a:avLst/>
          </a:prstGeom>
          <a:solidFill>
            <a:srgbClr val="FFFFFF"/>
          </a:solidFill>
          <a:ln w="12700">
            <a:solidFill>
              <a:srgbClr val="34495E"/>
            </a:solidFill>
            <a:prstDash val="solid"/>
          </a:ln>
        </p:spPr>
      </p:sp>
      <p:sp>
        <p:nvSpPr>
          <p:cNvPr id="74" name="Text 72"/>
          <p:cNvSpPr txBox="1"/>
          <p:nvPr/>
        </p:nvSpPr>
        <p:spPr>
          <a:xfrm>
            <a:off x="6492240" y="3566160"/>
            <a:ext cx="2194560" cy="566928"/>
          </a:xfrm>
          <a:prstGeom prst="rect">
            <a:avLst/>
          </a:prstGeom>
          <a:noFill/>
          <a:ln/>
        </p:spPr>
        <p:txBody>
          <a:bodyPr wrap="square" lIns="0" tIns="0" rIns="0" bIns="0" rtlCol="0" anchor="ctr"/>
          <a:lstStyle/>
          <a:p>
            <a:pPr algn="ctr" indent="0" marL="0">
              <a:buNone/>
            </a:pPr>
            <a:r>
              <a:rPr lang="en-US" sz="900" dirty="0">
                <a:solidFill>
                  <a:srgbClr val="5F6B70"/>
                </a:solidFill>
              </a:rPr>
              <a:t>«actor»</a:t>
            </a:r>
            <a:endParaRPr lang="en-US" sz="900" dirty="0"/>
          </a:p>
          <a:p>
            <a:pPr algn="ctr" indent="0" marL="0">
              <a:buNone/>
            </a:pPr>
            <a:r>
              <a:rPr lang="en-US" sz="1200" b="1" dirty="0">
                <a:solidFill>
                  <a:srgbClr val="1F2A30"/>
                </a:solidFill>
              </a:rPr>
              <a:t>HR System</a:t>
            </a:r>
            <a:endParaRPr lang="en-US" sz="900" dirty="0"/>
          </a:p>
        </p:txBody>
      </p:sp>
      <p:sp>
        <p:nvSpPr>
          <p:cNvPr id="75" name="Shape 73"/>
          <p:cNvSpPr/>
          <p:nvPr/>
        </p:nvSpPr>
        <p:spPr>
          <a:xfrm flipV="1">
            <a:off x="5120640" y="1517904"/>
            <a:ext cx="1371600" cy="128016"/>
          </a:xfrm>
          <a:prstGeom prst="line">
            <a:avLst/>
          </a:prstGeom>
          <a:noFill/>
          <a:ln w="9525">
            <a:solidFill>
              <a:srgbClr val="7A9A98"/>
            </a:solidFill>
            <a:prstDash val="solid"/>
          </a:ln>
        </p:spPr>
      </p:sp>
      <p:sp>
        <p:nvSpPr>
          <p:cNvPr id="76" name="Shape 74"/>
          <p:cNvSpPr/>
          <p:nvPr/>
        </p:nvSpPr>
        <p:spPr>
          <a:xfrm>
            <a:off x="5120640" y="1645920"/>
            <a:ext cx="1371600" cy="649224"/>
          </a:xfrm>
          <a:prstGeom prst="line">
            <a:avLst/>
          </a:prstGeom>
          <a:noFill/>
          <a:ln w="9525">
            <a:solidFill>
              <a:srgbClr val="7A9A98"/>
            </a:solidFill>
            <a:prstDash val="solid"/>
          </a:ln>
        </p:spPr>
      </p:sp>
      <p:sp>
        <p:nvSpPr>
          <p:cNvPr id="77" name="Shape 75"/>
          <p:cNvSpPr/>
          <p:nvPr/>
        </p:nvSpPr>
        <p:spPr>
          <a:xfrm>
            <a:off x="5120640" y="1645920"/>
            <a:ext cx="1371600" cy="1426464"/>
          </a:xfrm>
          <a:prstGeom prst="line">
            <a:avLst/>
          </a:prstGeom>
          <a:noFill/>
          <a:ln w="9525">
            <a:solidFill>
              <a:srgbClr val="7A9A98"/>
            </a:solidFill>
            <a:prstDash val="solid"/>
          </a:ln>
        </p:spPr>
      </p:sp>
      <p:sp>
        <p:nvSpPr>
          <p:cNvPr id="78" name="Shape 76"/>
          <p:cNvSpPr/>
          <p:nvPr/>
        </p:nvSpPr>
        <p:spPr>
          <a:xfrm flipV="1">
            <a:off x="5120640" y="1517904"/>
            <a:ext cx="1371600" cy="704088"/>
          </a:xfrm>
          <a:prstGeom prst="line">
            <a:avLst/>
          </a:prstGeom>
          <a:noFill/>
          <a:ln w="9525">
            <a:solidFill>
              <a:srgbClr val="7A9A98"/>
            </a:solidFill>
            <a:prstDash val="solid"/>
          </a:ln>
        </p:spPr>
      </p:sp>
      <p:sp>
        <p:nvSpPr>
          <p:cNvPr id="79" name="Shape 77"/>
          <p:cNvSpPr/>
          <p:nvPr/>
        </p:nvSpPr>
        <p:spPr>
          <a:xfrm>
            <a:off x="5120640" y="2221992"/>
            <a:ext cx="1371600" cy="73152"/>
          </a:xfrm>
          <a:prstGeom prst="line">
            <a:avLst/>
          </a:prstGeom>
          <a:noFill/>
          <a:ln w="9525">
            <a:solidFill>
              <a:srgbClr val="7A9A98"/>
            </a:solidFill>
            <a:prstDash val="solid"/>
          </a:ln>
        </p:spPr>
      </p:sp>
      <p:sp>
        <p:nvSpPr>
          <p:cNvPr id="80" name="Shape 78"/>
          <p:cNvSpPr/>
          <p:nvPr/>
        </p:nvSpPr>
        <p:spPr>
          <a:xfrm>
            <a:off x="5120640" y="2221992"/>
            <a:ext cx="1371600" cy="850392"/>
          </a:xfrm>
          <a:prstGeom prst="line">
            <a:avLst/>
          </a:prstGeom>
          <a:noFill/>
          <a:ln w="9525">
            <a:solidFill>
              <a:srgbClr val="7A9A98"/>
            </a:solidFill>
            <a:prstDash val="solid"/>
          </a:ln>
        </p:spPr>
      </p:sp>
      <p:sp>
        <p:nvSpPr>
          <p:cNvPr id="81" name="Shape 79"/>
          <p:cNvSpPr/>
          <p:nvPr/>
        </p:nvSpPr>
        <p:spPr>
          <a:xfrm flipV="1">
            <a:off x="5120640" y="1517904"/>
            <a:ext cx="1371600" cy="1280160"/>
          </a:xfrm>
          <a:prstGeom prst="line">
            <a:avLst/>
          </a:prstGeom>
          <a:noFill/>
          <a:ln w="9525">
            <a:solidFill>
              <a:srgbClr val="7A9A98"/>
            </a:solidFill>
            <a:prstDash val="solid"/>
          </a:ln>
        </p:spPr>
      </p:sp>
      <p:sp>
        <p:nvSpPr>
          <p:cNvPr id="82" name="Shape 80"/>
          <p:cNvSpPr/>
          <p:nvPr/>
        </p:nvSpPr>
        <p:spPr>
          <a:xfrm flipV="1">
            <a:off x="5120640" y="2295144"/>
            <a:ext cx="1371600" cy="502920"/>
          </a:xfrm>
          <a:prstGeom prst="line">
            <a:avLst/>
          </a:prstGeom>
          <a:noFill/>
          <a:ln w="9525">
            <a:solidFill>
              <a:srgbClr val="7A9A98"/>
            </a:solidFill>
            <a:prstDash val="solid"/>
          </a:ln>
        </p:spPr>
      </p:sp>
      <p:sp>
        <p:nvSpPr>
          <p:cNvPr id="83" name="Shape 81"/>
          <p:cNvSpPr/>
          <p:nvPr/>
        </p:nvSpPr>
        <p:spPr>
          <a:xfrm>
            <a:off x="5120640" y="2798064"/>
            <a:ext cx="1371600" cy="274320"/>
          </a:xfrm>
          <a:prstGeom prst="line">
            <a:avLst/>
          </a:prstGeom>
          <a:noFill/>
          <a:ln w="9525">
            <a:solidFill>
              <a:srgbClr val="7A9A98"/>
            </a:solidFill>
            <a:prstDash val="solid"/>
          </a:ln>
        </p:spPr>
      </p:sp>
      <p:sp>
        <p:nvSpPr>
          <p:cNvPr id="84" name="Shape 82"/>
          <p:cNvSpPr/>
          <p:nvPr/>
        </p:nvSpPr>
        <p:spPr>
          <a:xfrm flipV="1">
            <a:off x="5120640" y="1517904"/>
            <a:ext cx="1371600" cy="2432304"/>
          </a:xfrm>
          <a:prstGeom prst="line">
            <a:avLst/>
          </a:prstGeom>
          <a:noFill/>
          <a:ln w="9525">
            <a:solidFill>
              <a:srgbClr val="7A9A98"/>
            </a:solidFill>
            <a:prstDash val="solid"/>
          </a:ln>
        </p:spPr>
      </p:sp>
      <p:sp>
        <p:nvSpPr>
          <p:cNvPr id="85" name="Shape 83"/>
          <p:cNvSpPr/>
          <p:nvPr/>
        </p:nvSpPr>
        <p:spPr>
          <a:xfrm flipV="1">
            <a:off x="5120640" y="2295144"/>
            <a:ext cx="1371600" cy="1655064"/>
          </a:xfrm>
          <a:prstGeom prst="line">
            <a:avLst/>
          </a:prstGeom>
          <a:noFill/>
          <a:ln w="9525">
            <a:solidFill>
              <a:srgbClr val="7A9A98"/>
            </a:solidFill>
            <a:prstDash val="solid"/>
          </a:ln>
        </p:spPr>
      </p:sp>
      <p:sp>
        <p:nvSpPr>
          <p:cNvPr id="86" name="Shape 84"/>
          <p:cNvSpPr/>
          <p:nvPr/>
        </p:nvSpPr>
        <p:spPr>
          <a:xfrm flipV="1">
            <a:off x="5120640" y="3072384"/>
            <a:ext cx="1371600" cy="877824"/>
          </a:xfrm>
          <a:prstGeom prst="line">
            <a:avLst/>
          </a:prstGeom>
          <a:noFill/>
          <a:ln w="9525">
            <a:solidFill>
              <a:srgbClr val="7A9A98"/>
            </a:solidFill>
            <a:prstDash val="solid"/>
          </a:ln>
        </p:spPr>
      </p:sp>
      <p:sp>
        <p:nvSpPr>
          <p:cNvPr id="87" name="Shape 85"/>
          <p:cNvSpPr/>
          <p:nvPr/>
        </p:nvSpPr>
        <p:spPr>
          <a:xfrm flipV="1">
            <a:off x="5120640" y="3072384"/>
            <a:ext cx="1371600" cy="301752"/>
          </a:xfrm>
          <a:prstGeom prst="line">
            <a:avLst/>
          </a:prstGeom>
          <a:noFill/>
          <a:ln w="9525">
            <a:solidFill>
              <a:srgbClr val="7A9A98"/>
            </a:solidFill>
            <a:prstDash val="solid"/>
          </a:ln>
        </p:spPr>
      </p:sp>
      <p:sp>
        <p:nvSpPr>
          <p:cNvPr id="88" name="Shape 86"/>
          <p:cNvSpPr/>
          <p:nvPr/>
        </p:nvSpPr>
        <p:spPr>
          <a:xfrm>
            <a:off x="5120640" y="3374136"/>
            <a:ext cx="1371600" cy="475488"/>
          </a:xfrm>
          <a:prstGeom prst="line">
            <a:avLst/>
          </a:prstGeom>
          <a:noFill/>
          <a:ln w="9525">
            <a:solidFill>
              <a:srgbClr val="7A9A98"/>
            </a:solidFill>
            <a:prstDash val="solid"/>
          </a:ln>
        </p:spPr>
      </p:sp>
      <p:sp>
        <p:nvSpPr>
          <p:cNvPr id="89" name="Text 87"/>
          <p:cNvSpPr txBox="1"/>
          <p:nvPr/>
        </p:nvSpPr>
        <p:spPr>
          <a:xfrm>
            <a:off x="228600" y="3520440"/>
            <a:ext cx="1783080" cy="548640"/>
          </a:xfrm>
          <a:prstGeom prst="rect">
            <a:avLst/>
          </a:prstGeom>
          <a:noFill/>
          <a:ln/>
        </p:spPr>
        <p:txBody>
          <a:bodyPr wrap="square" lIns="0" tIns="0" rIns="0" bIns="0" rtlCol="0" anchor="ctr"/>
          <a:lstStyle/>
          <a:p>
            <a:pPr indent="0" marL="0">
              <a:buNone/>
            </a:pPr>
            <a:r>
              <a:rPr lang="en-US" sz="900" i="1" dirty="0">
                <a:solidFill>
                  <a:srgbClr val="5F6B70"/>
                </a:solidFill>
              </a:rPr>
              <a:t>Customer = stakeholder (acts through the Cashier)</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274320" y="4681728"/>
            <a:ext cx="1005840" cy="182880"/>
          </a:xfrm>
          <a:prstGeom prst="rect">
            <a:avLst/>
          </a:prstGeom>
          <a:noFill/>
          <a:ln/>
        </p:spPr>
        <p:txBody>
          <a:bodyPr wrap="square" lIns="0" tIns="0" rIns="0" bIns="0" rtlCol="0" anchor="ctr"/>
          <a:lstStyle/>
          <a:p>
            <a:pPr indent="0" marL="0">
              <a:buNone/>
            </a:pPr>
            <a:r>
              <a:rPr lang="en-US" sz="800" b="1" dirty="0">
                <a:solidFill>
                  <a:srgbClr val="5F6B70"/>
                </a:solidFill>
              </a:rPr>
              <a:t>Course timeline</a:t>
            </a:r>
            <a:endParaRPr lang="en-US" sz="800" dirty="0"/>
          </a:p>
        </p:txBody>
      </p:sp>
      <p:sp>
        <p:nvSpPr>
          <p:cNvPr id="3" name="Shape 1"/>
          <p:cNvSpPr/>
          <p:nvPr/>
        </p:nvSpPr>
        <p:spPr>
          <a:xfrm>
            <a:off x="1325880" y="4773168"/>
            <a:ext cx="6537960" cy="0"/>
          </a:xfrm>
          <a:prstGeom prst="line">
            <a:avLst/>
          </a:prstGeom>
          <a:noFill/>
          <a:ln w="19050">
            <a:solidFill>
              <a:srgbClr val="C9D9D8"/>
            </a:solidFill>
            <a:prstDash val="solid"/>
          </a:ln>
        </p:spPr>
      </p:sp>
      <p:sp>
        <p:nvSpPr>
          <p:cNvPr id="4" name="Shape 2"/>
          <p:cNvSpPr/>
          <p:nvPr/>
        </p:nvSpPr>
        <p:spPr>
          <a:xfrm>
            <a:off x="1325880" y="4773168"/>
            <a:ext cx="2179320" cy="0"/>
          </a:xfrm>
          <a:prstGeom prst="line">
            <a:avLst/>
          </a:prstGeom>
          <a:noFill/>
          <a:ln w="31750">
            <a:solidFill>
              <a:srgbClr val="1B7F79"/>
            </a:solidFill>
            <a:prstDash val="solid"/>
          </a:ln>
        </p:spPr>
      </p:sp>
      <p:sp>
        <p:nvSpPr>
          <p:cNvPr id="5" name="Shape 3"/>
          <p:cNvSpPr/>
          <p:nvPr/>
        </p:nvSpPr>
        <p:spPr>
          <a:xfrm>
            <a:off x="1293876" y="4741164"/>
            <a:ext cx="64008" cy="64008"/>
          </a:xfrm>
          <a:prstGeom prst="ellipse">
            <a:avLst/>
          </a:prstGeom>
          <a:solidFill>
            <a:srgbClr val="1B7F79"/>
          </a:solidFill>
          <a:ln w="12700">
            <a:solidFill>
              <a:srgbClr val="1B7F79"/>
            </a:solidFill>
            <a:prstDash val="solid"/>
          </a:ln>
        </p:spPr>
      </p:sp>
      <p:sp>
        <p:nvSpPr>
          <p:cNvPr id="6" name="Text 4"/>
          <p:cNvSpPr txBox="1"/>
          <p:nvPr/>
        </p:nvSpPr>
        <p:spPr>
          <a:xfrm>
            <a:off x="105156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a:t>
            </a:r>
            <a:endParaRPr lang="en-US" sz="700" dirty="0"/>
          </a:p>
        </p:txBody>
      </p:sp>
      <p:sp>
        <p:nvSpPr>
          <p:cNvPr id="7" name="Shape 5"/>
          <p:cNvSpPr/>
          <p:nvPr/>
        </p:nvSpPr>
        <p:spPr>
          <a:xfrm>
            <a:off x="1729740" y="4741164"/>
            <a:ext cx="64008" cy="64008"/>
          </a:xfrm>
          <a:prstGeom prst="ellipse">
            <a:avLst/>
          </a:prstGeom>
          <a:solidFill>
            <a:srgbClr val="1B7F79"/>
          </a:solidFill>
          <a:ln w="12700">
            <a:solidFill>
              <a:srgbClr val="1B7F79"/>
            </a:solidFill>
            <a:prstDash val="solid"/>
          </a:ln>
        </p:spPr>
      </p:sp>
      <p:sp>
        <p:nvSpPr>
          <p:cNvPr id="8" name="Text 6"/>
          <p:cNvSpPr txBox="1"/>
          <p:nvPr/>
        </p:nvSpPr>
        <p:spPr>
          <a:xfrm>
            <a:off x="148742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W2</a:t>
            </a:r>
            <a:endParaRPr lang="en-US" sz="700" dirty="0"/>
          </a:p>
        </p:txBody>
      </p:sp>
      <p:sp>
        <p:nvSpPr>
          <p:cNvPr id="9" name="Shape 7"/>
          <p:cNvSpPr/>
          <p:nvPr/>
        </p:nvSpPr>
        <p:spPr>
          <a:xfrm>
            <a:off x="2165604" y="4741164"/>
            <a:ext cx="64008" cy="64008"/>
          </a:xfrm>
          <a:prstGeom prst="ellipse">
            <a:avLst/>
          </a:prstGeom>
          <a:solidFill>
            <a:srgbClr val="1B7F79"/>
          </a:solidFill>
          <a:ln w="12700">
            <a:solidFill>
              <a:srgbClr val="1B7F79"/>
            </a:solidFill>
            <a:prstDash val="solid"/>
          </a:ln>
        </p:spPr>
      </p:sp>
      <p:sp>
        <p:nvSpPr>
          <p:cNvPr id="10" name="Text 8"/>
          <p:cNvSpPr txBox="1"/>
          <p:nvPr/>
        </p:nvSpPr>
        <p:spPr>
          <a:xfrm>
            <a:off x="192328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W3</a:t>
            </a:r>
            <a:endParaRPr lang="en-US" sz="700" dirty="0"/>
          </a:p>
        </p:txBody>
      </p:sp>
      <p:sp>
        <p:nvSpPr>
          <p:cNvPr id="11" name="Shape 9"/>
          <p:cNvSpPr/>
          <p:nvPr/>
        </p:nvSpPr>
        <p:spPr>
          <a:xfrm>
            <a:off x="2578608" y="4718304"/>
            <a:ext cx="109728" cy="109728"/>
          </a:xfrm>
          <a:prstGeom prst="ellipse">
            <a:avLst/>
          </a:prstGeom>
          <a:solidFill>
            <a:srgbClr val="1B7F79"/>
          </a:solidFill>
          <a:ln w="12700">
            <a:solidFill>
              <a:srgbClr val="1B7F79"/>
            </a:solidFill>
            <a:prstDash val="solid"/>
          </a:ln>
        </p:spPr>
      </p:sp>
      <p:sp>
        <p:nvSpPr>
          <p:cNvPr id="12" name="Text 10"/>
          <p:cNvSpPr txBox="1"/>
          <p:nvPr/>
        </p:nvSpPr>
        <p:spPr>
          <a:xfrm>
            <a:off x="235915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W4</a:t>
            </a:r>
            <a:endParaRPr lang="en-US" sz="700" dirty="0"/>
          </a:p>
        </p:txBody>
      </p:sp>
      <p:sp>
        <p:nvSpPr>
          <p:cNvPr id="13" name="Text 11"/>
          <p:cNvSpPr txBox="1"/>
          <p:nvPr/>
        </p:nvSpPr>
        <p:spPr>
          <a:xfrm>
            <a:off x="2084832"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Process models</a:t>
            </a:r>
            <a:endParaRPr lang="en-US" sz="700" dirty="0"/>
          </a:p>
        </p:txBody>
      </p:sp>
      <p:sp>
        <p:nvSpPr>
          <p:cNvPr id="14" name="Shape 12"/>
          <p:cNvSpPr/>
          <p:nvPr/>
        </p:nvSpPr>
        <p:spPr>
          <a:xfrm>
            <a:off x="3037332" y="4741164"/>
            <a:ext cx="64008" cy="64008"/>
          </a:xfrm>
          <a:prstGeom prst="ellipse">
            <a:avLst/>
          </a:prstGeom>
          <a:solidFill>
            <a:srgbClr val="1B7F79"/>
          </a:solidFill>
          <a:ln w="12700">
            <a:solidFill>
              <a:srgbClr val="1B7F79"/>
            </a:solidFill>
            <a:prstDash val="solid"/>
          </a:ln>
        </p:spPr>
      </p:sp>
      <p:sp>
        <p:nvSpPr>
          <p:cNvPr id="15" name="Text 13"/>
          <p:cNvSpPr txBox="1"/>
          <p:nvPr/>
        </p:nvSpPr>
        <p:spPr>
          <a:xfrm>
            <a:off x="279501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W5</a:t>
            </a:r>
            <a:endParaRPr lang="en-US" sz="700" dirty="0"/>
          </a:p>
        </p:txBody>
      </p:sp>
      <p:sp>
        <p:nvSpPr>
          <p:cNvPr id="16" name="Shape 14"/>
          <p:cNvSpPr/>
          <p:nvPr/>
        </p:nvSpPr>
        <p:spPr>
          <a:xfrm>
            <a:off x="3427476" y="4695444"/>
            <a:ext cx="155448" cy="155448"/>
          </a:xfrm>
          <a:prstGeom prst="ellipse">
            <a:avLst/>
          </a:prstGeom>
          <a:solidFill>
            <a:srgbClr val="E09F3E"/>
          </a:solidFill>
          <a:ln w="12700">
            <a:solidFill>
              <a:srgbClr val="E09F3E"/>
            </a:solidFill>
            <a:prstDash val="solid"/>
          </a:ln>
        </p:spPr>
      </p:sp>
      <p:sp>
        <p:nvSpPr>
          <p:cNvPr id="17" name="Text 15"/>
          <p:cNvSpPr txBox="1"/>
          <p:nvPr/>
        </p:nvSpPr>
        <p:spPr>
          <a:xfrm>
            <a:off x="3230880" y="4855464"/>
            <a:ext cx="548640" cy="146304"/>
          </a:xfrm>
          <a:prstGeom prst="rect">
            <a:avLst/>
          </a:prstGeom>
          <a:noFill/>
          <a:ln/>
        </p:spPr>
        <p:txBody>
          <a:bodyPr wrap="square" lIns="0" tIns="0" rIns="0" bIns="0" rtlCol="0" anchor="ctr"/>
          <a:lstStyle/>
          <a:p>
            <a:pPr algn="ctr" indent="0" marL="0">
              <a:buNone/>
            </a:pPr>
            <a:r>
              <a:rPr lang="en-US" sz="700" b="1" dirty="0">
                <a:solidFill>
                  <a:srgbClr val="E09F3E"/>
                </a:solidFill>
              </a:rPr>
              <a:t>W6 · now</a:t>
            </a:r>
            <a:endParaRPr lang="en-US" sz="700" dirty="0"/>
          </a:p>
        </p:txBody>
      </p:sp>
      <p:sp>
        <p:nvSpPr>
          <p:cNvPr id="18" name="Shape 16"/>
          <p:cNvSpPr/>
          <p:nvPr/>
        </p:nvSpPr>
        <p:spPr>
          <a:xfrm>
            <a:off x="3886200" y="4718304"/>
            <a:ext cx="109728" cy="109728"/>
          </a:xfrm>
          <a:prstGeom prst="ellipse">
            <a:avLst/>
          </a:prstGeom>
          <a:solidFill>
            <a:srgbClr val="0E4D5C"/>
          </a:solidFill>
          <a:ln w="12700">
            <a:solidFill>
              <a:srgbClr val="0E4D5C"/>
            </a:solidFill>
            <a:prstDash val="solid"/>
          </a:ln>
        </p:spPr>
      </p:sp>
      <p:sp>
        <p:nvSpPr>
          <p:cNvPr id="19" name="Text 17"/>
          <p:cNvSpPr txBox="1"/>
          <p:nvPr/>
        </p:nvSpPr>
        <p:spPr>
          <a:xfrm>
            <a:off x="366674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W7</a:t>
            </a:r>
            <a:endParaRPr lang="en-US" sz="700" dirty="0"/>
          </a:p>
        </p:txBody>
      </p:sp>
      <p:sp>
        <p:nvSpPr>
          <p:cNvPr id="20" name="Text 18"/>
          <p:cNvSpPr txBox="1"/>
          <p:nvPr/>
        </p:nvSpPr>
        <p:spPr>
          <a:xfrm>
            <a:off x="3392424"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SRS</a:t>
            </a:r>
            <a:endParaRPr lang="en-US" sz="700" dirty="0"/>
          </a:p>
        </p:txBody>
      </p:sp>
      <p:sp>
        <p:nvSpPr>
          <p:cNvPr id="21" name="Shape 19"/>
          <p:cNvSpPr/>
          <p:nvPr/>
        </p:nvSpPr>
        <p:spPr>
          <a:xfrm>
            <a:off x="4344924" y="4741164"/>
            <a:ext cx="64008" cy="64008"/>
          </a:xfrm>
          <a:prstGeom prst="ellipse">
            <a:avLst/>
          </a:prstGeom>
          <a:solidFill>
            <a:srgbClr val="C9D9D8"/>
          </a:solidFill>
          <a:ln w="12700">
            <a:solidFill>
              <a:srgbClr val="C9D9D8"/>
            </a:solidFill>
            <a:prstDash val="solid"/>
          </a:ln>
        </p:spPr>
      </p:sp>
      <p:sp>
        <p:nvSpPr>
          <p:cNvPr id="22" name="Text 20"/>
          <p:cNvSpPr txBox="1"/>
          <p:nvPr/>
        </p:nvSpPr>
        <p:spPr>
          <a:xfrm>
            <a:off x="410260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W8</a:t>
            </a:r>
            <a:endParaRPr lang="en-US" sz="700" dirty="0"/>
          </a:p>
        </p:txBody>
      </p:sp>
      <p:sp>
        <p:nvSpPr>
          <p:cNvPr id="23" name="Shape 21"/>
          <p:cNvSpPr/>
          <p:nvPr/>
        </p:nvSpPr>
        <p:spPr>
          <a:xfrm>
            <a:off x="4780788" y="4741164"/>
            <a:ext cx="64008" cy="64008"/>
          </a:xfrm>
          <a:prstGeom prst="ellipse">
            <a:avLst/>
          </a:prstGeom>
          <a:solidFill>
            <a:srgbClr val="C9D9D8"/>
          </a:solidFill>
          <a:ln w="12700">
            <a:solidFill>
              <a:srgbClr val="C9D9D8"/>
            </a:solidFill>
            <a:prstDash val="solid"/>
          </a:ln>
        </p:spPr>
      </p:sp>
      <p:sp>
        <p:nvSpPr>
          <p:cNvPr id="24" name="Text 22"/>
          <p:cNvSpPr txBox="1"/>
          <p:nvPr/>
        </p:nvSpPr>
        <p:spPr>
          <a:xfrm>
            <a:off x="453847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W9</a:t>
            </a:r>
            <a:endParaRPr lang="en-US" sz="700" dirty="0"/>
          </a:p>
        </p:txBody>
      </p:sp>
      <p:sp>
        <p:nvSpPr>
          <p:cNvPr id="25" name="Shape 23"/>
          <p:cNvSpPr/>
          <p:nvPr/>
        </p:nvSpPr>
        <p:spPr>
          <a:xfrm>
            <a:off x="5216652" y="4741164"/>
            <a:ext cx="64008" cy="64008"/>
          </a:xfrm>
          <a:prstGeom prst="ellipse">
            <a:avLst/>
          </a:prstGeom>
          <a:solidFill>
            <a:srgbClr val="C9D9D8"/>
          </a:solidFill>
          <a:ln w="12700">
            <a:solidFill>
              <a:srgbClr val="C9D9D8"/>
            </a:solidFill>
            <a:prstDash val="solid"/>
          </a:ln>
        </p:spPr>
      </p:sp>
      <p:sp>
        <p:nvSpPr>
          <p:cNvPr id="26" name="Text 24"/>
          <p:cNvSpPr txBox="1"/>
          <p:nvPr/>
        </p:nvSpPr>
        <p:spPr>
          <a:xfrm>
            <a:off x="497433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W10</a:t>
            </a:r>
            <a:endParaRPr lang="en-US" sz="700" dirty="0"/>
          </a:p>
        </p:txBody>
      </p:sp>
      <p:sp>
        <p:nvSpPr>
          <p:cNvPr id="27" name="Shape 25"/>
          <p:cNvSpPr/>
          <p:nvPr/>
        </p:nvSpPr>
        <p:spPr>
          <a:xfrm>
            <a:off x="5629656" y="4718304"/>
            <a:ext cx="109728" cy="109728"/>
          </a:xfrm>
          <a:prstGeom prst="ellipse">
            <a:avLst/>
          </a:prstGeom>
          <a:solidFill>
            <a:srgbClr val="0E4D5C"/>
          </a:solidFill>
          <a:ln w="12700">
            <a:solidFill>
              <a:srgbClr val="0E4D5C"/>
            </a:solidFill>
            <a:prstDash val="solid"/>
          </a:ln>
        </p:spPr>
      </p:sp>
      <p:sp>
        <p:nvSpPr>
          <p:cNvPr id="28" name="Text 26"/>
          <p:cNvSpPr txBox="1"/>
          <p:nvPr/>
        </p:nvSpPr>
        <p:spPr>
          <a:xfrm>
            <a:off x="541020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W11</a:t>
            </a:r>
            <a:endParaRPr lang="en-US" sz="700" dirty="0"/>
          </a:p>
        </p:txBody>
      </p:sp>
      <p:sp>
        <p:nvSpPr>
          <p:cNvPr id="29" name="Text 27"/>
          <p:cNvSpPr txBox="1"/>
          <p:nvPr/>
        </p:nvSpPr>
        <p:spPr>
          <a:xfrm>
            <a:off x="513588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Design</a:t>
            </a:r>
            <a:endParaRPr lang="en-US" sz="700" dirty="0"/>
          </a:p>
        </p:txBody>
      </p:sp>
      <p:sp>
        <p:nvSpPr>
          <p:cNvPr id="30" name="Shape 28"/>
          <p:cNvSpPr/>
          <p:nvPr/>
        </p:nvSpPr>
        <p:spPr>
          <a:xfrm>
            <a:off x="6088380" y="4741164"/>
            <a:ext cx="64008" cy="64008"/>
          </a:xfrm>
          <a:prstGeom prst="ellipse">
            <a:avLst/>
          </a:prstGeom>
          <a:solidFill>
            <a:srgbClr val="C9D9D8"/>
          </a:solidFill>
          <a:ln w="12700">
            <a:solidFill>
              <a:srgbClr val="C9D9D8"/>
            </a:solidFill>
            <a:prstDash val="solid"/>
          </a:ln>
        </p:spPr>
      </p:sp>
      <p:sp>
        <p:nvSpPr>
          <p:cNvPr id="31" name="Text 29"/>
          <p:cNvSpPr txBox="1"/>
          <p:nvPr/>
        </p:nvSpPr>
        <p:spPr>
          <a:xfrm>
            <a:off x="584606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W12</a:t>
            </a:r>
            <a:endParaRPr lang="en-US" sz="700" dirty="0"/>
          </a:p>
        </p:txBody>
      </p:sp>
      <p:sp>
        <p:nvSpPr>
          <p:cNvPr id="32" name="Shape 30"/>
          <p:cNvSpPr/>
          <p:nvPr/>
        </p:nvSpPr>
        <p:spPr>
          <a:xfrm>
            <a:off x="6524244" y="4741164"/>
            <a:ext cx="64008" cy="64008"/>
          </a:xfrm>
          <a:prstGeom prst="ellipse">
            <a:avLst/>
          </a:prstGeom>
          <a:solidFill>
            <a:srgbClr val="C9D9D8"/>
          </a:solidFill>
          <a:ln w="12700">
            <a:solidFill>
              <a:srgbClr val="C9D9D8"/>
            </a:solidFill>
            <a:prstDash val="solid"/>
          </a:ln>
        </p:spPr>
      </p:sp>
      <p:sp>
        <p:nvSpPr>
          <p:cNvPr id="33" name="Text 31"/>
          <p:cNvSpPr txBox="1"/>
          <p:nvPr/>
        </p:nvSpPr>
        <p:spPr>
          <a:xfrm>
            <a:off x="628192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W13</a:t>
            </a:r>
            <a:endParaRPr lang="en-US" sz="700" dirty="0"/>
          </a:p>
        </p:txBody>
      </p:sp>
      <p:sp>
        <p:nvSpPr>
          <p:cNvPr id="34" name="Shape 32"/>
          <p:cNvSpPr/>
          <p:nvPr/>
        </p:nvSpPr>
        <p:spPr>
          <a:xfrm>
            <a:off x="6960108" y="4741164"/>
            <a:ext cx="64008" cy="64008"/>
          </a:xfrm>
          <a:prstGeom prst="ellipse">
            <a:avLst/>
          </a:prstGeom>
          <a:solidFill>
            <a:srgbClr val="C9D9D8"/>
          </a:solidFill>
          <a:ln w="12700">
            <a:solidFill>
              <a:srgbClr val="C9D9D8"/>
            </a:solidFill>
            <a:prstDash val="solid"/>
          </a:ln>
        </p:spPr>
      </p:sp>
      <p:sp>
        <p:nvSpPr>
          <p:cNvPr id="35" name="Text 33"/>
          <p:cNvSpPr txBox="1"/>
          <p:nvPr/>
        </p:nvSpPr>
        <p:spPr>
          <a:xfrm>
            <a:off x="671779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W14</a:t>
            </a:r>
            <a:endParaRPr lang="en-US" sz="700" dirty="0"/>
          </a:p>
        </p:txBody>
      </p:sp>
      <p:sp>
        <p:nvSpPr>
          <p:cNvPr id="36" name="Shape 34"/>
          <p:cNvSpPr/>
          <p:nvPr/>
        </p:nvSpPr>
        <p:spPr>
          <a:xfrm>
            <a:off x="7395972" y="4741164"/>
            <a:ext cx="64008" cy="64008"/>
          </a:xfrm>
          <a:prstGeom prst="ellipse">
            <a:avLst/>
          </a:prstGeom>
          <a:solidFill>
            <a:srgbClr val="C9D9D8"/>
          </a:solidFill>
          <a:ln w="12700">
            <a:solidFill>
              <a:srgbClr val="C9D9D8"/>
            </a:solidFill>
            <a:prstDash val="solid"/>
          </a:ln>
        </p:spPr>
      </p:sp>
      <p:sp>
        <p:nvSpPr>
          <p:cNvPr id="37" name="Text 35"/>
          <p:cNvSpPr txBox="1"/>
          <p:nvPr/>
        </p:nvSpPr>
        <p:spPr>
          <a:xfrm>
            <a:off x="715365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W15</a:t>
            </a:r>
            <a:endParaRPr lang="en-US" sz="700" dirty="0"/>
          </a:p>
        </p:txBody>
      </p:sp>
      <p:sp>
        <p:nvSpPr>
          <p:cNvPr id="38" name="Shape 36"/>
          <p:cNvSpPr/>
          <p:nvPr/>
        </p:nvSpPr>
        <p:spPr>
          <a:xfrm>
            <a:off x="7808976" y="4718304"/>
            <a:ext cx="109728" cy="109728"/>
          </a:xfrm>
          <a:prstGeom prst="ellipse">
            <a:avLst/>
          </a:prstGeom>
          <a:solidFill>
            <a:srgbClr val="0E4D5C"/>
          </a:solidFill>
          <a:ln w="12700">
            <a:solidFill>
              <a:srgbClr val="0E4D5C"/>
            </a:solidFill>
            <a:prstDash val="solid"/>
          </a:ln>
        </p:spPr>
      </p:sp>
      <p:sp>
        <p:nvSpPr>
          <p:cNvPr id="39" name="Text 37"/>
          <p:cNvSpPr txBox="1"/>
          <p:nvPr/>
        </p:nvSpPr>
        <p:spPr>
          <a:xfrm>
            <a:off x="758952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W16</a:t>
            </a:r>
            <a:endParaRPr lang="en-US" sz="700" dirty="0"/>
          </a:p>
        </p:txBody>
      </p:sp>
      <p:sp>
        <p:nvSpPr>
          <p:cNvPr id="40" name="Text 38"/>
          <p:cNvSpPr txBox="1"/>
          <p:nvPr/>
        </p:nvSpPr>
        <p:spPr>
          <a:xfrm>
            <a:off x="731520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Launch</a:t>
            </a:r>
            <a:endParaRPr lang="en-US" sz="700" dirty="0"/>
          </a:p>
        </p:txBody>
      </p:sp>
      <p:sp>
        <p:nvSpPr>
          <p:cNvPr id="41" name="Text 39"/>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100" kern="0" dirty="0">
                <a:solidFill>
                  <a:srgbClr val="1B7F79"/>
                </a:solidFill>
              </a:rPr>
              <a:t>1 · TECHNICAL PROGRESS — SYSTEM DEVELOPMENT</a:t>
            </a:r>
            <a:endParaRPr lang="en-US" sz="1000" dirty="0"/>
          </a:p>
        </p:txBody>
      </p:sp>
      <p:sp>
        <p:nvSpPr>
          <p:cNvPr id="42" name="Text 4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0E4D5C"/>
                </a:solidFill>
              </a:rPr>
              <a:t>What the analysis changed in our scope</a:t>
            </a:r>
            <a:endParaRPr lang="en-US" sz="2800" dirty="0"/>
          </a:p>
        </p:txBody>
      </p:sp>
      <p:sp>
        <p:nvSpPr>
          <p:cNvPr id="43" name="Shape 41"/>
          <p:cNvSpPr/>
          <p:nvPr/>
        </p:nvSpPr>
        <p:spPr>
          <a:xfrm>
            <a:off x="457200" y="1188720"/>
            <a:ext cx="2651760" cy="3017520"/>
          </a:xfrm>
          <a:prstGeom prst="roundRect">
            <a:avLst>
              <a:gd name="adj" fmla="val 2759"/>
            </a:avLst>
          </a:prstGeom>
          <a:solidFill>
            <a:srgbClr val="EAF2F2"/>
          </a:solidFill>
          <a:ln w="12700">
            <a:solidFill>
              <a:srgbClr val="EAF2F2"/>
            </a:solidFill>
            <a:prstDash val="solid"/>
          </a:ln>
        </p:spPr>
      </p:sp>
      <p:sp>
        <p:nvSpPr>
          <p:cNvPr id="44" name="Shape 42"/>
          <p:cNvSpPr/>
          <p:nvPr/>
        </p:nvSpPr>
        <p:spPr>
          <a:xfrm>
            <a:off x="640080" y="1325880"/>
            <a:ext cx="457200" cy="457200"/>
          </a:xfrm>
          <a:prstGeom prst="ellipse">
            <a:avLst/>
          </a:prstGeom>
          <a:solidFill>
            <a:srgbClr val="E09F3E"/>
          </a:solidFill>
          <a:ln w="12700">
            <a:solidFill>
              <a:srgbClr val="E09F3E"/>
            </a:solidFill>
            <a:prstDash val="solid"/>
          </a:ln>
        </p:spPr>
      </p:sp>
      <p:sp>
        <p:nvSpPr>
          <p:cNvPr id="45" name="Text 43"/>
          <p:cNvSpPr txBox="1"/>
          <p:nvPr/>
        </p:nvSpPr>
        <p:spPr>
          <a:xfrm>
            <a:off x="640080" y="13258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46" name="Text 44"/>
          <p:cNvSpPr txBox="1"/>
          <p:nvPr/>
        </p:nvSpPr>
        <p:spPr>
          <a:xfrm>
            <a:off x="640080" y="1874520"/>
            <a:ext cx="2286000" cy="594360"/>
          </a:xfrm>
          <a:prstGeom prst="rect">
            <a:avLst/>
          </a:prstGeom>
          <a:noFill/>
          <a:ln/>
        </p:spPr>
        <p:txBody>
          <a:bodyPr wrap="square" lIns="0" tIns="0" rIns="0" bIns="0" rtlCol="0" anchor="t"/>
          <a:lstStyle/>
          <a:p>
            <a:pPr indent="0" marL="0">
              <a:buNone/>
            </a:pPr>
            <a:r>
              <a:rPr lang="en-US" sz="1500" b="1" dirty="0">
                <a:solidFill>
                  <a:srgbClr val="0E4D5C"/>
                </a:solidFill>
              </a:rPr>
              <a:t>Customer is a stakeholder, not an actor</a:t>
            </a:r>
            <a:endParaRPr lang="en-US" sz="1500" dirty="0"/>
          </a:p>
        </p:txBody>
      </p:sp>
      <p:sp>
        <p:nvSpPr>
          <p:cNvPr id="47" name="Text 45"/>
          <p:cNvSpPr txBox="1"/>
          <p:nvPr/>
        </p:nvSpPr>
        <p:spPr>
          <a:xfrm>
            <a:off x="640080" y="2468880"/>
            <a:ext cx="2286000" cy="1097280"/>
          </a:xfrm>
          <a:prstGeom prst="rect">
            <a:avLst/>
          </a:prstGeom>
          <a:noFill/>
          <a:ln/>
        </p:spPr>
        <p:txBody>
          <a:bodyPr wrap="square" lIns="0" tIns="0" rIns="0" bIns="0" rtlCol="0" anchor="t"/>
          <a:lstStyle/>
          <a:p>
            <a:pPr indent="0" marL="0">
              <a:buNone/>
            </a:pPr>
            <a:r>
              <a:rPr lang="en-US" sz="1200" dirty="0">
                <a:solidFill>
                  <a:srgbClr val="1F2A30"/>
                </a:solidFill>
              </a:rPr>
              <a:t>Actors interact directly with the system. The customer only interacts through the cashier (as in the NextGen POS case).</a:t>
            </a:r>
            <a:endParaRPr lang="en-US" sz="1200" dirty="0"/>
          </a:p>
        </p:txBody>
      </p:sp>
      <p:sp>
        <p:nvSpPr>
          <p:cNvPr id="48" name="Text 46"/>
          <p:cNvSpPr txBox="1"/>
          <p:nvPr/>
        </p:nvSpPr>
        <p:spPr>
          <a:xfrm>
            <a:off x="640080" y="3611880"/>
            <a:ext cx="2286000" cy="457200"/>
          </a:xfrm>
          <a:prstGeom prst="rect">
            <a:avLst/>
          </a:prstGeom>
          <a:noFill/>
          <a:ln/>
        </p:spPr>
        <p:txBody>
          <a:bodyPr wrap="square" lIns="0" tIns="0" rIns="0" bIns="0" rtlCol="0" anchor="t"/>
          <a:lstStyle/>
          <a:p>
            <a:pPr indent="0" marL="0">
              <a:buNone/>
            </a:pPr>
            <a:r>
              <a:rPr lang="en-US" sz="1100" i="1" dirty="0">
                <a:solidFill>
                  <a:srgbClr val="1B7F79"/>
                </a:solidFill>
              </a:rPr>
              <a:t>W01 said 2 actors → 1 primary + 4 supporting</a:t>
            </a:r>
            <a:endParaRPr lang="en-US" sz="1100" dirty="0"/>
          </a:p>
        </p:txBody>
      </p:sp>
      <p:sp>
        <p:nvSpPr>
          <p:cNvPr id="49" name="Shape 47"/>
          <p:cNvSpPr/>
          <p:nvPr/>
        </p:nvSpPr>
        <p:spPr>
          <a:xfrm>
            <a:off x="3264408" y="1188720"/>
            <a:ext cx="2651760" cy="3017520"/>
          </a:xfrm>
          <a:prstGeom prst="roundRect">
            <a:avLst>
              <a:gd name="adj" fmla="val 2759"/>
            </a:avLst>
          </a:prstGeom>
          <a:solidFill>
            <a:srgbClr val="EAF2F2"/>
          </a:solidFill>
          <a:ln w="12700">
            <a:solidFill>
              <a:srgbClr val="EAF2F2"/>
            </a:solidFill>
            <a:prstDash val="solid"/>
          </a:ln>
        </p:spPr>
      </p:sp>
      <p:sp>
        <p:nvSpPr>
          <p:cNvPr id="50" name="Shape 48"/>
          <p:cNvSpPr/>
          <p:nvPr/>
        </p:nvSpPr>
        <p:spPr>
          <a:xfrm>
            <a:off x="3447288" y="1325880"/>
            <a:ext cx="457200" cy="457200"/>
          </a:xfrm>
          <a:prstGeom prst="ellipse">
            <a:avLst/>
          </a:prstGeom>
          <a:solidFill>
            <a:srgbClr val="E09F3E"/>
          </a:solidFill>
          <a:ln w="12700">
            <a:solidFill>
              <a:srgbClr val="E09F3E"/>
            </a:solidFill>
            <a:prstDash val="solid"/>
          </a:ln>
        </p:spPr>
      </p:sp>
      <p:sp>
        <p:nvSpPr>
          <p:cNvPr id="51" name="Text 49"/>
          <p:cNvSpPr txBox="1"/>
          <p:nvPr/>
        </p:nvSpPr>
        <p:spPr>
          <a:xfrm>
            <a:off x="3447288" y="13258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52" name="Text 50"/>
          <p:cNvSpPr txBox="1"/>
          <p:nvPr/>
        </p:nvSpPr>
        <p:spPr>
          <a:xfrm>
            <a:off x="3447288" y="1874520"/>
            <a:ext cx="2286000" cy="594360"/>
          </a:xfrm>
          <a:prstGeom prst="rect">
            <a:avLst/>
          </a:prstGeom>
          <a:noFill/>
          <a:ln/>
        </p:spPr>
        <p:txBody>
          <a:bodyPr wrap="square" lIns="0" tIns="0" rIns="0" bIns="0" rtlCol="0" anchor="t"/>
          <a:lstStyle/>
          <a:p>
            <a:pPr indent="0" marL="0">
              <a:buNone/>
            </a:pPr>
            <a:r>
              <a:rPr lang="en-US" sz="1500" b="1" dirty="0">
                <a:solidFill>
                  <a:srgbClr val="0E4D5C"/>
                </a:solidFill>
              </a:rPr>
              <a:t>Three payment methods</a:t>
            </a:r>
            <a:endParaRPr lang="en-US" sz="1500" dirty="0"/>
          </a:p>
        </p:txBody>
      </p:sp>
      <p:sp>
        <p:nvSpPr>
          <p:cNvPr id="53" name="Text 51"/>
          <p:cNvSpPr txBox="1"/>
          <p:nvPr/>
        </p:nvSpPr>
        <p:spPr>
          <a:xfrm>
            <a:off x="3447288" y="2468880"/>
            <a:ext cx="2286000" cy="1097280"/>
          </a:xfrm>
          <a:prstGeom prst="rect">
            <a:avLst/>
          </a:prstGeom>
          <a:noFill/>
          <a:ln/>
        </p:spPr>
        <p:txBody>
          <a:bodyPr wrap="square" lIns="0" tIns="0" rIns="0" bIns="0" rtlCol="0" anchor="t"/>
          <a:lstStyle/>
          <a:p>
            <a:pPr indent="0" marL="0">
              <a:buNone/>
            </a:pPr>
            <a:r>
              <a:rPr lang="en-US" sz="1200" dirty="0">
                <a:solidFill>
                  <a:srgbClr val="1F2A30"/>
                </a:solidFill>
              </a:rPr>
              <a:t>Cash, credit card and check. Check is authorized by the Payment Service and has priority Could.</a:t>
            </a:r>
            <a:endParaRPr lang="en-US" sz="1200" dirty="0"/>
          </a:p>
        </p:txBody>
      </p:sp>
      <p:sp>
        <p:nvSpPr>
          <p:cNvPr id="54" name="Text 52"/>
          <p:cNvSpPr txBox="1"/>
          <p:nvPr/>
        </p:nvSpPr>
        <p:spPr>
          <a:xfrm>
            <a:off x="3447288" y="3611880"/>
            <a:ext cx="2286000" cy="457200"/>
          </a:xfrm>
          <a:prstGeom prst="rect">
            <a:avLst/>
          </a:prstGeom>
          <a:noFill/>
          <a:ln/>
        </p:spPr>
        <p:txBody>
          <a:bodyPr wrap="square" lIns="0" tIns="0" rIns="0" bIns="0" rtlCol="0" anchor="t"/>
          <a:lstStyle/>
          <a:p>
            <a:pPr indent="0" marL="0">
              <a:buNone/>
            </a:pPr>
            <a:r>
              <a:rPr lang="en-US" sz="1100" i="1" dirty="0">
                <a:solidFill>
                  <a:srgbClr val="1B7F79"/>
                </a:solidFill>
              </a:rPr>
              <a:t>Proposal said 3 but named only 2</a:t>
            </a:r>
            <a:endParaRPr lang="en-US" sz="1100" dirty="0"/>
          </a:p>
        </p:txBody>
      </p:sp>
      <p:sp>
        <p:nvSpPr>
          <p:cNvPr id="55" name="Shape 53"/>
          <p:cNvSpPr/>
          <p:nvPr/>
        </p:nvSpPr>
        <p:spPr>
          <a:xfrm>
            <a:off x="6071616" y="1188720"/>
            <a:ext cx="2651760" cy="3017520"/>
          </a:xfrm>
          <a:prstGeom prst="roundRect">
            <a:avLst>
              <a:gd name="adj" fmla="val 2759"/>
            </a:avLst>
          </a:prstGeom>
          <a:solidFill>
            <a:srgbClr val="EAF2F2"/>
          </a:solidFill>
          <a:ln w="12700">
            <a:solidFill>
              <a:srgbClr val="EAF2F2"/>
            </a:solidFill>
            <a:prstDash val="solid"/>
          </a:ln>
        </p:spPr>
      </p:sp>
      <p:sp>
        <p:nvSpPr>
          <p:cNvPr id="56" name="Shape 54"/>
          <p:cNvSpPr/>
          <p:nvPr/>
        </p:nvSpPr>
        <p:spPr>
          <a:xfrm>
            <a:off x="6254496" y="1325880"/>
            <a:ext cx="457200" cy="457200"/>
          </a:xfrm>
          <a:prstGeom prst="ellipse">
            <a:avLst/>
          </a:prstGeom>
          <a:solidFill>
            <a:srgbClr val="E09F3E"/>
          </a:solidFill>
          <a:ln w="12700">
            <a:solidFill>
              <a:srgbClr val="E09F3E"/>
            </a:solidFill>
            <a:prstDash val="solid"/>
          </a:ln>
        </p:spPr>
      </p:sp>
      <p:sp>
        <p:nvSpPr>
          <p:cNvPr id="57" name="Text 55"/>
          <p:cNvSpPr txBox="1"/>
          <p:nvPr/>
        </p:nvSpPr>
        <p:spPr>
          <a:xfrm>
            <a:off x="6254496" y="13258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58" name="Text 56"/>
          <p:cNvSpPr txBox="1"/>
          <p:nvPr/>
        </p:nvSpPr>
        <p:spPr>
          <a:xfrm>
            <a:off x="6254496" y="1874520"/>
            <a:ext cx="2286000" cy="594360"/>
          </a:xfrm>
          <a:prstGeom prst="rect">
            <a:avLst/>
          </a:prstGeom>
          <a:noFill/>
          <a:ln/>
        </p:spPr>
        <p:txBody>
          <a:bodyPr wrap="square" lIns="0" tIns="0" rIns="0" bIns="0" rtlCol="0" anchor="t"/>
          <a:lstStyle/>
          <a:p>
            <a:pPr indent="0" marL="0">
              <a:buNone/>
            </a:pPr>
            <a:r>
              <a:rPr lang="en-US" sz="1500" b="1" dirty="0">
                <a:solidFill>
                  <a:srgbClr val="0E4D5C"/>
                </a:solidFill>
              </a:rPr>
              <a:t>New use case UC5 Return Rental</a:t>
            </a:r>
            <a:endParaRPr lang="en-US" sz="1500" dirty="0"/>
          </a:p>
        </p:txBody>
      </p:sp>
      <p:sp>
        <p:nvSpPr>
          <p:cNvPr id="59" name="Text 57"/>
          <p:cNvSpPr txBox="1"/>
          <p:nvPr/>
        </p:nvSpPr>
        <p:spPr>
          <a:xfrm>
            <a:off x="6254496" y="2468880"/>
            <a:ext cx="2286000" cy="1097280"/>
          </a:xfrm>
          <a:prstGeom prst="rect">
            <a:avLst/>
          </a:prstGeom>
          <a:noFill/>
          <a:ln/>
        </p:spPr>
        <p:txBody>
          <a:bodyPr wrap="square" lIns="0" tIns="0" rIns="0" bIns="0" rtlCol="0" anchor="t"/>
          <a:lstStyle/>
          <a:p>
            <a:pPr indent="0" marL="0">
              <a:buNone/>
            </a:pPr>
            <a:r>
              <a:rPr lang="en-US" sz="1200" dirty="0">
                <a:solidFill>
                  <a:srgbClr val="1F2A30"/>
                </a:solidFill>
              </a:rPr>
              <a:t>Returning rented equipment is a different visit, goal and set of rules: condition check, late fee, deposit refund.</a:t>
            </a:r>
            <a:endParaRPr lang="en-US" sz="1200" dirty="0"/>
          </a:p>
        </p:txBody>
      </p:sp>
      <p:sp>
        <p:nvSpPr>
          <p:cNvPr id="60" name="Text 58"/>
          <p:cNvSpPr txBox="1"/>
          <p:nvPr/>
        </p:nvSpPr>
        <p:spPr>
          <a:xfrm>
            <a:off x="6254496" y="3611880"/>
            <a:ext cx="2286000" cy="457200"/>
          </a:xfrm>
          <a:prstGeom prst="rect">
            <a:avLst/>
          </a:prstGeom>
          <a:noFill/>
          <a:ln/>
        </p:spPr>
        <p:txBody>
          <a:bodyPr wrap="square" lIns="0" tIns="0" rIns="0" bIns="0" rtlCol="0" anchor="t"/>
          <a:lstStyle/>
          <a:p>
            <a:pPr indent="0" marL="0">
              <a:buNone/>
            </a:pPr>
            <a:r>
              <a:rPr lang="en-US" sz="1100" i="1" dirty="0">
                <a:solidFill>
                  <a:srgbClr val="1B7F79"/>
                </a:solidFill>
              </a:rPr>
              <a:t>Scope: 4 → 5 use cases</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274320" y="4681728"/>
            <a:ext cx="1005840" cy="182880"/>
          </a:xfrm>
          <a:prstGeom prst="rect">
            <a:avLst/>
          </a:prstGeom>
          <a:noFill/>
          <a:ln/>
        </p:spPr>
        <p:txBody>
          <a:bodyPr wrap="square" lIns="0" tIns="0" rIns="0" bIns="0" rtlCol="0" anchor="ctr"/>
          <a:lstStyle/>
          <a:p>
            <a:pPr indent="0" marL="0">
              <a:buNone/>
            </a:pPr>
            <a:r>
              <a:rPr lang="en-US" sz="800" b="1" dirty="0">
                <a:solidFill>
                  <a:srgbClr val="5F6B70"/>
                </a:solidFill>
              </a:rPr>
              <a:t>Course timeline</a:t>
            </a:r>
            <a:endParaRPr lang="en-US" sz="800" dirty="0"/>
          </a:p>
        </p:txBody>
      </p:sp>
      <p:sp>
        <p:nvSpPr>
          <p:cNvPr id="3" name="Shape 1"/>
          <p:cNvSpPr/>
          <p:nvPr/>
        </p:nvSpPr>
        <p:spPr>
          <a:xfrm>
            <a:off x="1325880" y="4773168"/>
            <a:ext cx="6537960" cy="0"/>
          </a:xfrm>
          <a:prstGeom prst="line">
            <a:avLst/>
          </a:prstGeom>
          <a:noFill/>
          <a:ln w="19050">
            <a:solidFill>
              <a:srgbClr val="C9D9D8"/>
            </a:solidFill>
            <a:prstDash val="solid"/>
          </a:ln>
        </p:spPr>
      </p:sp>
      <p:sp>
        <p:nvSpPr>
          <p:cNvPr id="4" name="Shape 2"/>
          <p:cNvSpPr/>
          <p:nvPr/>
        </p:nvSpPr>
        <p:spPr>
          <a:xfrm>
            <a:off x="1325880" y="4773168"/>
            <a:ext cx="2179320" cy="0"/>
          </a:xfrm>
          <a:prstGeom prst="line">
            <a:avLst/>
          </a:prstGeom>
          <a:noFill/>
          <a:ln w="31750">
            <a:solidFill>
              <a:srgbClr val="1B7F79"/>
            </a:solidFill>
            <a:prstDash val="solid"/>
          </a:ln>
        </p:spPr>
      </p:sp>
      <p:sp>
        <p:nvSpPr>
          <p:cNvPr id="5" name="Shape 3"/>
          <p:cNvSpPr/>
          <p:nvPr/>
        </p:nvSpPr>
        <p:spPr>
          <a:xfrm>
            <a:off x="1293876" y="4741164"/>
            <a:ext cx="64008" cy="64008"/>
          </a:xfrm>
          <a:prstGeom prst="ellipse">
            <a:avLst/>
          </a:prstGeom>
          <a:solidFill>
            <a:srgbClr val="1B7F79"/>
          </a:solidFill>
          <a:ln w="12700">
            <a:solidFill>
              <a:srgbClr val="1B7F79"/>
            </a:solidFill>
            <a:prstDash val="solid"/>
          </a:ln>
        </p:spPr>
      </p:sp>
      <p:sp>
        <p:nvSpPr>
          <p:cNvPr id="6" name="Text 4"/>
          <p:cNvSpPr txBox="1"/>
          <p:nvPr/>
        </p:nvSpPr>
        <p:spPr>
          <a:xfrm>
            <a:off x="105156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a:t>
            </a:r>
            <a:endParaRPr lang="en-US" sz="700" dirty="0"/>
          </a:p>
        </p:txBody>
      </p:sp>
      <p:sp>
        <p:nvSpPr>
          <p:cNvPr id="7" name="Shape 5"/>
          <p:cNvSpPr/>
          <p:nvPr/>
        </p:nvSpPr>
        <p:spPr>
          <a:xfrm>
            <a:off x="1729740" y="4741164"/>
            <a:ext cx="64008" cy="64008"/>
          </a:xfrm>
          <a:prstGeom prst="ellipse">
            <a:avLst/>
          </a:prstGeom>
          <a:solidFill>
            <a:srgbClr val="1B7F79"/>
          </a:solidFill>
          <a:ln w="12700">
            <a:solidFill>
              <a:srgbClr val="1B7F79"/>
            </a:solidFill>
            <a:prstDash val="solid"/>
          </a:ln>
        </p:spPr>
      </p:sp>
      <p:sp>
        <p:nvSpPr>
          <p:cNvPr id="8" name="Text 6"/>
          <p:cNvSpPr txBox="1"/>
          <p:nvPr/>
        </p:nvSpPr>
        <p:spPr>
          <a:xfrm>
            <a:off x="148742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W2</a:t>
            </a:r>
            <a:endParaRPr lang="en-US" sz="700" dirty="0"/>
          </a:p>
        </p:txBody>
      </p:sp>
      <p:sp>
        <p:nvSpPr>
          <p:cNvPr id="9" name="Shape 7"/>
          <p:cNvSpPr/>
          <p:nvPr/>
        </p:nvSpPr>
        <p:spPr>
          <a:xfrm>
            <a:off x="2165604" y="4741164"/>
            <a:ext cx="64008" cy="64008"/>
          </a:xfrm>
          <a:prstGeom prst="ellipse">
            <a:avLst/>
          </a:prstGeom>
          <a:solidFill>
            <a:srgbClr val="1B7F79"/>
          </a:solidFill>
          <a:ln w="12700">
            <a:solidFill>
              <a:srgbClr val="1B7F79"/>
            </a:solidFill>
            <a:prstDash val="solid"/>
          </a:ln>
        </p:spPr>
      </p:sp>
      <p:sp>
        <p:nvSpPr>
          <p:cNvPr id="10" name="Text 8"/>
          <p:cNvSpPr txBox="1"/>
          <p:nvPr/>
        </p:nvSpPr>
        <p:spPr>
          <a:xfrm>
            <a:off x="192328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W3</a:t>
            </a:r>
            <a:endParaRPr lang="en-US" sz="700" dirty="0"/>
          </a:p>
        </p:txBody>
      </p:sp>
      <p:sp>
        <p:nvSpPr>
          <p:cNvPr id="11" name="Shape 9"/>
          <p:cNvSpPr/>
          <p:nvPr/>
        </p:nvSpPr>
        <p:spPr>
          <a:xfrm>
            <a:off x="2578608" y="4718304"/>
            <a:ext cx="109728" cy="109728"/>
          </a:xfrm>
          <a:prstGeom prst="ellipse">
            <a:avLst/>
          </a:prstGeom>
          <a:solidFill>
            <a:srgbClr val="1B7F79"/>
          </a:solidFill>
          <a:ln w="12700">
            <a:solidFill>
              <a:srgbClr val="1B7F79"/>
            </a:solidFill>
            <a:prstDash val="solid"/>
          </a:ln>
        </p:spPr>
      </p:sp>
      <p:sp>
        <p:nvSpPr>
          <p:cNvPr id="12" name="Text 10"/>
          <p:cNvSpPr txBox="1"/>
          <p:nvPr/>
        </p:nvSpPr>
        <p:spPr>
          <a:xfrm>
            <a:off x="235915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W4</a:t>
            </a:r>
            <a:endParaRPr lang="en-US" sz="700" dirty="0"/>
          </a:p>
        </p:txBody>
      </p:sp>
      <p:sp>
        <p:nvSpPr>
          <p:cNvPr id="13" name="Text 11"/>
          <p:cNvSpPr txBox="1"/>
          <p:nvPr/>
        </p:nvSpPr>
        <p:spPr>
          <a:xfrm>
            <a:off x="2084832"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Process models</a:t>
            </a:r>
            <a:endParaRPr lang="en-US" sz="700" dirty="0"/>
          </a:p>
        </p:txBody>
      </p:sp>
      <p:sp>
        <p:nvSpPr>
          <p:cNvPr id="14" name="Shape 12"/>
          <p:cNvSpPr/>
          <p:nvPr/>
        </p:nvSpPr>
        <p:spPr>
          <a:xfrm>
            <a:off x="3037332" y="4741164"/>
            <a:ext cx="64008" cy="64008"/>
          </a:xfrm>
          <a:prstGeom prst="ellipse">
            <a:avLst/>
          </a:prstGeom>
          <a:solidFill>
            <a:srgbClr val="1B7F79"/>
          </a:solidFill>
          <a:ln w="12700">
            <a:solidFill>
              <a:srgbClr val="1B7F79"/>
            </a:solidFill>
            <a:prstDash val="solid"/>
          </a:ln>
        </p:spPr>
      </p:sp>
      <p:sp>
        <p:nvSpPr>
          <p:cNvPr id="15" name="Text 13"/>
          <p:cNvSpPr txBox="1"/>
          <p:nvPr/>
        </p:nvSpPr>
        <p:spPr>
          <a:xfrm>
            <a:off x="279501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W5</a:t>
            </a:r>
            <a:endParaRPr lang="en-US" sz="700" dirty="0"/>
          </a:p>
        </p:txBody>
      </p:sp>
      <p:sp>
        <p:nvSpPr>
          <p:cNvPr id="16" name="Shape 14"/>
          <p:cNvSpPr/>
          <p:nvPr/>
        </p:nvSpPr>
        <p:spPr>
          <a:xfrm>
            <a:off x="3427476" y="4695444"/>
            <a:ext cx="155448" cy="155448"/>
          </a:xfrm>
          <a:prstGeom prst="ellipse">
            <a:avLst/>
          </a:prstGeom>
          <a:solidFill>
            <a:srgbClr val="E09F3E"/>
          </a:solidFill>
          <a:ln w="12700">
            <a:solidFill>
              <a:srgbClr val="E09F3E"/>
            </a:solidFill>
            <a:prstDash val="solid"/>
          </a:ln>
        </p:spPr>
      </p:sp>
      <p:sp>
        <p:nvSpPr>
          <p:cNvPr id="17" name="Text 15"/>
          <p:cNvSpPr txBox="1"/>
          <p:nvPr/>
        </p:nvSpPr>
        <p:spPr>
          <a:xfrm>
            <a:off x="3230880" y="4855464"/>
            <a:ext cx="548640" cy="146304"/>
          </a:xfrm>
          <a:prstGeom prst="rect">
            <a:avLst/>
          </a:prstGeom>
          <a:noFill/>
          <a:ln/>
        </p:spPr>
        <p:txBody>
          <a:bodyPr wrap="square" lIns="0" tIns="0" rIns="0" bIns="0" rtlCol="0" anchor="ctr"/>
          <a:lstStyle/>
          <a:p>
            <a:pPr algn="ctr" indent="0" marL="0">
              <a:buNone/>
            </a:pPr>
            <a:r>
              <a:rPr lang="en-US" sz="700" b="1" dirty="0">
                <a:solidFill>
                  <a:srgbClr val="E09F3E"/>
                </a:solidFill>
              </a:rPr>
              <a:t>W6 · now</a:t>
            </a:r>
            <a:endParaRPr lang="en-US" sz="700" dirty="0"/>
          </a:p>
        </p:txBody>
      </p:sp>
      <p:sp>
        <p:nvSpPr>
          <p:cNvPr id="18" name="Shape 16"/>
          <p:cNvSpPr/>
          <p:nvPr/>
        </p:nvSpPr>
        <p:spPr>
          <a:xfrm>
            <a:off x="3886200" y="4718304"/>
            <a:ext cx="109728" cy="109728"/>
          </a:xfrm>
          <a:prstGeom prst="ellipse">
            <a:avLst/>
          </a:prstGeom>
          <a:solidFill>
            <a:srgbClr val="0E4D5C"/>
          </a:solidFill>
          <a:ln w="12700">
            <a:solidFill>
              <a:srgbClr val="0E4D5C"/>
            </a:solidFill>
            <a:prstDash val="solid"/>
          </a:ln>
        </p:spPr>
      </p:sp>
      <p:sp>
        <p:nvSpPr>
          <p:cNvPr id="19" name="Text 17"/>
          <p:cNvSpPr txBox="1"/>
          <p:nvPr/>
        </p:nvSpPr>
        <p:spPr>
          <a:xfrm>
            <a:off x="366674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W7</a:t>
            </a:r>
            <a:endParaRPr lang="en-US" sz="700" dirty="0"/>
          </a:p>
        </p:txBody>
      </p:sp>
      <p:sp>
        <p:nvSpPr>
          <p:cNvPr id="20" name="Text 18"/>
          <p:cNvSpPr txBox="1"/>
          <p:nvPr/>
        </p:nvSpPr>
        <p:spPr>
          <a:xfrm>
            <a:off x="3392424"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SRS</a:t>
            </a:r>
            <a:endParaRPr lang="en-US" sz="700" dirty="0"/>
          </a:p>
        </p:txBody>
      </p:sp>
      <p:sp>
        <p:nvSpPr>
          <p:cNvPr id="21" name="Shape 19"/>
          <p:cNvSpPr/>
          <p:nvPr/>
        </p:nvSpPr>
        <p:spPr>
          <a:xfrm>
            <a:off x="4344924" y="4741164"/>
            <a:ext cx="64008" cy="64008"/>
          </a:xfrm>
          <a:prstGeom prst="ellipse">
            <a:avLst/>
          </a:prstGeom>
          <a:solidFill>
            <a:srgbClr val="C9D9D8"/>
          </a:solidFill>
          <a:ln w="12700">
            <a:solidFill>
              <a:srgbClr val="C9D9D8"/>
            </a:solidFill>
            <a:prstDash val="solid"/>
          </a:ln>
        </p:spPr>
      </p:sp>
      <p:sp>
        <p:nvSpPr>
          <p:cNvPr id="22" name="Text 20"/>
          <p:cNvSpPr txBox="1"/>
          <p:nvPr/>
        </p:nvSpPr>
        <p:spPr>
          <a:xfrm>
            <a:off x="410260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W8</a:t>
            </a:r>
            <a:endParaRPr lang="en-US" sz="700" dirty="0"/>
          </a:p>
        </p:txBody>
      </p:sp>
      <p:sp>
        <p:nvSpPr>
          <p:cNvPr id="23" name="Shape 21"/>
          <p:cNvSpPr/>
          <p:nvPr/>
        </p:nvSpPr>
        <p:spPr>
          <a:xfrm>
            <a:off x="4780788" y="4741164"/>
            <a:ext cx="64008" cy="64008"/>
          </a:xfrm>
          <a:prstGeom prst="ellipse">
            <a:avLst/>
          </a:prstGeom>
          <a:solidFill>
            <a:srgbClr val="C9D9D8"/>
          </a:solidFill>
          <a:ln w="12700">
            <a:solidFill>
              <a:srgbClr val="C9D9D8"/>
            </a:solidFill>
            <a:prstDash val="solid"/>
          </a:ln>
        </p:spPr>
      </p:sp>
      <p:sp>
        <p:nvSpPr>
          <p:cNvPr id="24" name="Text 22"/>
          <p:cNvSpPr txBox="1"/>
          <p:nvPr/>
        </p:nvSpPr>
        <p:spPr>
          <a:xfrm>
            <a:off x="453847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W9</a:t>
            </a:r>
            <a:endParaRPr lang="en-US" sz="700" dirty="0"/>
          </a:p>
        </p:txBody>
      </p:sp>
      <p:sp>
        <p:nvSpPr>
          <p:cNvPr id="25" name="Shape 23"/>
          <p:cNvSpPr/>
          <p:nvPr/>
        </p:nvSpPr>
        <p:spPr>
          <a:xfrm>
            <a:off x="5216652" y="4741164"/>
            <a:ext cx="64008" cy="64008"/>
          </a:xfrm>
          <a:prstGeom prst="ellipse">
            <a:avLst/>
          </a:prstGeom>
          <a:solidFill>
            <a:srgbClr val="C9D9D8"/>
          </a:solidFill>
          <a:ln w="12700">
            <a:solidFill>
              <a:srgbClr val="C9D9D8"/>
            </a:solidFill>
            <a:prstDash val="solid"/>
          </a:ln>
        </p:spPr>
      </p:sp>
      <p:sp>
        <p:nvSpPr>
          <p:cNvPr id="26" name="Text 24"/>
          <p:cNvSpPr txBox="1"/>
          <p:nvPr/>
        </p:nvSpPr>
        <p:spPr>
          <a:xfrm>
            <a:off x="497433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W10</a:t>
            </a:r>
            <a:endParaRPr lang="en-US" sz="700" dirty="0"/>
          </a:p>
        </p:txBody>
      </p:sp>
      <p:sp>
        <p:nvSpPr>
          <p:cNvPr id="27" name="Shape 25"/>
          <p:cNvSpPr/>
          <p:nvPr/>
        </p:nvSpPr>
        <p:spPr>
          <a:xfrm>
            <a:off x="5629656" y="4718304"/>
            <a:ext cx="109728" cy="109728"/>
          </a:xfrm>
          <a:prstGeom prst="ellipse">
            <a:avLst/>
          </a:prstGeom>
          <a:solidFill>
            <a:srgbClr val="0E4D5C"/>
          </a:solidFill>
          <a:ln w="12700">
            <a:solidFill>
              <a:srgbClr val="0E4D5C"/>
            </a:solidFill>
            <a:prstDash val="solid"/>
          </a:ln>
        </p:spPr>
      </p:sp>
      <p:sp>
        <p:nvSpPr>
          <p:cNvPr id="28" name="Text 26"/>
          <p:cNvSpPr txBox="1"/>
          <p:nvPr/>
        </p:nvSpPr>
        <p:spPr>
          <a:xfrm>
            <a:off x="541020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W11</a:t>
            </a:r>
            <a:endParaRPr lang="en-US" sz="700" dirty="0"/>
          </a:p>
        </p:txBody>
      </p:sp>
      <p:sp>
        <p:nvSpPr>
          <p:cNvPr id="29" name="Text 27"/>
          <p:cNvSpPr txBox="1"/>
          <p:nvPr/>
        </p:nvSpPr>
        <p:spPr>
          <a:xfrm>
            <a:off x="513588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Design</a:t>
            </a:r>
            <a:endParaRPr lang="en-US" sz="700" dirty="0"/>
          </a:p>
        </p:txBody>
      </p:sp>
      <p:sp>
        <p:nvSpPr>
          <p:cNvPr id="30" name="Shape 28"/>
          <p:cNvSpPr/>
          <p:nvPr/>
        </p:nvSpPr>
        <p:spPr>
          <a:xfrm>
            <a:off x="6088380" y="4741164"/>
            <a:ext cx="64008" cy="64008"/>
          </a:xfrm>
          <a:prstGeom prst="ellipse">
            <a:avLst/>
          </a:prstGeom>
          <a:solidFill>
            <a:srgbClr val="C9D9D8"/>
          </a:solidFill>
          <a:ln w="12700">
            <a:solidFill>
              <a:srgbClr val="C9D9D8"/>
            </a:solidFill>
            <a:prstDash val="solid"/>
          </a:ln>
        </p:spPr>
      </p:sp>
      <p:sp>
        <p:nvSpPr>
          <p:cNvPr id="31" name="Text 29"/>
          <p:cNvSpPr txBox="1"/>
          <p:nvPr/>
        </p:nvSpPr>
        <p:spPr>
          <a:xfrm>
            <a:off x="584606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W12</a:t>
            </a:r>
            <a:endParaRPr lang="en-US" sz="700" dirty="0"/>
          </a:p>
        </p:txBody>
      </p:sp>
      <p:sp>
        <p:nvSpPr>
          <p:cNvPr id="32" name="Shape 30"/>
          <p:cNvSpPr/>
          <p:nvPr/>
        </p:nvSpPr>
        <p:spPr>
          <a:xfrm>
            <a:off x="6524244" y="4741164"/>
            <a:ext cx="64008" cy="64008"/>
          </a:xfrm>
          <a:prstGeom prst="ellipse">
            <a:avLst/>
          </a:prstGeom>
          <a:solidFill>
            <a:srgbClr val="C9D9D8"/>
          </a:solidFill>
          <a:ln w="12700">
            <a:solidFill>
              <a:srgbClr val="C9D9D8"/>
            </a:solidFill>
            <a:prstDash val="solid"/>
          </a:ln>
        </p:spPr>
      </p:sp>
      <p:sp>
        <p:nvSpPr>
          <p:cNvPr id="33" name="Text 31"/>
          <p:cNvSpPr txBox="1"/>
          <p:nvPr/>
        </p:nvSpPr>
        <p:spPr>
          <a:xfrm>
            <a:off x="628192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W13</a:t>
            </a:r>
            <a:endParaRPr lang="en-US" sz="700" dirty="0"/>
          </a:p>
        </p:txBody>
      </p:sp>
      <p:sp>
        <p:nvSpPr>
          <p:cNvPr id="34" name="Shape 32"/>
          <p:cNvSpPr/>
          <p:nvPr/>
        </p:nvSpPr>
        <p:spPr>
          <a:xfrm>
            <a:off x="6960108" y="4741164"/>
            <a:ext cx="64008" cy="64008"/>
          </a:xfrm>
          <a:prstGeom prst="ellipse">
            <a:avLst/>
          </a:prstGeom>
          <a:solidFill>
            <a:srgbClr val="C9D9D8"/>
          </a:solidFill>
          <a:ln w="12700">
            <a:solidFill>
              <a:srgbClr val="C9D9D8"/>
            </a:solidFill>
            <a:prstDash val="solid"/>
          </a:ln>
        </p:spPr>
      </p:sp>
      <p:sp>
        <p:nvSpPr>
          <p:cNvPr id="35" name="Text 33"/>
          <p:cNvSpPr txBox="1"/>
          <p:nvPr/>
        </p:nvSpPr>
        <p:spPr>
          <a:xfrm>
            <a:off x="671779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W14</a:t>
            </a:r>
            <a:endParaRPr lang="en-US" sz="700" dirty="0"/>
          </a:p>
        </p:txBody>
      </p:sp>
      <p:sp>
        <p:nvSpPr>
          <p:cNvPr id="36" name="Shape 34"/>
          <p:cNvSpPr/>
          <p:nvPr/>
        </p:nvSpPr>
        <p:spPr>
          <a:xfrm>
            <a:off x="7395972" y="4741164"/>
            <a:ext cx="64008" cy="64008"/>
          </a:xfrm>
          <a:prstGeom prst="ellipse">
            <a:avLst/>
          </a:prstGeom>
          <a:solidFill>
            <a:srgbClr val="C9D9D8"/>
          </a:solidFill>
          <a:ln w="12700">
            <a:solidFill>
              <a:srgbClr val="C9D9D8"/>
            </a:solidFill>
            <a:prstDash val="solid"/>
          </a:ln>
        </p:spPr>
      </p:sp>
      <p:sp>
        <p:nvSpPr>
          <p:cNvPr id="37" name="Text 35"/>
          <p:cNvSpPr txBox="1"/>
          <p:nvPr/>
        </p:nvSpPr>
        <p:spPr>
          <a:xfrm>
            <a:off x="715365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W15</a:t>
            </a:r>
            <a:endParaRPr lang="en-US" sz="700" dirty="0"/>
          </a:p>
        </p:txBody>
      </p:sp>
      <p:sp>
        <p:nvSpPr>
          <p:cNvPr id="38" name="Shape 36"/>
          <p:cNvSpPr/>
          <p:nvPr/>
        </p:nvSpPr>
        <p:spPr>
          <a:xfrm>
            <a:off x="7808976" y="4718304"/>
            <a:ext cx="109728" cy="109728"/>
          </a:xfrm>
          <a:prstGeom prst="ellipse">
            <a:avLst/>
          </a:prstGeom>
          <a:solidFill>
            <a:srgbClr val="0E4D5C"/>
          </a:solidFill>
          <a:ln w="12700">
            <a:solidFill>
              <a:srgbClr val="0E4D5C"/>
            </a:solidFill>
            <a:prstDash val="solid"/>
          </a:ln>
        </p:spPr>
      </p:sp>
      <p:sp>
        <p:nvSpPr>
          <p:cNvPr id="39" name="Text 37"/>
          <p:cNvSpPr txBox="1"/>
          <p:nvPr/>
        </p:nvSpPr>
        <p:spPr>
          <a:xfrm>
            <a:off x="758952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W16</a:t>
            </a:r>
            <a:endParaRPr lang="en-US" sz="700" dirty="0"/>
          </a:p>
        </p:txBody>
      </p:sp>
      <p:sp>
        <p:nvSpPr>
          <p:cNvPr id="40" name="Text 38"/>
          <p:cNvSpPr txBox="1"/>
          <p:nvPr/>
        </p:nvSpPr>
        <p:spPr>
          <a:xfrm>
            <a:off x="731520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Launch</a:t>
            </a:r>
            <a:endParaRPr lang="en-US" sz="700" dirty="0"/>
          </a:p>
        </p:txBody>
      </p:sp>
      <p:sp>
        <p:nvSpPr>
          <p:cNvPr id="41" name="Text 39"/>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100" kern="0" dirty="0">
                <a:solidFill>
                  <a:srgbClr val="1B7F79"/>
                </a:solidFill>
              </a:rPr>
              <a:t>1 · TECHNICAL PROGRESS — SYSTEM DEVELOPMENT</a:t>
            </a:r>
            <a:endParaRPr lang="en-US" sz="1000" dirty="0"/>
          </a:p>
        </p:txBody>
      </p:sp>
      <p:sp>
        <p:nvSpPr>
          <p:cNvPr id="42" name="Text 4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0E4D5C"/>
                </a:solidFill>
              </a:rPr>
              <a:t>UC1 Process Sale: main success scenario</a:t>
            </a:r>
            <a:endParaRPr lang="en-US" sz="2800" dirty="0"/>
          </a:p>
        </p:txBody>
      </p:sp>
      <p:sp>
        <p:nvSpPr>
          <p:cNvPr id="43" name="Text 41"/>
          <p:cNvSpPr txBox="1"/>
          <p:nvPr/>
        </p:nvSpPr>
        <p:spPr>
          <a:xfrm>
            <a:off x="914400" y="1097280"/>
            <a:ext cx="3291840" cy="274320"/>
          </a:xfrm>
          <a:prstGeom prst="rect">
            <a:avLst/>
          </a:prstGeom>
          <a:noFill/>
          <a:ln/>
        </p:spPr>
        <p:txBody>
          <a:bodyPr wrap="square" lIns="0" tIns="0" rIns="0" bIns="0" rtlCol="0" anchor="ctr"/>
          <a:lstStyle/>
          <a:p>
            <a:pPr indent="0" marL="0">
              <a:buNone/>
            </a:pPr>
            <a:r>
              <a:rPr lang="en-US" sz="1200" b="1" dirty="0">
                <a:solidFill>
                  <a:srgbClr val="1B7F79"/>
                </a:solidFill>
              </a:rPr>
              <a:t>Cashier</a:t>
            </a:r>
            <a:endParaRPr lang="en-US" sz="1200" dirty="0"/>
          </a:p>
        </p:txBody>
      </p:sp>
      <p:sp>
        <p:nvSpPr>
          <p:cNvPr id="44" name="Text 42"/>
          <p:cNvSpPr txBox="1"/>
          <p:nvPr/>
        </p:nvSpPr>
        <p:spPr>
          <a:xfrm>
            <a:off x="4846320" y="1097280"/>
            <a:ext cx="3840480" cy="274320"/>
          </a:xfrm>
          <a:prstGeom prst="rect">
            <a:avLst/>
          </a:prstGeom>
          <a:noFill/>
          <a:ln/>
        </p:spPr>
        <p:txBody>
          <a:bodyPr wrap="square" lIns="0" tIns="0" rIns="0" bIns="0" rtlCol="0" anchor="ctr"/>
          <a:lstStyle/>
          <a:p>
            <a:pPr indent="0" marL="0">
              <a:buNone/>
            </a:pPr>
            <a:r>
              <a:rPr lang="en-US" sz="1200" b="1" dirty="0">
                <a:solidFill>
                  <a:srgbClr val="0E4D5C"/>
                </a:solidFill>
              </a:rPr>
              <a:t>NewEra POS</a:t>
            </a:r>
            <a:endParaRPr lang="en-US" sz="1200" dirty="0"/>
          </a:p>
        </p:txBody>
      </p:sp>
      <p:sp>
        <p:nvSpPr>
          <p:cNvPr id="45" name="Shape 43"/>
          <p:cNvSpPr/>
          <p:nvPr/>
        </p:nvSpPr>
        <p:spPr>
          <a:xfrm>
            <a:off x="457200" y="1453896"/>
            <a:ext cx="329184" cy="329184"/>
          </a:xfrm>
          <a:prstGeom prst="ellipse">
            <a:avLst/>
          </a:prstGeom>
          <a:solidFill>
            <a:srgbClr val="1B7F79"/>
          </a:solidFill>
          <a:ln w="12700">
            <a:solidFill>
              <a:srgbClr val="1B7F79"/>
            </a:solidFill>
            <a:prstDash val="solid"/>
          </a:ln>
        </p:spPr>
      </p:sp>
      <p:sp>
        <p:nvSpPr>
          <p:cNvPr id="46" name="Text 44"/>
          <p:cNvSpPr txBox="1"/>
          <p:nvPr/>
        </p:nvSpPr>
        <p:spPr>
          <a:xfrm>
            <a:off x="457200" y="145389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47" name="Shape 45"/>
          <p:cNvSpPr/>
          <p:nvPr/>
        </p:nvSpPr>
        <p:spPr>
          <a:xfrm>
            <a:off x="914400" y="1417320"/>
            <a:ext cx="3566160" cy="402336"/>
          </a:xfrm>
          <a:prstGeom prst="roundRect">
            <a:avLst>
              <a:gd name="adj" fmla="val 18182"/>
            </a:avLst>
          </a:prstGeom>
          <a:solidFill>
            <a:srgbClr val="EAF2F2"/>
          </a:solidFill>
          <a:ln w="12700">
            <a:solidFill>
              <a:srgbClr val="EAF2F2"/>
            </a:solidFill>
            <a:prstDash val="solid"/>
          </a:ln>
        </p:spPr>
      </p:sp>
      <p:sp>
        <p:nvSpPr>
          <p:cNvPr id="48" name="Text 46"/>
          <p:cNvSpPr txBox="1"/>
          <p:nvPr/>
        </p:nvSpPr>
        <p:spPr>
          <a:xfrm>
            <a:off x="1005840" y="1417320"/>
            <a:ext cx="3383280" cy="402336"/>
          </a:xfrm>
          <a:prstGeom prst="rect">
            <a:avLst/>
          </a:prstGeom>
          <a:noFill/>
          <a:ln/>
        </p:spPr>
        <p:txBody>
          <a:bodyPr wrap="square" lIns="0" tIns="0" rIns="0" bIns="0" rtlCol="0" anchor="ctr"/>
          <a:lstStyle/>
          <a:p>
            <a:pPr indent="0" marL="0">
              <a:buNone/>
            </a:pPr>
            <a:r>
              <a:rPr lang="en-US" sz="1200" dirty="0">
                <a:solidFill>
                  <a:srgbClr val="1F2A30"/>
                </a:solidFill>
              </a:rPr>
              <a:t>Cashier starts a new sale</a:t>
            </a:r>
            <a:endParaRPr lang="en-US" sz="1200" dirty="0"/>
          </a:p>
        </p:txBody>
      </p:sp>
      <p:sp>
        <p:nvSpPr>
          <p:cNvPr id="49" name="Text 47"/>
          <p:cNvSpPr txBox="1"/>
          <p:nvPr/>
        </p:nvSpPr>
        <p:spPr>
          <a:xfrm>
            <a:off x="4498848" y="1417320"/>
            <a:ext cx="320040" cy="402336"/>
          </a:xfrm>
          <a:prstGeom prst="rect">
            <a:avLst/>
          </a:prstGeom>
          <a:noFill/>
          <a:ln/>
        </p:spPr>
        <p:txBody>
          <a:bodyPr wrap="square" lIns="0" tIns="0" rIns="0" bIns="0" rtlCol="0" anchor="ctr"/>
          <a:lstStyle/>
          <a:p>
            <a:pPr algn="ctr" indent="0" marL="0">
              <a:buNone/>
            </a:pPr>
            <a:r>
              <a:rPr lang="en-US" sz="1600" dirty="0">
                <a:solidFill>
                  <a:srgbClr val="1B7F79"/>
                </a:solidFill>
              </a:rPr>
              <a:t>→</a:t>
            </a:r>
            <a:endParaRPr lang="en-US" sz="1600" dirty="0"/>
          </a:p>
        </p:txBody>
      </p:sp>
      <p:sp>
        <p:nvSpPr>
          <p:cNvPr id="50" name="Shape 48"/>
          <p:cNvSpPr/>
          <p:nvPr/>
        </p:nvSpPr>
        <p:spPr>
          <a:xfrm>
            <a:off x="4846320" y="1417320"/>
            <a:ext cx="3840480" cy="402336"/>
          </a:xfrm>
          <a:prstGeom prst="roundRect">
            <a:avLst>
              <a:gd name="adj" fmla="val 18182"/>
            </a:avLst>
          </a:prstGeom>
          <a:solidFill>
            <a:srgbClr val="DCEBEA"/>
          </a:solidFill>
          <a:ln w="12700">
            <a:solidFill>
              <a:srgbClr val="DCEBEA"/>
            </a:solidFill>
            <a:prstDash val="solid"/>
          </a:ln>
        </p:spPr>
      </p:sp>
      <p:sp>
        <p:nvSpPr>
          <p:cNvPr id="51" name="Text 49"/>
          <p:cNvSpPr txBox="1"/>
          <p:nvPr/>
        </p:nvSpPr>
        <p:spPr>
          <a:xfrm>
            <a:off x="4937760" y="1417320"/>
            <a:ext cx="3657600" cy="402336"/>
          </a:xfrm>
          <a:prstGeom prst="rect">
            <a:avLst/>
          </a:prstGeom>
          <a:noFill/>
          <a:ln/>
        </p:spPr>
        <p:txBody>
          <a:bodyPr wrap="square" lIns="0" tIns="0" rIns="0" bIns="0" rtlCol="0" anchor="ctr"/>
          <a:lstStyle/>
          <a:p>
            <a:pPr indent="0" marL="0">
              <a:buNone/>
            </a:pPr>
            <a:r>
              <a:rPr lang="en-US" sz="1200" dirty="0">
                <a:solidFill>
                  <a:srgbClr val="1F2A30"/>
                </a:solidFill>
              </a:rPr>
              <a:t>System creates the sale in the cashier session</a:t>
            </a:r>
            <a:endParaRPr lang="en-US" sz="1200" dirty="0"/>
          </a:p>
        </p:txBody>
      </p:sp>
      <p:sp>
        <p:nvSpPr>
          <p:cNvPr id="52" name="Shape 50"/>
          <p:cNvSpPr/>
          <p:nvPr/>
        </p:nvSpPr>
        <p:spPr>
          <a:xfrm>
            <a:off x="457200" y="1929384"/>
            <a:ext cx="329184" cy="329184"/>
          </a:xfrm>
          <a:prstGeom prst="ellipse">
            <a:avLst/>
          </a:prstGeom>
          <a:solidFill>
            <a:srgbClr val="1B7F79"/>
          </a:solidFill>
          <a:ln w="12700">
            <a:solidFill>
              <a:srgbClr val="1B7F79"/>
            </a:solidFill>
            <a:prstDash val="solid"/>
          </a:ln>
        </p:spPr>
      </p:sp>
      <p:sp>
        <p:nvSpPr>
          <p:cNvPr id="53" name="Text 51"/>
          <p:cNvSpPr txBox="1"/>
          <p:nvPr/>
        </p:nvSpPr>
        <p:spPr>
          <a:xfrm>
            <a:off x="457200" y="19293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54" name="Shape 52"/>
          <p:cNvSpPr/>
          <p:nvPr/>
        </p:nvSpPr>
        <p:spPr>
          <a:xfrm>
            <a:off x="914400" y="1892808"/>
            <a:ext cx="3566160" cy="402336"/>
          </a:xfrm>
          <a:prstGeom prst="roundRect">
            <a:avLst>
              <a:gd name="adj" fmla="val 18182"/>
            </a:avLst>
          </a:prstGeom>
          <a:solidFill>
            <a:srgbClr val="EAF2F2"/>
          </a:solidFill>
          <a:ln w="12700">
            <a:solidFill>
              <a:srgbClr val="EAF2F2"/>
            </a:solidFill>
            <a:prstDash val="solid"/>
          </a:ln>
        </p:spPr>
      </p:sp>
      <p:sp>
        <p:nvSpPr>
          <p:cNvPr id="55" name="Text 53"/>
          <p:cNvSpPr txBox="1"/>
          <p:nvPr/>
        </p:nvSpPr>
        <p:spPr>
          <a:xfrm>
            <a:off x="1005840" y="1892808"/>
            <a:ext cx="3383280" cy="402336"/>
          </a:xfrm>
          <a:prstGeom prst="rect">
            <a:avLst/>
          </a:prstGeom>
          <a:noFill/>
          <a:ln/>
        </p:spPr>
        <p:txBody>
          <a:bodyPr wrap="square" lIns="0" tIns="0" rIns="0" bIns="0" rtlCol="0" anchor="ctr"/>
          <a:lstStyle/>
          <a:p>
            <a:pPr indent="0" marL="0">
              <a:buNone/>
            </a:pPr>
            <a:r>
              <a:rPr lang="en-US" sz="1200" dirty="0">
                <a:solidFill>
                  <a:srgbClr val="1F2A30"/>
                </a:solidFill>
              </a:rPr>
              <a:t>Cashier enters each item identifier</a:t>
            </a:r>
            <a:endParaRPr lang="en-US" sz="1200" dirty="0"/>
          </a:p>
        </p:txBody>
      </p:sp>
      <p:sp>
        <p:nvSpPr>
          <p:cNvPr id="56" name="Text 54"/>
          <p:cNvSpPr txBox="1"/>
          <p:nvPr/>
        </p:nvSpPr>
        <p:spPr>
          <a:xfrm>
            <a:off x="4498848" y="1892808"/>
            <a:ext cx="320040" cy="402336"/>
          </a:xfrm>
          <a:prstGeom prst="rect">
            <a:avLst/>
          </a:prstGeom>
          <a:noFill/>
          <a:ln/>
        </p:spPr>
        <p:txBody>
          <a:bodyPr wrap="square" lIns="0" tIns="0" rIns="0" bIns="0" rtlCol="0" anchor="ctr"/>
          <a:lstStyle/>
          <a:p>
            <a:pPr algn="ctr" indent="0" marL="0">
              <a:buNone/>
            </a:pPr>
            <a:r>
              <a:rPr lang="en-US" sz="1600" dirty="0">
                <a:solidFill>
                  <a:srgbClr val="1B7F79"/>
                </a:solidFill>
              </a:rPr>
              <a:t>→</a:t>
            </a:r>
            <a:endParaRPr lang="en-US" sz="1600" dirty="0"/>
          </a:p>
        </p:txBody>
      </p:sp>
      <p:sp>
        <p:nvSpPr>
          <p:cNvPr id="57" name="Shape 55"/>
          <p:cNvSpPr/>
          <p:nvPr/>
        </p:nvSpPr>
        <p:spPr>
          <a:xfrm>
            <a:off x="4846320" y="1892808"/>
            <a:ext cx="3840480" cy="402336"/>
          </a:xfrm>
          <a:prstGeom prst="roundRect">
            <a:avLst>
              <a:gd name="adj" fmla="val 18182"/>
            </a:avLst>
          </a:prstGeom>
          <a:solidFill>
            <a:srgbClr val="DCEBEA"/>
          </a:solidFill>
          <a:ln w="12700">
            <a:solidFill>
              <a:srgbClr val="DCEBEA"/>
            </a:solidFill>
            <a:prstDash val="solid"/>
          </a:ln>
        </p:spPr>
      </p:sp>
      <p:sp>
        <p:nvSpPr>
          <p:cNvPr id="58" name="Text 56"/>
          <p:cNvSpPr txBox="1"/>
          <p:nvPr/>
        </p:nvSpPr>
        <p:spPr>
          <a:xfrm>
            <a:off x="4937760" y="1892808"/>
            <a:ext cx="3657600" cy="402336"/>
          </a:xfrm>
          <a:prstGeom prst="rect">
            <a:avLst/>
          </a:prstGeom>
          <a:noFill/>
          <a:ln/>
        </p:spPr>
        <p:txBody>
          <a:bodyPr wrap="square" lIns="0" tIns="0" rIns="0" bIns="0" rtlCol="0" anchor="ctr"/>
          <a:lstStyle/>
          <a:p>
            <a:pPr indent="0" marL="0">
              <a:buNone/>
            </a:pPr>
            <a:r>
              <a:rPr lang="en-US" sz="1200" dirty="0">
                <a:solidFill>
                  <a:srgbClr val="1F2A30"/>
                </a:solidFill>
              </a:rPr>
              <a:t>System adds a sale line item: description, price, subtotal</a:t>
            </a:r>
            <a:endParaRPr lang="en-US" sz="1200" dirty="0"/>
          </a:p>
        </p:txBody>
      </p:sp>
      <p:sp>
        <p:nvSpPr>
          <p:cNvPr id="59" name="Shape 57"/>
          <p:cNvSpPr/>
          <p:nvPr/>
        </p:nvSpPr>
        <p:spPr>
          <a:xfrm>
            <a:off x="457200" y="2404872"/>
            <a:ext cx="329184" cy="329184"/>
          </a:xfrm>
          <a:prstGeom prst="ellipse">
            <a:avLst/>
          </a:prstGeom>
          <a:solidFill>
            <a:srgbClr val="1B7F79"/>
          </a:solidFill>
          <a:ln w="12700">
            <a:solidFill>
              <a:srgbClr val="1B7F79"/>
            </a:solidFill>
            <a:prstDash val="solid"/>
          </a:ln>
        </p:spPr>
      </p:sp>
      <p:sp>
        <p:nvSpPr>
          <p:cNvPr id="60" name="Text 58"/>
          <p:cNvSpPr txBox="1"/>
          <p:nvPr/>
        </p:nvSpPr>
        <p:spPr>
          <a:xfrm>
            <a:off x="457200" y="240487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61" name="Shape 59"/>
          <p:cNvSpPr/>
          <p:nvPr/>
        </p:nvSpPr>
        <p:spPr>
          <a:xfrm>
            <a:off x="914400" y="2368296"/>
            <a:ext cx="3566160" cy="402336"/>
          </a:xfrm>
          <a:prstGeom prst="roundRect">
            <a:avLst>
              <a:gd name="adj" fmla="val 18182"/>
            </a:avLst>
          </a:prstGeom>
          <a:solidFill>
            <a:srgbClr val="EAF2F2"/>
          </a:solidFill>
          <a:ln w="12700">
            <a:solidFill>
              <a:srgbClr val="EAF2F2"/>
            </a:solidFill>
            <a:prstDash val="solid"/>
          </a:ln>
        </p:spPr>
      </p:sp>
      <p:sp>
        <p:nvSpPr>
          <p:cNvPr id="62" name="Text 60"/>
          <p:cNvSpPr txBox="1"/>
          <p:nvPr/>
        </p:nvSpPr>
        <p:spPr>
          <a:xfrm>
            <a:off x="1005840" y="2368296"/>
            <a:ext cx="3383280" cy="402336"/>
          </a:xfrm>
          <a:prstGeom prst="rect">
            <a:avLst/>
          </a:prstGeom>
          <a:noFill/>
          <a:ln/>
        </p:spPr>
        <p:txBody>
          <a:bodyPr wrap="square" lIns="0" tIns="0" rIns="0" bIns="0" rtlCol="0" anchor="ctr"/>
          <a:lstStyle/>
          <a:p>
            <a:pPr indent="0" marL="0">
              <a:buNone/>
            </a:pPr>
            <a:r>
              <a:rPr lang="en-US" sz="1200" dirty="0">
                <a:solidFill>
                  <a:srgbClr val="1F2A30"/>
                </a:solidFill>
              </a:rPr>
              <a:t>Cashier ends the sale</a:t>
            </a:r>
            <a:endParaRPr lang="en-US" sz="1200" dirty="0"/>
          </a:p>
        </p:txBody>
      </p:sp>
      <p:sp>
        <p:nvSpPr>
          <p:cNvPr id="63" name="Text 61"/>
          <p:cNvSpPr txBox="1"/>
          <p:nvPr/>
        </p:nvSpPr>
        <p:spPr>
          <a:xfrm>
            <a:off x="4498848" y="2368296"/>
            <a:ext cx="320040" cy="402336"/>
          </a:xfrm>
          <a:prstGeom prst="rect">
            <a:avLst/>
          </a:prstGeom>
          <a:noFill/>
          <a:ln/>
        </p:spPr>
        <p:txBody>
          <a:bodyPr wrap="square" lIns="0" tIns="0" rIns="0" bIns="0" rtlCol="0" anchor="ctr"/>
          <a:lstStyle/>
          <a:p>
            <a:pPr algn="ctr" indent="0" marL="0">
              <a:buNone/>
            </a:pPr>
            <a:r>
              <a:rPr lang="en-US" sz="1600" dirty="0">
                <a:solidFill>
                  <a:srgbClr val="1B7F79"/>
                </a:solidFill>
              </a:rPr>
              <a:t>→</a:t>
            </a:r>
            <a:endParaRPr lang="en-US" sz="1600" dirty="0"/>
          </a:p>
        </p:txBody>
      </p:sp>
      <p:sp>
        <p:nvSpPr>
          <p:cNvPr id="64" name="Shape 62"/>
          <p:cNvSpPr/>
          <p:nvPr/>
        </p:nvSpPr>
        <p:spPr>
          <a:xfrm>
            <a:off x="4846320" y="2368296"/>
            <a:ext cx="3840480" cy="402336"/>
          </a:xfrm>
          <a:prstGeom prst="roundRect">
            <a:avLst>
              <a:gd name="adj" fmla="val 18182"/>
            </a:avLst>
          </a:prstGeom>
          <a:solidFill>
            <a:srgbClr val="DCEBEA"/>
          </a:solidFill>
          <a:ln w="12700">
            <a:solidFill>
              <a:srgbClr val="DCEBEA"/>
            </a:solidFill>
            <a:prstDash val="solid"/>
          </a:ln>
        </p:spPr>
      </p:sp>
      <p:sp>
        <p:nvSpPr>
          <p:cNvPr id="65" name="Text 63"/>
          <p:cNvSpPr txBox="1"/>
          <p:nvPr/>
        </p:nvSpPr>
        <p:spPr>
          <a:xfrm>
            <a:off x="4937760" y="2368296"/>
            <a:ext cx="3657600" cy="402336"/>
          </a:xfrm>
          <a:prstGeom prst="rect">
            <a:avLst/>
          </a:prstGeom>
          <a:noFill/>
          <a:ln/>
        </p:spPr>
        <p:txBody>
          <a:bodyPr wrap="square" lIns="0" tIns="0" rIns="0" bIns="0" rtlCol="0" anchor="ctr"/>
          <a:lstStyle/>
          <a:p>
            <a:pPr indent="0" marL="0">
              <a:buNone/>
            </a:pPr>
            <a:r>
              <a:rPr lang="en-US" sz="1200" dirty="0">
                <a:solidFill>
                  <a:srgbClr val="1F2A30"/>
                </a:solidFill>
              </a:rPr>
              <a:t>System gets the tax (Tax Calculator) and shows the total</a:t>
            </a:r>
            <a:endParaRPr lang="en-US" sz="1200" dirty="0"/>
          </a:p>
        </p:txBody>
      </p:sp>
      <p:sp>
        <p:nvSpPr>
          <p:cNvPr id="66" name="Shape 64"/>
          <p:cNvSpPr/>
          <p:nvPr/>
        </p:nvSpPr>
        <p:spPr>
          <a:xfrm>
            <a:off x="457200" y="2880360"/>
            <a:ext cx="329184" cy="329184"/>
          </a:xfrm>
          <a:prstGeom prst="ellipse">
            <a:avLst/>
          </a:prstGeom>
          <a:solidFill>
            <a:srgbClr val="E09F3E"/>
          </a:solidFill>
          <a:ln w="12700">
            <a:solidFill>
              <a:srgbClr val="E09F3E"/>
            </a:solidFill>
            <a:prstDash val="solid"/>
          </a:ln>
        </p:spPr>
      </p:sp>
      <p:sp>
        <p:nvSpPr>
          <p:cNvPr id="67" name="Text 65"/>
          <p:cNvSpPr txBox="1"/>
          <p:nvPr/>
        </p:nvSpPr>
        <p:spPr>
          <a:xfrm>
            <a:off x="457200" y="28803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68" name="Shape 66"/>
          <p:cNvSpPr/>
          <p:nvPr/>
        </p:nvSpPr>
        <p:spPr>
          <a:xfrm>
            <a:off x="914400" y="2843784"/>
            <a:ext cx="3566160" cy="402336"/>
          </a:xfrm>
          <a:prstGeom prst="roundRect">
            <a:avLst>
              <a:gd name="adj" fmla="val 18182"/>
            </a:avLst>
          </a:prstGeom>
          <a:solidFill>
            <a:srgbClr val="EAF2F2"/>
          </a:solidFill>
          <a:ln w="12700">
            <a:solidFill>
              <a:srgbClr val="EAF2F2"/>
            </a:solidFill>
            <a:prstDash val="solid"/>
          </a:ln>
        </p:spPr>
      </p:sp>
      <p:sp>
        <p:nvSpPr>
          <p:cNvPr id="69" name="Text 67"/>
          <p:cNvSpPr txBox="1"/>
          <p:nvPr/>
        </p:nvSpPr>
        <p:spPr>
          <a:xfrm>
            <a:off x="1005840" y="2843784"/>
            <a:ext cx="3383280" cy="402336"/>
          </a:xfrm>
          <a:prstGeom prst="rect">
            <a:avLst/>
          </a:prstGeom>
          <a:noFill/>
          <a:ln/>
        </p:spPr>
        <p:txBody>
          <a:bodyPr wrap="square" lIns="0" tIns="0" rIns="0" bIns="0" rtlCol="0" anchor="ctr"/>
          <a:lstStyle/>
          <a:p>
            <a:pPr indent="0" marL="0">
              <a:buNone/>
            </a:pPr>
            <a:r>
              <a:rPr lang="en-US" sz="1200" dirty="0">
                <a:solidFill>
                  <a:srgbClr val="1F2A30"/>
                </a:solidFill>
              </a:rPr>
              <a:t>Customer pays (cash · card · check)</a:t>
            </a:r>
            <a:endParaRPr lang="en-US" sz="1200" dirty="0"/>
          </a:p>
        </p:txBody>
      </p:sp>
      <p:sp>
        <p:nvSpPr>
          <p:cNvPr id="70" name="Text 68"/>
          <p:cNvSpPr txBox="1"/>
          <p:nvPr/>
        </p:nvSpPr>
        <p:spPr>
          <a:xfrm>
            <a:off x="4498848" y="2843784"/>
            <a:ext cx="320040" cy="402336"/>
          </a:xfrm>
          <a:prstGeom prst="rect">
            <a:avLst/>
          </a:prstGeom>
          <a:noFill/>
          <a:ln/>
        </p:spPr>
        <p:txBody>
          <a:bodyPr wrap="square" lIns="0" tIns="0" rIns="0" bIns="0" rtlCol="0" anchor="ctr"/>
          <a:lstStyle/>
          <a:p>
            <a:pPr algn="ctr" indent="0" marL="0">
              <a:buNone/>
            </a:pPr>
            <a:r>
              <a:rPr lang="en-US" sz="1600" dirty="0">
                <a:solidFill>
                  <a:srgbClr val="1B7F79"/>
                </a:solidFill>
              </a:rPr>
              <a:t>→</a:t>
            </a:r>
            <a:endParaRPr lang="en-US" sz="1600" dirty="0"/>
          </a:p>
        </p:txBody>
      </p:sp>
      <p:sp>
        <p:nvSpPr>
          <p:cNvPr id="71" name="Shape 69"/>
          <p:cNvSpPr/>
          <p:nvPr/>
        </p:nvSpPr>
        <p:spPr>
          <a:xfrm>
            <a:off x="4846320" y="2843784"/>
            <a:ext cx="3840480" cy="402336"/>
          </a:xfrm>
          <a:prstGeom prst="roundRect">
            <a:avLst>
              <a:gd name="adj" fmla="val 18182"/>
            </a:avLst>
          </a:prstGeom>
          <a:solidFill>
            <a:srgbClr val="DCEBEA"/>
          </a:solidFill>
          <a:ln w="12700">
            <a:solidFill>
              <a:srgbClr val="DCEBEA"/>
            </a:solidFill>
            <a:prstDash val="solid"/>
          </a:ln>
        </p:spPr>
      </p:sp>
      <p:sp>
        <p:nvSpPr>
          <p:cNvPr id="72" name="Text 70"/>
          <p:cNvSpPr txBox="1"/>
          <p:nvPr/>
        </p:nvSpPr>
        <p:spPr>
          <a:xfrm>
            <a:off x="4937760" y="2843784"/>
            <a:ext cx="3657600" cy="402336"/>
          </a:xfrm>
          <a:prstGeom prst="rect">
            <a:avLst/>
          </a:prstGeom>
          <a:noFill/>
          <a:ln/>
        </p:spPr>
        <p:txBody>
          <a:bodyPr wrap="square" lIns="0" tIns="0" rIns="0" bIns="0" rtlCol="0" anchor="ctr"/>
          <a:lstStyle/>
          <a:p>
            <a:pPr indent="0" marL="0">
              <a:buNone/>
            </a:pPr>
            <a:r>
              <a:rPr lang="en-US" sz="1200" dirty="0">
                <a:solidFill>
                  <a:srgbClr val="1F2A30"/>
                </a:solidFill>
              </a:rPr>
              <a:t>System handles the payment (Payment Service for card)</a:t>
            </a:r>
            <a:endParaRPr lang="en-US" sz="1200" dirty="0"/>
          </a:p>
        </p:txBody>
      </p:sp>
      <p:sp>
        <p:nvSpPr>
          <p:cNvPr id="73" name="Shape 71"/>
          <p:cNvSpPr/>
          <p:nvPr/>
        </p:nvSpPr>
        <p:spPr>
          <a:xfrm>
            <a:off x="457200" y="3355848"/>
            <a:ext cx="329184" cy="329184"/>
          </a:xfrm>
          <a:prstGeom prst="ellipse">
            <a:avLst/>
          </a:prstGeom>
          <a:solidFill>
            <a:srgbClr val="1B7F79"/>
          </a:solidFill>
          <a:ln w="12700">
            <a:solidFill>
              <a:srgbClr val="1B7F79"/>
            </a:solidFill>
            <a:prstDash val="solid"/>
          </a:ln>
        </p:spPr>
      </p:sp>
      <p:sp>
        <p:nvSpPr>
          <p:cNvPr id="74" name="Text 72"/>
          <p:cNvSpPr txBox="1"/>
          <p:nvPr/>
        </p:nvSpPr>
        <p:spPr>
          <a:xfrm>
            <a:off x="457200" y="33558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75" name="Shape 73"/>
          <p:cNvSpPr/>
          <p:nvPr/>
        </p:nvSpPr>
        <p:spPr>
          <a:xfrm>
            <a:off x="914400" y="3319272"/>
            <a:ext cx="3566160" cy="402336"/>
          </a:xfrm>
          <a:prstGeom prst="roundRect">
            <a:avLst>
              <a:gd name="adj" fmla="val 18182"/>
            </a:avLst>
          </a:prstGeom>
          <a:solidFill>
            <a:srgbClr val="EAF2F2"/>
          </a:solidFill>
          <a:ln w="12700">
            <a:solidFill>
              <a:srgbClr val="EAF2F2"/>
            </a:solidFill>
            <a:prstDash val="solid"/>
          </a:ln>
        </p:spPr>
      </p:sp>
      <p:sp>
        <p:nvSpPr>
          <p:cNvPr id="76" name="Text 74"/>
          <p:cNvSpPr txBox="1"/>
          <p:nvPr/>
        </p:nvSpPr>
        <p:spPr>
          <a:xfrm>
            <a:off x="1005840" y="3319272"/>
            <a:ext cx="3383280" cy="402336"/>
          </a:xfrm>
          <a:prstGeom prst="rect">
            <a:avLst/>
          </a:prstGeom>
          <a:noFill/>
          <a:ln/>
        </p:spPr>
        <p:txBody>
          <a:bodyPr wrap="square" lIns="0" tIns="0" rIns="0" bIns="0" rtlCol="0" anchor="ctr"/>
          <a:lstStyle/>
          <a:p>
            <a:pPr indent="0" marL="0">
              <a:buNone/>
            </a:pPr>
            <a:r>
              <a:rPr lang="en-US" sz="1200" i="1" dirty="0">
                <a:solidFill>
                  <a:srgbClr val="5F6B70"/>
                </a:solidFill>
              </a:rPr>
              <a:t>No cashier action (done automatically)</a:t>
            </a:r>
            <a:endParaRPr lang="en-US" sz="1200" dirty="0"/>
          </a:p>
        </p:txBody>
      </p:sp>
      <p:sp>
        <p:nvSpPr>
          <p:cNvPr id="77" name="Text 75"/>
          <p:cNvSpPr txBox="1"/>
          <p:nvPr/>
        </p:nvSpPr>
        <p:spPr>
          <a:xfrm>
            <a:off x="4498848" y="3319272"/>
            <a:ext cx="320040" cy="402336"/>
          </a:xfrm>
          <a:prstGeom prst="rect">
            <a:avLst/>
          </a:prstGeom>
          <a:noFill/>
          <a:ln/>
        </p:spPr>
        <p:txBody>
          <a:bodyPr wrap="square" lIns="0" tIns="0" rIns="0" bIns="0" rtlCol="0" anchor="ctr"/>
          <a:lstStyle/>
          <a:p>
            <a:pPr algn="ctr" indent="0" marL="0">
              <a:buNone/>
            </a:pPr>
            <a:r>
              <a:rPr lang="en-US" sz="1600" dirty="0">
                <a:solidFill>
                  <a:srgbClr val="1B7F79"/>
                </a:solidFill>
              </a:rPr>
              <a:t>→</a:t>
            </a:r>
            <a:endParaRPr lang="en-US" sz="1600" dirty="0"/>
          </a:p>
        </p:txBody>
      </p:sp>
      <p:sp>
        <p:nvSpPr>
          <p:cNvPr id="78" name="Shape 76"/>
          <p:cNvSpPr/>
          <p:nvPr/>
        </p:nvSpPr>
        <p:spPr>
          <a:xfrm>
            <a:off x="4846320" y="3319272"/>
            <a:ext cx="3840480" cy="402336"/>
          </a:xfrm>
          <a:prstGeom prst="roundRect">
            <a:avLst>
              <a:gd name="adj" fmla="val 18182"/>
            </a:avLst>
          </a:prstGeom>
          <a:solidFill>
            <a:srgbClr val="DCEBEA"/>
          </a:solidFill>
          <a:ln w="12700">
            <a:solidFill>
              <a:srgbClr val="DCEBEA"/>
            </a:solidFill>
            <a:prstDash val="solid"/>
          </a:ln>
        </p:spPr>
      </p:sp>
      <p:sp>
        <p:nvSpPr>
          <p:cNvPr id="79" name="Text 77"/>
          <p:cNvSpPr txBox="1"/>
          <p:nvPr/>
        </p:nvSpPr>
        <p:spPr>
          <a:xfrm>
            <a:off x="4937760" y="3319272"/>
            <a:ext cx="3657600" cy="402336"/>
          </a:xfrm>
          <a:prstGeom prst="rect">
            <a:avLst/>
          </a:prstGeom>
          <a:noFill/>
          <a:ln/>
        </p:spPr>
        <p:txBody>
          <a:bodyPr wrap="square" lIns="0" tIns="0" rIns="0" bIns="0" rtlCol="0" anchor="ctr"/>
          <a:lstStyle/>
          <a:p>
            <a:pPr indent="0" marL="0">
              <a:buNone/>
            </a:pPr>
            <a:r>
              <a:rPr lang="en-US" sz="1200" dirty="0">
                <a:solidFill>
                  <a:srgbClr val="1F2A30"/>
                </a:solidFill>
              </a:rPr>
              <a:t>System saves the sale, updates stock, reports to Accounting</a:t>
            </a:r>
            <a:endParaRPr lang="en-US" sz="1200" dirty="0"/>
          </a:p>
        </p:txBody>
      </p:sp>
      <p:sp>
        <p:nvSpPr>
          <p:cNvPr id="80" name="Shape 78"/>
          <p:cNvSpPr/>
          <p:nvPr/>
        </p:nvSpPr>
        <p:spPr>
          <a:xfrm>
            <a:off x="457200" y="3831336"/>
            <a:ext cx="329184" cy="329184"/>
          </a:xfrm>
          <a:prstGeom prst="ellipse">
            <a:avLst/>
          </a:prstGeom>
          <a:solidFill>
            <a:srgbClr val="1B7F79"/>
          </a:solidFill>
          <a:ln w="12700">
            <a:solidFill>
              <a:srgbClr val="1B7F79"/>
            </a:solidFill>
            <a:prstDash val="solid"/>
          </a:ln>
        </p:spPr>
      </p:sp>
      <p:sp>
        <p:nvSpPr>
          <p:cNvPr id="81" name="Text 79"/>
          <p:cNvSpPr txBox="1"/>
          <p:nvPr/>
        </p:nvSpPr>
        <p:spPr>
          <a:xfrm>
            <a:off x="457200" y="38313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82" name="Shape 80"/>
          <p:cNvSpPr/>
          <p:nvPr/>
        </p:nvSpPr>
        <p:spPr>
          <a:xfrm>
            <a:off x="914400" y="3794760"/>
            <a:ext cx="3566160" cy="402336"/>
          </a:xfrm>
          <a:prstGeom prst="roundRect">
            <a:avLst>
              <a:gd name="adj" fmla="val 18182"/>
            </a:avLst>
          </a:prstGeom>
          <a:solidFill>
            <a:srgbClr val="EAF2F2"/>
          </a:solidFill>
          <a:ln w="12700">
            <a:solidFill>
              <a:srgbClr val="EAF2F2"/>
            </a:solidFill>
            <a:prstDash val="solid"/>
          </a:ln>
        </p:spPr>
      </p:sp>
      <p:sp>
        <p:nvSpPr>
          <p:cNvPr id="83" name="Text 81"/>
          <p:cNvSpPr txBox="1"/>
          <p:nvPr/>
        </p:nvSpPr>
        <p:spPr>
          <a:xfrm>
            <a:off x="1005840" y="3794760"/>
            <a:ext cx="3383280" cy="402336"/>
          </a:xfrm>
          <a:prstGeom prst="rect">
            <a:avLst/>
          </a:prstGeom>
          <a:noFill/>
          <a:ln/>
        </p:spPr>
        <p:txBody>
          <a:bodyPr wrap="square" lIns="0" tIns="0" rIns="0" bIns="0" rtlCol="0" anchor="ctr"/>
          <a:lstStyle/>
          <a:p>
            <a:pPr indent="0" marL="0">
              <a:buNone/>
            </a:pPr>
            <a:r>
              <a:rPr lang="en-US" sz="1200" dirty="0">
                <a:solidFill>
                  <a:srgbClr val="1F2A30"/>
                </a:solidFill>
              </a:rPr>
              <a:t>Customer leaves with the receipt</a:t>
            </a:r>
            <a:endParaRPr lang="en-US" sz="1200" dirty="0"/>
          </a:p>
        </p:txBody>
      </p:sp>
      <p:sp>
        <p:nvSpPr>
          <p:cNvPr id="84" name="Text 82"/>
          <p:cNvSpPr txBox="1"/>
          <p:nvPr/>
        </p:nvSpPr>
        <p:spPr>
          <a:xfrm>
            <a:off x="4498848" y="3794760"/>
            <a:ext cx="320040" cy="402336"/>
          </a:xfrm>
          <a:prstGeom prst="rect">
            <a:avLst/>
          </a:prstGeom>
          <a:noFill/>
          <a:ln/>
        </p:spPr>
        <p:txBody>
          <a:bodyPr wrap="square" lIns="0" tIns="0" rIns="0" bIns="0" rtlCol="0" anchor="ctr"/>
          <a:lstStyle/>
          <a:p>
            <a:pPr algn="ctr" indent="0" marL="0">
              <a:buNone/>
            </a:pPr>
            <a:r>
              <a:rPr lang="en-US" sz="1600" dirty="0">
                <a:solidFill>
                  <a:srgbClr val="1B7F79"/>
                </a:solidFill>
              </a:rPr>
              <a:t>→</a:t>
            </a:r>
            <a:endParaRPr lang="en-US" sz="1600" dirty="0"/>
          </a:p>
        </p:txBody>
      </p:sp>
      <p:sp>
        <p:nvSpPr>
          <p:cNvPr id="85" name="Shape 83"/>
          <p:cNvSpPr/>
          <p:nvPr/>
        </p:nvSpPr>
        <p:spPr>
          <a:xfrm>
            <a:off x="4846320" y="3794760"/>
            <a:ext cx="3840480" cy="402336"/>
          </a:xfrm>
          <a:prstGeom prst="roundRect">
            <a:avLst>
              <a:gd name="adj" fmla="val 18182"/>
            </a:avLst>
          </a:prstGeom>
          <a:solidFill>
            <a:srgbClr val="DCEBEA"/>
          </a:solidFill>
          <a:ln w="12700">
            <a:solidFill>
              <a:srgbClr val="DCEBEA"/>
            </a:solidFill>
            <a:prstDash val="solid"/>
          </a:ln>
        </p:spPr>
      </p:sp>
      <p:sp>
        <p:nvSpPr>
          <p:cNvPr id="86" name="Text 84"/>
          <p:cNvSpPr txBox="1"/>
          <p:nvPr/>
        </p:nvSpPr>
        <p:spPr>
          <a:xfrm>
            <a:off x="4937760" y="3794760"/>
            <a:ext cx="3657600" cy="402336"/>
          </a:xfrm>
          <a:prstGeom prst="rect">
            <a:avLst/>
          </a:prstGeom>
          <a:noFill/>
          <a:ln/>
        </p:spPr>
        <p:txBody>
          <a:bodyPr wrap="square" lIns="0" tIns="0" rIns="0" bIns="0" rtlCol="0" anchor="ctr"/>
          <a:lstStyle/>
          <a:p>
            <a:pPr indent="0" marL="0">
              <a:buNone/>
            </a:pPr>
            <a:r>
              <a:rPr lang="en-US" sz="1200" dirty="0">
                <a:solidFill>
                  <a:srgbClr val="1F2A30"/>
                </a:solidFill>
              </a:rPr>
              <a:t>System prints the receipt</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274320" y="4681728"/>
            <a:ext cx="1005840" cy="182880"/>
          </a:xfrm>
          <a:prstGeom prst="rect">
            <a:avLst/>
          </a:prstGeom>
          <a:noFill/>
          <a:ln/>
        </p:spPr>
        <p:txBody>
          <a:bodyPr wrap="square" lIns="0" tIns="0" rIns="0" bIns="0" rtlCol="0" anchor="ctr"/>
          <a:lstStyle/>
          <a:p>
            <a:pPr indent="0" marL="0">
              <a:buNone/>
            </a:pPr>
            <a:r>
              <a:rPr lang="en-US" sz="800" b="1" dirty="0">
                <a:solidFill>
                  <a:srgbClr val="5F6B70"/>
                </a:solidFill>
              </a:rPr>
              <a:t>Course timeline</a:t>
            </a:r>
            <a:endParaRPr lang="en-US" sz="800" dirty="0"/>
          </a:p>
        </p:txBody>
      </p:sp>
      <p:sp>
        <p:nvSpPr>
          <p:cNvPr id="3" name="Shape 1"/>
          <p:cNvSpPr/>
          <p:nvPr/>
        </p:nvSpPr>
        <p:spPr>
          <a:xfrm>
            <a:off x="1325880" y="4773168"/>
            <a:ext cx="6537960" cy="0"/>
          </a:xfrm>
          <a:prstGeom prst="line">
            <a:avLst/>
          </a:prstGeom>
          <a:noFill/>
          <a:ln w="19050">
            <a:solidFill>
              <a:srgbClr val="C9D9D8"/>
            </a:solidFill>
            <a:prstDash val="solid"/>
          </a:ln>
        </p:spPr>
      </p:sp>
      <p:sp>
        <p:nvSpPr>
          <p:cNvPr id="4" name="Shape 2"/>
          <p:cNvSpPr/>
          <p:nvPr/>
        </p:nvSpPr>
        <p:spPr>
          <a:xfrm>
            <a:off x="1325880" y="4773168"/>
            <a:ext cx="2179320" cy="0"/>
          </a:xfrm>
          <a:prstGeom prst="line">
            <a:avLst/>
          </a:prstGeom>
          <a:noFill/>
          <a:ln w="31750">
            <a:solidFill>
              <a:srgbClr val="1B7F79"/>
            </a:solidFill>
            <a:prstDash val="solid"/>
          </a:ln>
        </p:spPr>
      </p:sp>
      <p:sp>
        <p:nvSpPr>
          <p:cNvPr id="5" name="Shape 3"/>
          <p:cNvSpPr/>
          <p:nvPr/>
        </p:nvSpPr>
        <p:spPr>
          <a:xfrm>
            <a:off x="1293876" y="4741164"/>
            <a:ext cx="64008" cy="64008"/>
          </a:xfrm>
          <a:prstGeom prst="ellipse">
            <a:avLst/>
          </a:prstGeom>
          <a:solidFill>
            <a:srgbClr val="1B7F79"/>
          </a:solidFill>
          <a:ln w="12700">
            <a:solidFill>
              <a:srgbClr val="1B7F79"/>
            </a:solidFill>
            <a:prstDash val="solid"/>
          </a:ln>
        </p:spPr>
      </p:sp>
      <p:sp>
        <p:nvSpPr>
          <p:cNvPr id="6" name="Text 4"/>
          <p:cNvSpPr txBox="1"/>
          <p:nvPr/>
        </p:nvSpPr>
        <p:spPr>
          <a:xfrm>
            <a:off x="105156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a:t>
            </a:r>
            <a:endParaRPr lang="en-US" sz="700" dirty="0"/>
          </a:p>
        </p:txBody>
      </p:sp>
      <p:sp>
        <p:nvSpPr>
          <p:cNvPr id="7" name="Shape 5"/>
          <p:cNvSpPr/>
          <p:nvPr/>
        </p:nvSpPr>
        <p:spPr>
          <a:xfrm>
            <a:off x="1729740" y="4741164"/>
            <a:ext cx="64008" cy="64008"/>
          </a:xfrm>
          <a:prstGeom prst="ellipse">
            <a:avLst/>
          </a:prstGeom>
          <a:solidFill>
            <a:srgbClr val="1B7F79"/>
          </a:solidFill>
          <a:ln w="12700">
            <a:solidFill>
              <a:srgbClr val="1B7F79"/>
            </a:solidFill>
            <a:prstDash val="solid"/>
          </a:ln>
        </p:spPr>
      </p:sp>
      <p:sp>
        <p:nvSpPr>
          <p:cNvPr id="8" name="Text 6"/>
          <p:cNvSpPr txBox="1"/>
          <p:nvPr/>
        </p:nvSpPr>
        <p:spPr>
          <a:xfrm>
            <a:off x="148742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W2</a:t>
            </a:r>
            <a:endParaRPr lang="en-US" sz="700" dirty="0"/>
          </a:p>
        </p:txBody>
      </p:sp>
      <p:sp>
        <p:nvSpPr>
          <p:cNvPr id="9" name="Shape 7"/>
          <p:cNvSpPr/>
          <p:nvPr/>
        </p:nvSpPr>
        <p:spPr>
          <a:xfrm>
            <a:off x="2165604" y="4741164"/>
            <a:ext cx="64008" cy="64008"/>
          </a:xfrm>
          <a:prstGeom prst="ellipse">
            <a:avLst/>
          </a:prstGeom>
          <a:solidFill>
            <a:srgbClr val="1B7F79"/>
          </a:solidFill>
          <a:ln w="12700">
            <a:solidFill>
              <a:srgbClr val="1B7F79"/>
            </a:solidFill>
            <a:prstDash val="solid"/>
          </a:ln>
        </p:spPr>
      </p:sp>
      <p:sp>
        <p:nvSpPr>
          <p:cNvPr id="10" name="Text 8"/>
          <p:cNvSpPr txBox="1"/>
          <p:nvPr/>
        </p:nvSpPr>
        <p:spPr>
          <a:xfrm>
            <a:off x="192328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W3</a:t>
            </a:r>
            <a:endParaRPr lang="en-US" sz="700" dirty="0"/>
          </a:p>
        </p:txBody>
      </p:sp>
      <p:sp>
        <p:nvSpPr>
          <p:cNvPr id="11" name="Shape 9"/>
          <p:cNvSpPr/>
          <p:nvPr/>
        </p:nvSpPr>
        <p:spPr>
          <a:xfrm>
            <a:off x="2578608" y="4718304"/>
            <a:ext cx="109728" cy="109728"/>
          </a:xfrm>
          <a:prstGeom prst="ellipse">
            <a:avLst/>
          </a:prstGeom>
          <a:solidFill>
            <a:srgbClr val="1B7F79"/>
          </a:solidFill>
          <a:ln w="12700">
            <a:solidFill>
              <a:srgbClr val="1B7F79"/>
            </a:solidFill>
            <a:prstDash val="solid"/>
          </a:ln>
        </p:spPr>
      </p:sp>
      <p:sp>
        <p:nvSpPr>
          <p:cNvPr id="12" name="Text 10"/>
          <p:cNvSpPr txBox="1"/>
          <p:nvPr/>
        </p:nvSpPr>
        <p:spPr>
          <a:xfrm>
            <a:off x="235915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W4</a:t>
            </a:r>
            <a:endParaRPr lang="en-US" sz="700" dirty="0"/>
          </a:p>
        </p:txBody>
      </p:sp>
      <p:sp>
        <p:nvSpPr>
          <p:cNvPr id="13" name="Text 11"/>
          <p:cNvSpPr txBox="1"/>
          <p:nvPr/>
        </p:nvSpPr>
        <p:spPr>
          <a:xfrm>
            <a:off x="2084832"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Process models</a:t>
            </a:r>
            <a:endParaRPr lang="en-US" sz="700" dirty="0"/>
          </a:p>
        </p:txBody>
      </p:sp>
      <p:sp>
        <p:nvSpPr>
          <p:cNvPr id="14" name="Shape 12"/>
          <p:cNvSpPr/>
          <p:nvPr/>
        </p:nvSpPr>
        <p:spPr>
          <a:xfrm>
            <a:off x="3037332" y="4741164"/>
            <a:ext cx="64008" cy="64008"/>
          </a:xfrm>
          <a:prstGeom prst="ellipse">
            <a:avLst/>
          </a:prstGeom>
          <a:solidFill>
            <a:srgbClr val="1B7F79"/>
          </a:solidFill>
          <a:ln w="12700">
            <a:solidFill>
              <a:srgbClr val="1B7F79"/>
            </a:solidFill>
            <a:prstDash val="solid"/>
          </a:ln>
        </p:spPr>
      </p:sp>
      <p:sp>
        <p:nvSpPr>
          <p:cNvPr id="15" name="Text 13"/>
          <p:cNvSpPr txBox="1"/>
          <p:nvPr/>
        </p:nvSpPr>
        <p:spPr>
          <a:xfrm>
            <a:off x="279501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W5</a:t>
            </a:r>
            <a:endParaRPr lang="en-US" sz="700" dirty="0"/>
          </a:p>
        </p:txBody>
      </p:sp>
      <p:sp>
        <p:nvSpPr>
          <p:cNvPr id="16" name="Shape 14"/>
          <p:cNvSpPr/>
          <p:nvPr/>
        </p:nvSpPr>
        <p:spPr>
          <a:xfrm>
            <a:off x="3427476" y="4695444"/>
            <a:ext cx="155448" cy="155448"/>
          </a:xfrm>
          <a:prstGeom prst="ellipse">
            <a:avLst/>
          </a:prstGeom>
          <a:solidFill>
            <a:srgbClr val="E09F3E"/>
          </a:solidFill>
          <a:ln w="12700">
            <a:solidFill>
              <a:srgbClr val="E09F3E"/>
            </a:solidFill>
            <a:prstDash val="solid"/>
          </a:ln>
        </p:spPr>
      </p:sp>
      <p:sp>
        <p:nvSpPr>
          <p:cNvPr id="17" name="Text 15"/>
          <p:cNvSpPr txBox="1"/>
          <p:nvPr/>
        </p:nvSpPr>
        <p:spPr>
          <a:xfrm>
            <a:off x="3230880" y="4855464"/>
            <a:ext cx="548640" cy="146304"/>
          </a:xfrm>
          <a:prstGeom prst="rect">
            <a:avLst/>
          </a:prstGeom>
          <a:noFill/>
          <a:ln/>
        </p:spPr>
        <p:txBody>
          <a:bodyPr wrap="square" lIns="0" tIns="0" rIns="0" bIns="0" rtlCol="0" anchor="ctr"/>
          <a:lstStyle/>
          <a:p>
            <a:pPr algn="ctr" indent="0" marL="0">
              <a:buNone/>
            </a:pPr>
            <a:r>
              <a:rPr lang="en-US" sz="700" b="1" dirty="0">
                <a:solidFill>
                  <a:srgbClr val="E09F3E"/>
                </a:solidFill>
              </a:rPr>
              <a:t>W6 · now</a:t>
            </a:r>
            <a:endParaRPr lang="en-US" sz="700" dirty="0"/>
          </a:p>
        </p:txBody>
      </p:sp>
      <p:sp>
        <p:nvSpPr>
          <p:cNvPr id="18" name="Shape 16"/>
          <p:cNvSpPr/>
          <p:nvPr/>
        </p:nvSpPr>
        <p:spPr>
          <a:xfrm>
            <a:off x="3886200" y="4718304"/>
            <a:ext cx="109728" cy="109728"/>
          </a:xfrm>
          <a:prstGeom prst="ellipse">
            <a:avLst/>
          </a:prstGeom>
          <a:solidFill>
            <a:srgbClr val="0E4D5C"/>
          </a:solidFill>
          <a:ln w="12700">
            <a:solidFill>
              <a:srgbClr val="0E4D5C"/>
            </a:solidFill>
            <a:prstDash val="solid"/>
          </a:ln>
        </p:spPr>
      </p:sp>
      <p:sp>
        <p:nvSpPr>
          <p:cNvPr id="19" name="Text 17"/>
          <p:cNvSpPr txBox="1"/>
          <p:nvPr/>
        </p:nvSpPr>
        <p:spPr>
          <a:xfrm>
            <a:off x="366674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W7</a:t>
            </a:r>
            <a:endParaRPr lang="en-US" sz="700" dirty="0"/>
          </a:p>
        </p:txBody>
      </p:sp>
      <p:sp>
        <p:nvSpPr>
          <p:cNvPr id="20" name="Text 18"/>
          <p:cNvSpPr txBox="1"/>
          <p:nvPr/>
        </p:nvSpPr>
        <p:spPr>
          <a:xfrm>
            <a:off x="3392424"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SRS</a:t>
            </a:r>
            <a:endParaRPr lang="en-US" sz="700" dirty="0"/>
          </a:p>
        </p:txBody>
      </p:sp>
      <p:sp>
        <p:nvSpPr>
          <p:cNvPr id="21" name="Shape 19"/>
          <p:cNvSpPr/>
          <p:nvPr/>
        </p:nvSpPr>
        <p:spPr>
          <a:xfrm>
            <a:off x="4344924" y="4741164"/>
            <a:ext cx="64008" cy="64008"/>
          </a:xfrm>
          <a:prstGeom prst="ellipse">
            <a:avLst/>
          </a:prstGeom>
          <a:solidFill>
            <a:srgbClr val="C9D9D8"/>
          </a:solidFill>
          <a:ln w="12700">
            <a:solidFill>
              <a:srgbClr val="C9D9D8"/>
            </a:solidFill>
            <a:prstDash val="solid"/>
          </a:ln>
        </p:spPr>
      </p:sp>
      <p:sp>
        <p:nvSpPr>
          <p:cNvPr id="22" name="Text 20"/>
          <p:cNvSpPr txBox="1"/>
          <p:nvPr/>
        </p:nvSpPr>
        <p:spPr>
          <a:xfrm>
            <a:off x="410260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W8</a:t>
            </a:r>
            <a:endParaRPr lang="en-US" sz="700" dirty="0"/>
          </a:p>
        </p:txBody>
      </p:sp>
      <p:sp>
        <p:nvSpPr>
          <p:cNvPr id="23" name="Shape 21"/>
          <p:cNvSpPr/>
          <p:nvPr/>
        </p:nvSpPr>
        <p:spPr>
          <a:xfrm>
            <a:off x="4780788" y="4741164"/>
            <a:ext cx="64008" cy="64008"/>
          </a:xfrm>
          <a:prstGeom prst="ellipse">
            <a:avLst/>
          </a:prstGeom>
          <a:solidFill>
            <a:srgbClr val="C9D9D8"/>
          </a:solidFill>
          <a:ln w="12700">
            <a:solidFill>
              <a:srgbClr val="C9D9D8"/>
            </a:solidFill>
            <a:prstDash val="solid"/>
          </a:ln>
        </p:spPr>
      </p:sp>
      <p:sp>
        <p:nvSpPr>
          <p:cNvPr id="24" name="Text 22"/>
          <p:cNvSpPr txBox="1"/>
          <p:nvPr/>
        </p:nvSpPr>
        <p:spPr>
          <a:xfrm>
            <a:off x="453847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W9</a:t>
            </a:r>
            <a:endParaRPr lang="en-US" sz="700" dirty="0"/>
          </a:p>
        </p:txBody>
      </p:sp>
      <p:sp>
        <p:nvSpPr>
          <p:cNvPr id="25" name="Shape 23"/>
          <p:cNvSpPr/>
          <p:nvPr/>
        </p:nvSpPr>
        <p:spPr>
          <a:xfrm>
            <a:off x="5216652" y="4741164"/>
            <a:ext cx="64008" cy="64008"/>
          </a:xfrm>
          <a:prstGeom prst="ellipse">
            <a:avLst/>
          </a:prstGeom>
          <a:solidFill>
            <a:srgbClr val="C9D9D8"/>
          </a:solidFill>
          <a:ln w="12700">
            <a:solidFill>
              <a:srgbClr val="C9D9D8"/>
            </a:solidFill>
            <a:prstDash val="solid"/>
          </a:ln>
        </p:spPr>
      </p:sp>
      <p:sp>
        <p:nvSpPr>
          <p:cNvPr id="26" name="Text 24"/>
          <p:cNvSpPr txBox="1"/>
          <p:nvPr/>
        </p:nvSpPr>
        <p:spPr>
          <a:xfrm>
            <a:off x="497433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W10</a:t>
            </a:r>
            <a:endParaRPr lang="en-US" sz="700" dirty="0"/>
          </a:p>
        </p:txBody>
      </p:sp>
      <p:sp>
        <p:nvSpPr>
          <p:cNvPr id="27" name="Shape 25"/>
          <p:cNvSpPr/>
          <p:nvPr/>
        </p:nvSpPr>
        <p:spPr>
          <a:xfrm>
            <a:off x="5629656" y="4718304"/>
            <a:ext cx="109728" cy="109728"/>
          </a:xfrm>
          <a:prstGeom prst="ellipse">
            <a:avLst/>
          </a:prstGeom>
          <a:solidFill>
            <a:srgbClr val="0E4D5C"/>
          </a:solidFill>
          <a:ln w="12700">
            <a:solidFill>
              <a:srgbClr val="0E4D5C"/>
            </a:solidFill>
            <a:prstDash val="solid"/>
          </a:ln>
        </p:spPr>
      </p:sp>
      <p:sp>
        <p:nvSpPr>
          <p:cNvPr id="28" name="Text 26"/>
          <p:cNvSpPr txBox="1"/>
          <p:nvPr/>
        </p:nvSpPr>
        <p:spPr>
          <a:xfrm>
            <a:off x="541020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W11</a:t>
            </a:r>
            <a:endParaRPr lang="en-US" sz="700" dirty="0"/>
          </a:p>
        </p:txBody>
      </p:sp>
      <p:sp>
        <p:nvSpPr>
          <p:cNvPr id="29" name="Text 27"/>
          <p:cNvSpPr txBox="1"/>
          <p:nvPr/>
        </p:nvSpPr>
        <p:spPr>
          <a:xfrm>
            <a:off x="513588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Design</a:t>
            </a:r>
            <a:endParaRPr lang="en-US" sz="700" dirty="0"/>
          </a:p>
        </p:txBody>
      </p:sp>
      <p:sp>
        <p:nvSpPr>
          <p:cNvPr id="30" name="Shape 28"/>
          <p:cNvSpPr/>
          <p:nvPr/>
        </p:nvSpPr>
        <p:spPr>
          <a:xfrm>
            <a:off x="6088380" y="4741164"/>
            <a:ext cx="64008" cy="64008"/>
          </a:xfrm>
          <a:prstGeom prst="ellipse">
            <a:avLst/>
          </a:prstGeom>
          <a:solidFill>
            <a:srgbClr val="C9D9D8"/>
          </a:solidFill>
          <a:ln w="12700">
            <a:solidFill>
              <a:srgbClr val="C9D9D8"/>
            </a:solidFill>
            <a:prstDash val="solid"/>
          </a:ln>
        </p:spPr>
      </p:sp>
      <p:sp>
        <p:nvSpPr>
          <p:cNvPr id="31" name="Text 29"/>
          <p:cNvSpPr txBox="1"/>
          <p:nvPr/>
        </p:nvSpPr>
        <p:spPr>
          <a:xfrm>
            <a:off x="584606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W12</a:t>
            </a:r>
            <a:endParaRPr lang="en-US" sz="700" dirty="0"/>
          </a:p>
        </p:txBody>
      </p:sp>
      <p:sp>
        <p:nvSpPr>
          <p:cNvPr id="32" name="Shape 30"/>
          <p:cNvSpPr/>
          <p:nvPr/>
        </p:nvSpPr>
        <p:spPr>
          <a:xfrm>
            <a:off x="6524244" y="4741164"/>
            <a:ext cx="64008" cy="64008"/>
          </a:xfrm>
          <a:prstGeom prst="ellipse">
            <a:avLst/>
          </a:prstGeom>
          <a:solidFill>
            <a:srgbClr val="C9D9D8"/>
          </a:solidFill>
          <a:ln w="12700">
            <a:solidFill>
              <a:srgbClr val="C9D9D8"/>
            </a:solidFill>
            <a:prstDash val="solid"/>
          </a:ln>
        </p:spPr>
      </p:sp>
      <p:sp>
        <p:nvSpPr>
          <p:cNvPr id="33" name="Text 31"/>
          <p:cNvSpPr txBox="1"/>
          <p:nvPr/>
        </p:nvSpPr>
        <p:spPr>
          <a:xfrm>
            <a:off x="628192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W13</a:t>
            </a:r>
            <a:endParaRPr lang="en-US" sz="700" dirty="0"/>
          </a:p>
        </p:txBody>
      </p:sp>
      <p:sp>
        <p:nvSpPr>
          <p:cNvPr id="34" name="Shape 32"/>
          <p:cNvSpPr/>
          <p:nvPr/>
        </p:nvSpPr>
        <p:spPr>
          <a:xfrm>
            <a:off x="6960108" y="4741164"/>
            <a:ext cx="64008" cy="64008"/>
          </a:xfrm>
          <a:prstGeom prst="ellipse">
            <a:avLst/>
          </a:prstGeom>
          <a:solidFill>
            <a:srgbClr val="C9D9D8"/>
          </a:solidFill>
          <a:ln w="12700">
            <a:solidFill>
              <a:srgbClr val="C9D9D8"/>
            </a:solidFill>
            <a:prstDash val="solid"/>
          </a:ln>
        </p:spPr>
      </p:sp>
      <p:sp>
        <p:nvSpPr>
          <p:cNvPr id="35" name="Text 33"/>
          <p:cNvSpPr txBox="1"/>
          <p:nvPr/>
        </p:nvSpPr>
        <p:spPr>
          <a:xfrm>
            <a:off x="671779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W14</a:t>
            </a:r>
            <a:endParaRPr lang="en-US" sz="700" dirty="0"/>
          </a:p>
        </p:txBody>
      </p:sp>
      <p:sp>
        <p:nvSpPr>
          <p:cNvPr id="36" name="Shape 34"/>
          <p:cNvSpPr/>
          <p:nvPr/>
        </p:nvSpPr>
        <p:spPr>
          <a:xfrm>
            <a:off x="7395972" y="4741164"/>
            <a:ext cx="64008" cy="64008"/>
          </a:xfrm>
          <a:prstGeom prst="ellipse">
            <a:avLst/>
          </a:prstGeom>
          <a:solidFill>
            <a:srgbClr val="C9D9D8"/>
          </a:solidFill>
          <a:ln w="12700">
            <a:solidFill>
              <a:srgbClr val="C9D9D8"/>
            </a:solidFill>
            <a:prstDash val="solid"/>
          </a:ln>
        </p:spPr>
      </p:sp>
      <p:sp>
        <p:nvSpPr>
          <p:cNvPr id="37" name="Text 35"/>
          <p:cNvSpPr txBox="1"/>
          <p:nvPr/>
        </p:nvSpPr>
        <p:spPr>
          <a:xfrm>
            <a:off x="715365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W15</a:t>
            </a:r>
            <a:endParaRPr lang="en-US" sz="700" dirty="0"/>
          </a:p>
        </p:txBody>
      </p:sp>
      <p:sp>
        <p:nvSpPr>
          <p:cNvPr id="38" name="Shape 36"/>
          <p:cNvSpPr/>
          <p:nvPr/>
        </p:nvSpPr>
        <p:spPr>
          <a:xfrm>
            <a:off x="7808976" y="4718304"/>
            <a:ext cx="109728" cy="109728"/>
          </a:xfrm>
          <a:prstGeom prst="ellipse">
            <a:avLst/>
          </a:prstGeom>
          <a:solidFill>
            <a:srgbClr val="0E4D5C"/>
          </a:solidFill>
          <a:ln w="12700">
            <a:solidFill>
              <a:srgbClr val="0E4D5C"/>
            </a:solidFill>
            <a:prstDash val="solid"/>
          </a:ln>
        </p:spPr>
      </p:sp>
      <p:sp>
        <p:nvSpPr>
          <p:cNvPr id="39" name="Text 37"/>
          <p:cNvSpPr txBox="1"/>
          <p:nvPr/>
        </p:nvSpPr>
        <p:spPr>
          <a:xfrm>
            <a:off x="758952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W16</a:t>
            </a:r>
            <a:endParaRPr lang="en-US" sz="700" dirty="0"/>
          </a:p>
        </p:txBody>
      </p:sp>
      <p:sp>
        <p:nvSpPr>
          <p:cNvPr id="40" name="Text 38"/>
          <p:cNvSpPr txBox="1"/>
          <p:nvPr/>
        </p:nvSpPr>
        <p:spPr>
          <a:xfrm>
            <a:off x="731520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Launch</a:t>
            </a:r>
            <a:endParaRPr lang="en-US" sz="700" dirty="0"/>
          </a:p>
        </p:txBody>
      </p:sp>
      <p:sp>
        <p:nvSpPr>
          <p:cNvPr id="41" name="Text 39"/>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100" kern="0" dirty="0">
                <a:solidFill>
                  <a:srgbClr val="1B7F79"/>
                </a:solidFill>
              </a:rPr>
              <a:t>1 · TECHNICAL PROGRESS — SYSTEM DEVELOPMENT</a:t>
            </a:r>
            <a:endParaRPr lang="en-US" sz="1000" dirty="0"/>
          </a:p>
        </p:txBody>
      </p:sp>
      <p:sp>
        <p:nvSpPr>
          <p:cNvPr id="42" name="Text 4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0E4D5C"/>
                </a:solidFill>
              </a:rPr>
              <a:t>UC1 in the UI prototype</a:t>
            </a:r>
            <a:endParaRPr lang="en-US" sz="2800" dirty="0"/>
          </a:p>
        </p:txBody>
      </p:sp>
      <p:pic>
        <p:nvPicPr>
          <p:cNvPr id="43" name="ui_0" descr="ui_sale.png">    </p:cNvPr>
          <p:cNvPicPr>
            <a:picLocks noChangeAspect="1"/>
          </p:cNvPicPr>
          <p:nvPr/>
        </p:nvPicPr>
        <p:blipFill>
          <a:blip r:embed="rId1"/>
          <a:stretch>
            <a:fillRect/>
          </a:stretch>
        </p:blipFill>
        <p:spPr>
          <a:xfrm>
            <a:off x="457200" y="1188720"/>
            <a:ext cx="2651760" cy="1490887"/>
          </a:xfrm>
          <a:prstGeom prst="rect">
            <a:avLst/>
          </a:prstGeom>
        </p:spPr>
      </p:pic>
      <p:sp>
        <p:nvSpPr>
          <p:cNvPr id="44" name="Shape 41"/>
          <p:cNvSpPr/>
          <p:nvPr/>
        </p:nvSpPr>
        <p:spPr>
          <a:xfrm>
            <a:off x="457200" y="1188720"/>
            <a:ext cx="2651760" cy="1490887"/>
          </a:xfrm>
          <a:prstGeom prst="rect">
            <a:avLst/>
          </a:prstGeom>
          <a:ln w="9525">
            <a:solidFill>
              <a:srgbClr val="C9D9D8"/>
            </a:solidFill>
            <a:prstDash val="solid"/>
          </a:ln>
        </p:spPr>
      </p:sp>
      <p:sp>
        <p:nvSpPr>
          <p:cNvPr id="45" name="Text 42"/>
          <p:cNvSpPr txBox="1"/>
          <p:nvPr/>
        </p:nvSpPr>
        <p:spPr>
          <a:xfrm>
            <a:off x="457200" y="2771047"/>
            <a:ext cx="2651760" cy="274320"/>
          </a:xfrm>
          <a:prstGeom prst="rect">
            <a:avLst/>
          </a:prstGeom>
          <a:noFill/>
          <a:ln/>
        </p:spPr>
        <p:txBody>
          <a:bodyPr wrap="square" lIns="0" tIns="0" rIns="0" bIns="0" rtlCol="0" anchor="ctr"/>
          <a:lstStyle/>
          <a:p>
            <a:pPr indent="0" marL="0">
              <a:buNone/>
            </a:pPr>
            <a:r>
              <a:rPr lang="en-US" sz="1300" b="1" dirty="0">
                <a:solidFill>
                  <a:srgbClr val="0E4D5C"/>
                </a:solidFill>
              </a:rPr>
              <a:t>1 · Sale</a:t>
            </a:r>
            <a:endParaRPr lang="en-US" sz="1300" dirty="0"/>
          </a:p>
        </p:txBody>
      </p:sp>
      <p:sp>
        <p:nvSpPr>
          <p:cNvPr id="46" name="Text 43"/>
          <p:cNvSpPr txBox="1"/>
          <p:nvPr/>
        </p:nvSpPr>
        <p:spPr>
          <a:xfrm>
            <a:off x="457200" y="3045367"/>
            <a:ext cx="2651760" cy="502920"/>
          </a:xfrm>
          <a:prstGeom prst="rect">
            <a:avLst/>
          </a:prstGeom>
          <a:noFill/>
          <a:ln/>
        </p:spPr>
        <p:txBody>
          <a:bodyPr wrap="square" lIns="0" tIns="0" rIns="0" bIns="0" rtlCol="0" anchor="t"/>
          <a:lstStyle/>
          <a:p>
            <a:pPr indent="0" marL="0">
              <a:buNone/>
            </a:pPr>
            <a:r>
              <a:rPr lang="en-US" sz="1100" dirty="0">
                <a:solidFill>
                  <a:srgbClr val="1F2A30"/>
                </a:solidFill>
              </a:rPr>
              <a:t>Scan or type the item (FR-02); unknown code rejected (FR-03, ext. 4a)</a:t>
            </a:r>
            <a:endParaRPr lang="en-US" sz="1100" dirty="0"/>
          </a:p>
        </p:txBody>
      </p:sp>
      <p:sp>
        <p:nvSpPr>
          <p:cNvPr id="47" name="Text 44"/>
          <p:cNvSpPr txBox="1"/>
          <p:nvPr/>
        </p:nvSpPr>
        <p:spPr>
          <a:xfrm>
            <a:off x="3108960" y="1751284"/>
            <a:ext cx="155448" cy="365760"/>
          </a:xfrm>
          <a:prstGeom prst="rect">
            <a:avLst/>
          </a:prstGeom>
          <a:noFill/>
          <a:ln/>
        </p:spPr>
        <p:txBody>
          <a:bodyPr wrap="square" lIns="0" tIns="0" rIns="0" bIns="0" rtlCol="0" anchor="ctr"/>
          <a:lstStyle/>
          <a:p>
            <a:pPr algn="ctr" indent="0" marL="0">
              <a:buNone/>
            </a:pPr>
            <a:r>
              <a:rPr lang="en-US" sz="2000" dirty="0">
                <a:solidFill>
                  <a:srgbClr val="1B7F79"/>
                </a:solidFill>
              </a:rPr>
              <a:t>›</a:t>
            </a:r>
            <a:endParaRPr lang="en-US" sz="2000" dirty="0"/>
          </a:p>
        </p:txBody>
      </p:sp>
      <p:pic>
        <p:nvPicPr>
          <p:cNvPr id="48" name="ui_1" descr="ui_payment.png">    </p:cNvPr>
          <p:cNvPicPr>
            <a:picLocks noChangeAspect="1"/>
          </p:cNvPicPr>
          <p:nvPr/>
        </p:nvPicPr>
        <p:blipFill>
          <a:blip r:embed="rId2"/>
          <a:stretch>
            <a:fillRect/>
          </a:stretch>
        </p:blipFill>
        <p:spPr>
          <a:xfrm>
            <a:off x="3264408" y="1188720"/>
            <a:ext cx="2651760" cy="1490887"/>
          </a:xfrm>
          <a:prstGeom prst="rect">
            <a:avLst/>
          </a:prstGeom>
        </p:spPr>
      </p:pic>
      <p:sp>
        <p:nvSpPr>
          <p:cNvPr id="49" name="Shape 45"/>
          <p:cNvSpPr/>
          <p:nvPr/>
        </p:nvSpPr>
        <p:spPr>
          <a:xfrm>
            <a:off x="3264408" y="1188720"/>
            <a:ext cx="2651760" cy="1490887"/>
          </a:xfrm>
          <a:prstGeom prst="rect">
            <a:avLst/>
          </a:prstGeom>
          <a:ln w="9525">
            <a:solidFill>
              <a:srgbClr val="C9D9D8"/>
            </a:solidFill>
            <a:prstDash val="solid"/>
          </a:ln>
        </p:spPr>
      </p:sp>
      <p:sp>
        <p:nvSpPr>
          <p:cNvPr id="50" name="Text 46"/>
          <p:cNvSpPr txBox="1"/>
          <p:nvPr/>
        </p:nvSpPr>
        <p:spPr>
          <a:xfrm>
            <a:off x="3264408" y="2771047"/>
            <a:ext cx="2651760" cy="274320"/>
          </a:xfrm>
          <a:prstGeom prst="rect">
            <a:avLst/>
          </a:prstGeom>
          <a:noFill/>
          <a:ln/>
        </p:spPr>
        <p:txBody>
          <a:bodyPr wrap="square" lIns="0" tIns="0" rIns="0" bIns="0" rtlCol="0" anchor="ctr"/>
          <a:lstStyle/>
          <a:p>
            <a:pPr indent="0" marL="0">
              <a:buNone/>
            </a:pPr>
            <a:r>
              <a:rPr lang="en-US" sz="1300" b="1" dirty="0">
                <a:solidFill>
                  <a:srgbClr val="0E4D5C"/>
                </a:solidFill>
              </a:rPr>
              <a:t>2 · Payment</a:t>
            </a:r>
            <a:endParaRPr lang="en-US" sz="1300" dirty="0"/>
          </a:p>
        </p:txBody>
      </p:sp>
      <p:sp>
        <p:nvSpPr>
          <p:cNvPr id="51" name="Text 47"/>
          <p:cNvSpPr txBox="1"/>
          <p:nvPr/>
        </p:nvSpPr>
        <p:spPr>
          <a:xfrm>
            <a:off x="3264408" y="3045367"/>
            <a:ext cx="2651760" cy="502920"/>
          </a:xfrm>
          <a:prstGeom prst="rect">
            <a:avLst/>
          </a:prstGeom>
          <a:noFill/>
          <a:ln/>
        </p:spPr>
        <p:txBody>
          <a:bodyPr wrap="square" lIns="0" tIns="0" rIns="0" bIns="0" rtlCol="0" anchor="t"/>
          <a:lstStyle/>
          <a:p>
            <a:pPr indent="0" marL="0">
              <a:buNone/>
            </a:pPr>
            <a:r>
              <a:rPr lang="en-US" sz="1100" dirty="0">
                <a:solidFill>
                  <a:srgbClr val="1F2A30"/>
                </a:solidFill>
              </a:rPr>
              <a:t>Cash, card or check; change due (FR-09, BR-06)</a:t>
            </a:r>
            <a:endParaRPr lang="en-US" sz="1100" dirty="0"/>
          </a:p>
        </p:txBody>
      </p:sp>
      <p:sp>
        <p:nvSpPr>
          <p:cNvPr id="52" name="Text 48"/>
          <p:cNvSpPr txBox="1"/>
          <p:nvPr/>
        </p:nvSpPr>
        <p:spPr>
          <a:xfrm>
            <a:off x="5916168" y="1751284"/>
            <a:ext cx="155448" cy="365760"/>
          </a:xfrm>
          <a:prstGeom prst="rect">
            <a:avLst/>
          </a:prstGeom>
          <a:noFill/>
          <a:ln/>
        </p:spPr>
        <p:txBody>
          <a:bodyPr wrap="square" lIns="0" tIns="0" rIns="0" bIns="0" rtlCol="0" anchor="ctr"/>
          <a:lstStyle/>
          <a:p>
            <a:pPr algn="ctr" indent="0" marL="0">
              <a:buNone/>
            </a:pPr>
            <a:r>
              <a:rPr lang="en-US" sz="2000" dirty="0">
                <a:solidFill>
                  <a:srgbClr val="1B7F79"/>
                </a:solidFill>
              </a:rPr>
              <a:t>›</a:t>
            </a:r>
            <a:endParaRPr lang="en-US" sz="2000" dirty="0"/>
          </a:p>
        </p:txBody>
      </p:sp>
      <p:pic>
        <p:nvPicPr>
          <p:cNvPr id="53" name="ui_2" descr="ui_receipt.png">    </p:cNvPr>
          <p:cNvPicPr>
            <a:picLocks noChangeAspect="1"/>
          </p:cNvPicPr>
          <p:nvPr/>
        </p:nvPicPr>
        <p:blipFill>
          <a:blip r:embed="rId3"/>
          <a:stretch>
            <a:fillRect/>
          </a:stretch>
        </p:blipFill>
        <p:spPr>
          <a:xfrm>
            <a:off x="6071616" y="1188720"/>
            <a:ext cx="2651760" cy="1490887"/>
          </a:xfrm>
          <a:prstGeom prst="rect">
            <a:avLst/>
          </a:prstGeom>
        </p:spPr>
      </p:pic>
      <p:sp>
        <p:nvSpPr>
          <p:cNvPr id="54" name="Shape 49"/>
          <p:cNvSpPr/>
          <p:nvPr/>
        </p:nvSpPr>
        <p:spPr>
          <a:xfrm>
            <a:off x="6071616" y="1188720"/>
            <a:ext cx="2651760" cy="1490887"/>
          </a:xfrm>
          <a:prstGeom prst="rect">
            <a:avLst/>
          </a:prstGeom>
          <a:ln w="9525">
            <a:solidFill>
              <a:srgbClr val="C9D9D8"/>
            </a:solidFill>
            <a:prstDash val="solid"/>
          </a:ln>
        </p:spPr>
      </p:sp>
      <p:sp>
        <p:nvSpPr>
          <p:cNvPr id="55" name="Text 50"/>
          <p:cNvSpPr txBox="1"/>
          <p:nvPr/>
        </p:nvSpPr>
        <p:spPr>
          <a:xfrm>
            <a:off x="6071616" y="2771047"/>
            <a:ext cx="2651760" cy="274320"/>
          </a:xfrm>
          <a:prstGeom prst="rect">
            <a:avLst/>
          </a:prstGeom>
          <a:noFill/>
          <a:ln/>
        </p:spPr>
        <p:txBody>
          <a:bodyPr wrap="square" lIns="0" tIns="0" rIns="0" bIns="0" rtlCol="0" anchor="ctr"/>
          <a:lstStyle/>
          <a:p>
            <a:pPr indent="0" marL="0">
              <a:buNone/>
            </a:pPr>
            <a:r>
              <a:rPr lang="en-US" sz="1300" b="1" dirty="0">
                <a:solidFill>
                  <a:srgbClr val="0E4D5C"/>
                </a:solidFill>
              </a:rPr>
              <a:t>3 · Receipt</a:t>
            </a:r>
            <a:endParaRPr lang="en-US" sz="1300" dirty="0"/>
          </a:p>
        </p:txBody>
      </p:sp>
      <p:sp>
        <p:nvSpPr>
          <p:cNvPr id="56" name="Text 51"/>
          <p:cNvSpPr txBox="1"/>
          <p:nvPr/>
        </p:nvSpPr>
        <p:spPr>
          <a:xfrm>
            <a:off x="6071616" y="3045367"/>
            <a:ext cx="2651760" cy="502920"/>
          </a:xfrm>
          <a:prstGeom prst="rect">
            <a:avLst/>
          </a:prstGeom>
          <a:noFill/>
          <a:ln/>
        </p:spPr>
        <p:txBody>
          <a:bodyPr wrap="square" lIns="0" tIns="0" rIns="0" bIns="0" rtlCol="0" anchor="t"/>
          <a:lstStyle/>
          <a:p>
            <a:pPr indent="0" marL="0">
              <a:buNone/>
            </a:pPr>
            <a:r>
              <a:rPr lang="en-US" sz="1100" dirty="0">
                <a:solidFill>
                  <a:srgbClr val="1F2A30"/>
                </a:solidFill>
              </a:rPr>
              <a:t>Sale saved and receipt printed (FR-13, FR-16)</a:t>
            </a:r>
            <a:endParaRPr lang="en-US" sz="1100" dirty="0"/>
          </a:p>
        </p:txBody>
      </p:sp>
      <p:sp>
        <p:nvSpPr>
          <p:cNvPr id="57" name="Text 52"/>
          <p:cNvSpPr txBox="1"/>
          <p:nvPr/>
        </p:nvSpPr>
        <p:spPr>
          <a:xfrm>
            <a:off x="457200" y="3749040"/>
            <a:ext cx="8229600" cy="548640"/>
          </a:xfrm>
          <a:prstGeom prst="rect">
            <a:avLst/>
          </a:prstGeom>
          <a:noFill/>
          <a:ln/>
        </p:spPr>
        <p:txBody>
          <a:bodyPr wrap="square" lIns="0" tIns="0" rIns="0" bIns="0" rtlCol="0" anchor="ctr"/>
          <a:lstStyle/>
          <a:p>
            <a:pPr indent="0" marL="0">
              <a:buNone/>
            </a:pPr>
            <a:r>
              <a:rPr lang="en-US" sz="1200" b="1" dirty="0">
                <a:solidFill>
                  <a:srgbClr val="0E4D5C"/>
                </a:solidFill>
              </a:rPr>
              <a:t>Clickable HTML prototype (docs/design/prototype/): </a:t>
            </a:r>
            <a:pPr indent="0" marL="0">
              <a:buNone/>
            </a:pPr>
            <a:r>
              <a:rPr lang="en-US" sz="1200" dirty="0">
                <a:solidFill>
                  <a:srgbClr val="1F2A30"/>
                </a:solidFill>
              </a:rPr>
              <a:t>start up and login, main menu, sale, payment, receipt, return, rental and return rental. External failures can be simulated (Tax Calculator, HR System, card declined, Payment Service down).</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274320" y="4681728"/>
            <a:ext cx="1005840" cy="182880"/>
          </a:xfrm>
          <a:prstGeom prst="rect">
            <a:avLst/>
          </a:prstGeom>
          <a:noFill/>
          <a:ln/>
        </p:spPr>
        <p:txBody>
          <a:bodyPr wrap="square" lIns="0" tIns="0" rIns="0" bIns="0" rtlCol="0" anchor="ctr"/>
          <a:lstStyle/>
          <a:p>
            <a:pPr indent="0" marL="0">
              <a:buNone/>
            </a:pPr>
            <a:r>
              <a:rPr lang="en-US" sz="800" b="1" dirty="0">
                <a:solidFill>
                  <a:srgbClr val="5F6B70"/>
                </a:solidFill>
              </a:rPr>
              <a:t>Course timeline</a:t>
            </a:r>
            <a:endParaRPr lang="en-US" sz="800" dirty="0"/>
          </a:p>
        </p:txBody>
      </p:sp>
      <p:sp>
        <p:nvSpPr>
          <p:cNvPr id="3" name="Shape 1"/>
          <p:cNvSpPr/>
          <p:nvPr/>
        </p:nvSpPr>
        <p:spPr>
          <a:xfrm>
            <a:off x="1325880" y="4773168"/>
            <a:ext cx="6537960" cy="0"/>
          </a:xfrm>
          <a:prstGeom prst="line">
            <a:avLst/>
          </a:prstGeom>
          <a:noFill/>
          <a:ln w="19050">
            <a:solidFill>
              <a:srgbClr val="C9D9D8"/>
            </a:solidFill>
            <a:prstDash val="solid"/>
          </a:ln>
        </p:spPr>
      </p:sp>
      <p:sp>
        <p:nvSpPr>
          <p:cNvPr id="4" name="Shape 2"/>
          <p:cNvSpPr/>
          <p:nvPr/>
        </p:nvSpPr>
        <p:spPr>
          <a:xfrm>
            <a:off x="1325880" y="4773168"/>
            <a:ext cx="2179320" cy="0"/>
          </a:xfrm>
          <a:prstGeom prst="line">
            <a:avLst/>
          </a:prstGeom>
          <a:noFill/>
          <a:ln w="31750">
            <a:solidFill>
              <a:srgbClr val="1B7F79"/>
            </a:solidFill>
            <a:prstDash val="solid"/>
          </a:ln>
        </p:spPr>
      </p:sp>
      <p:sp>
        <p:nvSpPr>
          <p:cNvPr id="5" name="Shape 3"/>
          <p:cNvSpPr/>
          <p:nvPr/>
        </p:nvSpPr>
        <p:spPr>
          <a:xfrm>
            <a:off x="1293876" y="4741164"/>
            <a:ext cx="64008" cy="64008"/>
          </a:xfrm>
          <a:prstGeom prst="ellipse">
            <a:avLst/>
          </a:prstGeom>
          <a:solidFill>
            <a:srgbClr val="1B7F79"/>
          </a:solidFill>
          <a:ln w="12700">
            <a:solidFill>
              <a:srgbClr val="1B7F79"/>
            </a:solidFill>
            <a:prstDash val="solid"/>
          </a:ln>
        </p:spPr>
      </p:sp>
      <p:sp>
        <p:nvSpPr>
          <p:cNvPr id="6" name="Text 4"/>
          <p:cNvSpPr txBox="1"/>
          <p:nvPr/>
        </p:nvSpPr>
        <p:spPr>
          <a:xfrm>
            <a:off x="105156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a:t>
            </a:r>
            <a:endParaRPr lang="en-US" sz="700" dirty="0"/>
          </a:p>
        </p:txBody>
      </p:sp>
      <p:sp>
        <p:nvSpPr>
          <p:cNvPr id="7" name="Shape 5"/>
          <p:cNvSpPr/>
          <p:nvPr/>
        </p:nvSpPr>
        <p:spPr>
          <a:xfrm>
            <a:off x="1729740" y="4741164"/>
            <a:ext cx="64008" cy="64008"/>
          </a:xfrm>
          <a:prstGeom prst="ellipse">
            <a:avLst/>
          </a:prstGeom>
          <a:solidFill>
            <a:srgbClr val="1B7F79"/>
          </a:solidFill>
          <a:ln w="12700">
            <a:solidFill>
              <a:srgbClr val="1B7F79"/>
            </a:solidFill>
            <a:prstDash val="solid"/>
          </a:ln>
        </p:spPr>
      </p:sp>
      <p:sp>
        <p:nvSpPr>
          <p:cNvPr id="8" name="Text 6"/>
          <p:cNvSpPr txBox="1"/>
          <p:nvPr/>
        </p:nvSpPr>
        <p:spPr>
          <a:xfrm>
            <a:off x="148742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W2</a:t>
            </a:r>
            <a:endParaRPr lang="en-US" sz="700" dirty="0"/>
          </a:p>
        </p:txBody>
      </p:sp>
      <p:sp>
        <p:nvSpPr>
          <p:cNvPr id="9" name="Shape 7"/>
          <p:cNvSpPr/>
          <p:nvPr/>
        </p:nvSpPr>
        <p:spPr>
          <a:xfrm>
            <a:off x="2165604" y="4741164"/>
            <a:ext cx="64008" cy="64008"/>
          </a:xfrm>
          <a:prstGeom prst="ellipse">
            <a:avLst/>
          </a:prstGeom>
          <a:solidFill>
            <a:srgbClr val="1B7F79"/>
          </a:solidFill>
          <a:ln w="12700">
            <a:solidFill>
              <a:srgbClr val="1B7F79"/>
            </a:solidFill>
            <a:prstDash val="solid"/>
          </a:ln>
        </p:spPr>
      </p:sp>
      <p:sp>
        <p:nvSpPr>
          <p:cNvPr id="10" name="Text 8"/>
          <p:cNvSpPr txBox="1"/>
          <p:nvPr/>
        </p:nvSpPr>
        <p:spPr>
          <a:xfrm>
            <a:off x="192328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W3</a:t>
            </a:r>
            <a:endParaRPr lang="en-US" sz="700" dirty="0"/>
          </a:p>
        </p:txBody>
      </p:sp>
      <p:sp>
        <p:nvSpPr>
          <p:cNvPr id="11" name="Shape 9"/>
          <p:cNvSpPr/>
          <p:nvPr/>
        </p:nvSpPr>
        <p:spPr>
          <a:xfrm>
            <a:off x="2578608" y="4718304"/>
            <a:ext cx="109728" cy="109728"/>
          </a:xfrm>
          <a:prstGeom prst="ellipse">
            <a:avLst/>
          </a:prstGeom>
          <a:solidFill>
            <a:srgbClr val="1B7F79"/>
          </a:solidFill>
          <a:ln w="12700">
            <a:solidFill>
              <a:srgbClr val="1B7F79"/>
            </a:solidFill>
            <a:prstDash val="solid"/>
          </a:ln>
        </p:spPr>
      </p:sp>
      <p:sp>
        <p:nvSpPr>
          <p:cNvPr id="12" name="Text 10"/>
          <p:cNvSpPr txBox="1"/>
          <p:nvPr/>
        </p:nvSpPr>
        <p:spPr>
          <a:xfrm>
            <a:off x="235915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W4</a:t>
            </a:r>
            <a:endParaRPr lang="en-US" sz="700" dirty="0"/>
          </a:p>
        </p:txBody>
      </p:sp>
      <p:sp>
        <p:nvSpPr>
          <p:cNvPr id="13" name="Text 11"/>
          <p:cNvSpPr txBox="1"/>
          <p:nvPr/>
        </p:nvSpPr>
        <p:spPr>
          <a:xfrm>
            <a:off x="2084832"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Process models</a:t>
            </a:r>
            <a:endParaRPr lang="en-US" sz="700" dirty="0"/>
          </a:p>
        </p:txBody>
      </p:sp>
      <p:sp>
        <p:nvSpPr>
          <p:cNvPr id="14" name="Shape 12"/>
          <p:cNvSpPr/>
          <p:nvPr/>
        </p:nvSpPr>
        <p:spPr>
          <a:xfrm>
            <a:off x="3037332" y="4741164"/>
            <a:ext cx="64008" cy="64008"/>
          </a:xfrm>
          <a:prstGeom prst="ellipse">
            <a:avLst/>
          </a:prstGeom>
          <a:solidFill>
            <a:srgbClr val="1B7F79"/>
          </a:solidFill>
          <a:ln w="12700">
            <a:solidFill>
              <a:srgbClr val="1B7F79"/>
            </a:solidFill>
            <a:prstDash val="solid"/>
          </a:ln>
        </p:spPr>
      </p:sp>
      <p:sp>
        <p:nvSpPr>
          <p:cNvPr id="15" name="Text 13"/>
          <p:cNvSpPr txBox="1"/>
          <p:nvPr/>
        </p:nvSpPr>
        <p:spPr>
          <a:xfrm>
            <a:off x="279501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W5</a:t>
            </a:r>
            <a:endParaRPr lang="en-US" sz="700" dirty="0"/>
          </a:p>
        </p:txBody>
      </p:sp>
      <p:sp>
        <p:nvSpPr>
          <p:cNvPr id="16" name="Shape 14"/>
          <p:cNvSpPr/>
          <p:nvPr/>
        </p:nvSpPr>
        <p:spPr>
          <a:xfrm>
            <a:off x="3427476" y="4695444"/>
            <a:ext cx="155448" cy="155448"/>
          </a:xfrm>
          <a:prstGeom prst="ellipse">
            <a:avLst/>
          </a:prstGeom>
          <a:solidFill>
            <a:srgbClr val="E09F3E"/>
          </a:solidFill>
          <a:ln w="12700">
            <a:solidFill>
              <a:srgbClr val="E09F3E"/>
            </a:solidFill>
            <a:prstDash val="solid"/>
          </a:ln>
        </p:spPr>
      </p:sp>
      <p:sp>
        <p:nvSpPr>
          <p:cNvPr id="17" name="Text 15"/>
          <p:cNvSpPr txBox="1"/>
          <p:nvPr/>
        </p:nvSpPr>
        <p:spPr>
          <a:xfrm>
            <a:off x="3230880" y="4855464"/>
            <a:ext cx="548640" cy="146304"/>
          </a:xfrm>
          <a:prstGeom prst="rect">
            <a:avLst/>
          </a:prstGeom>
          <a:noFill/>
          <a:ln/>
        </p:spPr>
        <p:txBody>
          <a:bodyPr wrap="square" lIns="0" tIns="0" rIns="0" bIns="0" rtlCol="0" anchor="ctr"/>
          <a:lstStyle/>
          <a:p>
            <a:pPr algn="ctr" indent="0" marL="0">
              <a:buNone/>
            </a:pPr>
            <a:r>
              <a:rPr lang="en-US" sz="700" b="1" dirty="0">
                <a:solidFill>
                  <a:srgbClr val="E09F3E"/>
                </a:solidFill>
              </a:rPr>
              <a:t>W6 · now</a:t>
            </a:r>
            <a:endParaRPr lang="en-US" sz="700" dirty="0"/>
          </a:p>
        </p:txBody>
      </p:sp>
      <p:sp>
        <p:nvSpPr>
          <p:cNvPr id="18" name="Shape 16"/>
          <p:cNvSpPr/>
          <p:nvPr/>
        </p:nvSpPr>
        <p:spPr>
          <a:xfrm>
            <a:off x="3886200" y="4718304"/>
            <a:ext cx="109728" cy="109728"/>
          </a:xfrm>
          <a:prstGeom prst="ellipse">
            <a:avLst/>
          </a:prstGeom>
          <a:solidFill>
            <a:srgbClr val="0E4D5C"/>
          </a:solidFill>
          <a:ln w="12700">
            <a:solidFill>
              <a:srgbClr val="0E4D5C"/>
            </a:solidFill>
            <a:prstDash val="solid"/>
          </a:ln>
        </p:spPr>
      </p:sp>
      <p:sp>
        <p:nvSpPr>
          <p:cNvPr id="19" name="Text 17"/>
          <p:cNvSpPr txBox="1"/>
          <p:nvPr/>
        </p:nvSpPr>
        <p:spPr>
          <a:xfrm>
            <a:off x="366674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W7</a:t>
            </a:r>
            <a:endParaRPr lang="en-US" sz="700" dirty="0"/>
          </a:p>
        </p:txBody>
      </p:sp>
      <p:sp>
        <p:nvSpPr>
          <p:cNvPr id="20" name="Text 18"/>
          <p:cNvSpPr txBox="1"/>
          <p:nvPr/>
        </p:nvSpPr>
        <p:spPr>
          <a:xfrm>
            <a:off x="3392424"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SRS</a:t>
            </a:r>
            <a:endParaRPr lang="en-US" sz="700" dirty="0"/>
          </a:p>
        </p:txBody>
      </p:sp>
      <p:sp>
        <p:nvSpPr>
          <p:cNvPr id="21" name="Shape 19"/>
          <p:cNvSpPr/>
          <p:nvPr/>
        </p:nvSpPr>
        <p:spPr>
          <a:xfrm>
            <a:off x="4344924" y="4741164"/>
            <a:ext cx="64008" cy="64008"/>
          </a:xfrm>
          <a:prstGeom prst="ellipse">
            <a:avLst/>
          </a:prstGeom>
          <a:solidFill>
            <a:srgbClr val="C9D9D8"/>
          </a:solidFill>
          <a:ln w="12700">
            <a:solidFill>
              <a:srgbClr val="C9D9D8"/>
            </a:solidFill>
            <a:prstDash val="solid"/>
          </a:ln>
        </p:spPr>
      </p:sp>
      <p:sp>
        <p:nvSpPr>
          <p:cNvPr id="22" name="Text 20"/>
          <p:cNvSpPr txBox="1"/>
          <p:nvPr/>
        </p:nvSpPr>
        <p:spPr>
          <a:xfrm>
            <a:off x="410260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W8</a:t>
            </a:r>
            <a:endParaRPr lang="en-US" sz="700" dirty="0"/>
          </a:p>
        </p:txBody>
      </p:sp>
      <p:sp>
        <p:nvSpPr>
          <p:cNvPr id="23" name="Shape 21"/>
          <p:cNvSpPr/>
          <p:nvPr/>
        </p:nvSpPr>
        <p:spPr>
          <a:xfrm>
            <a:off x="4780788" y="4741164"/>
            <a:ext cx="64008" cy="64008"/>
          </a:xfrm>
          <a:prstGeom prst="ellipse">
            <a:avLst/>
          </a:prstGeom>
          <a:solidFill>
            <a:srgbClr val="C9D9D8"/>
          </a:solidFill>
          <a:ln w="12700">
            <a:solidFill>
              <a:srgbClr val="C9D9D8"/>
            </a:solidFill>
            <a:prstDash val="solid"/>
          </a:ln>
        </p:spPr>
      </p:sp>
      <p:sp>
        <p:nvSpPr>
          <p:cNvPr id="24" name="Text 22"/>
          <p:cNvSpPr txBox="1"/>
          <p:nvPr/>
        </p:nvSpPr>
        <p:spPr>
          <a:xfrm>
            <a:off x="453847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W9</a:t>
            </a:r>
            <a:endParaRPr lang="en-US" sz="700" dirty="0"/>
          </a:p>
        </p:txBody>
      </p:sp>
      <p:sp>
        <p:nvSpPr>
          <p:cNvPr id="25" name="Shape 23"/>
          <p:cNvSpPr/>
          <p:nvPr/>
        </p:nvSpPr>
        <p:spPr>
          <a:xfrm>
            <a:off x="5216652" y="4741164"/>
            <a:ext cx="64008" cy="64008"/>
          </a:xfrm>
          <a:prstGeom prst="ellipse">
            <a:avLst/>
          </a:prstGeom>
          <a:solidFill>
            <a:srgbClr val="C9D9D8"/>
          </a:solidFill>
          <a:ln w="12700">
            <a:solidFill>
              <a:srgbClr val="C9D9D8"/>
            </a:solidFill>
            <a:prstDash val="solid"/>
          </a:ln>
        </p:spPr>
      </p:sp>
      <p:sp>
        <p:nvSpPr>
          <p:cNvPr id="26" name="Text 24"/>
          <p:cNvSpPr txBox="1"/>
          <p:nvPr/>
        </p:nvSpPr>
        <p:spPr>
          <a:xfrm>
            <a:off x="497433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W10</a:t>
            </a:r>
            <a:endParaRPr lang="en-US" sz="700" dirty="0"/>
          </a:p>
        </p:txBody>
      </p:sp>
      <p:sp>
        <p:nvSpPr>
          <p:cNvPr id="27" name="Shape 25"/>
          <p:cNvSpPr/>
          <p:nvPr/>
        </p:nvSpPr>
        <p:spPr>
          <a:xfrm>
            <a:off x="5629656" y="4718304"/>
            <a:ext cx="109728" cy="109728"/>
          </a:xfrm>
          <a:prstGeom prst="ellipse">
            <a:avLst/>
          </a:prstGeom>
          <a:solidFill>
            <a:srgbClr val="0E4D5C"/>
          </a:solidFill>
          <a:ln w="12700">
            <a:solidFill>
              <a:srgbClr val="0E4D5C"/>
            </a:solidFill>
            <a:prstDash val="solid"/>
          </a:ln>
        </p:spPr>
      </p:sp>
      <p:sp>
        <p:nvSpPr>
          <p:cNvPr id="28" name="Text 26"/>
          <p:cNvSpPr txBox="1"/>
          <p:nvPr/>
        </p:nvSpPr>
        <p:spPr>
          <a:xfrm>
            <a:off x="541020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W11</a:t>
            </a:r>
            <a:endParaRPr lang="en-US" sz="700" dirty="0"/>
          </a:p>
        </p:txBody>
      </p:sp>
      <p:sp>
        <p:nvSpPr>
          <p:cNvPr id="29" name="Text 27"/>
          <p:cNvSpPr txBox="1"/>
          <p:nvPr/>
        </p:nvSpPr>
        <p:spPr>
          <a:xfrm>
            <a:off x="513588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Design</a:t>
            </a:r>
            <a:endParaRPr lang="en-US" sz="700" dirty="0"/>
          </a:p>
        </p:txBody>
      </p:sp>
      <p:sp>
        <p:nvSpPr>
          <p:cNvPr id="30" name="Shape 28"/>
          <p:cNvSpPr/>
          <p:nvPr/>
        </p:nvSpPr>
        <p:spPr>
          <a:xfrm>
            <a:off x="6088380" y="4741164"/>
            <a:ext cx="64008" cy="64008"/>
          </a:xfrm>
          <a:prstGeom prst="ellipse">
            <a:avLst/>
          </a:prstGeom>
          <a:solidFill>
            <a:srgbClr val="C9D9D8"/>
          </a:solidFill>
          <a:ln w="12700">
            <a:solidFill>
              <a:srgbClr val="C9D9D8"/>
            </a:solidFill>
            <a:prstDash val="solid"/>
          </a:ln>
        </p:spPr>
      </p:sp>
      <p:sp>
        <p:nvSpPr>
          <p:cNvPr id="31" name="Text 29"/>
          <p:cNvSpPr txBox="1"/>
          <p:nvPr/>
        </p:nvSpPr>
        <p:spPr>
          <a:xfrm>
            <a:off x="584606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W12</a:t>
            </a:r>
            <a:endParaRPr lang="en-US" sz="700" dirty="0"/>
          </a:p>
        </p:txBody>
      </p:sp>
      <p:sp>
        <p:nvSpPr>
          <p:cNvPr id="32" name="Shape 30"/>
          <p:cNvSpPr/>
          <p:nvPr/>
        </p:nvSpPr>
        <p:spPr>
          <a:xfrm>
            <a:off x="6524244" y="4741164"/>
            <a:ext cx="64008" cy="64008"/>
          </a:xfrm>
          <a:prstGeom prst="ellipse">
            <a:avLst/>
          </a:prstGeom>
          <a:solidFill>
            <a:srgbClr val="C9D9D8"/>
          </a:solidFill>
          <a:ln w="12700">
            <a:solidFill>
              <a:srgbClr val="C9D9D8"/>
            </a:solidFill>
            <a:prstDash val="solid"/>
          </a:ln>
        </p:spPr>
      </p:sp>
      <p:sp>
        <p:nvSpPr>
          <p:cNvPr id="33" name="Text 31"/>
          <p:cNvSpPr txBox="1"/>
          <p:nvPr/>
        </p:nvSpPr>
        <p:spPr>
          <a:xfrm>
            <a:off x="628192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W13</a:t>
            </a:r>
            <a:endParaRPr lang="en-US" sz="700" dirty="0"/>
          </a:p>
        </p:txBody>
      </p:sp>
      <p:sp>
        <p:nvSpPr>
          <p:cNvPr id="34" name="Shape 32"/>
          <p:cNvSpPr/>
          <p:nvPr/>
        </p:nvSpPr>
        <p:spPr>
          <a:xfrm>
            <a:off x="6960108" y="4741164"/>
            <a:ext cx="64008" cy="64008"/>
          </a:xfrm>
          <a:prstGeom prst="ellipse">
            <a:avLst/>
          </a:prstGeom>
          <a:solidFill>
            <a:srgbClr val="C9D9D8"/>
          </a:solidFill>
          <a:ln w="12700">
            <a:solidFill>
              <a:srgbClr val="C9D9D8"/>
            </a:solidFill>
            <a:prstDash val="solid"/>
          </a:ln>
        </p:spPr>
      </p:sp>
      <p:sp>
        <p:nvSpPr>
          <p:cNvPr id="35" name="Text 33"/>
          <p:cNvSpPr txBox="1"/>
          <p:nvPr/>
        </p:nvSpPr>
        <p:spPr>
          <a:xfrm>
            <a:off x="671779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W14</a:t>
            </a:r>
            <a:endParaRPr lang="en-US" sz="700" dirty="0"/>
          </a:p>
        </p:txBody>
      </p:sp>
      <p:sp>
        <p:nvSpPr>
          <p:cNvPr id="36" name="Shape 34"/>
          <p:cNvSpPr/>
          <p:nvPr/>
        </p:nvSpPr>
        <p:spPr>
          <a:xfrm>
            <a:off x="7395972" y="4741164"/>
            <a:ext cx="64008" cy="64008"/>
          </a:xfrm>
          <a:prstGeom prst="ellipse">
            <a:avLst/>
          </a:prstGeom>
          <a:solidFill>
            <a:srgbClr val="C9D9D8"/>
          </a:solidFill>
          <a:ln w="12700">
            <a:solidFill>
              <a:srgbClr val="C9D9D8"/>
            </a:solidFill>
            <a:prstDash val="solid"/>
          </a:ln>
        </p:spPr>
      </p:sp>
      <p:sp>
        <p:nvSpPr>
          <p:cNvPr id="37" name="Text 35"/>
          <p:cNvSpPr txBox="1"/>
          <p:nvPr/>
        </p:nvSpPr>
        <p:spPr>
          <a:xfrm>
            <a:off x="715365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W15</a:t>
            </a:r>
            <a:endParaRPr lang="en-US" sz="700" dirty="0"/>
          </a:p>
        </p:txBody>
      </p:sp>
      <p:sp>
        <p:nvSpPr>
          <p:cNvPr id="38" name="Shape 36"/>
          <p:cNvSpPr/>
          <p:nvPr/>
        </p:nvSpPr>
        <p:spPr>
          <a:xfrm>
            <a:off x="7808976" y="4718304"/>
            <a:ext cx="109728" cy="109728"/>
          </a:xfrm>
          <a:prstGeom prst="ellipse">
            <a:avLst/>
          </a:prstGeom>
          <a:solidFill>
            <a:srgbClr val="0E4D5C"/>
          </a:solidFill>
          <a:ln w="12700">
            <a:solidFill>
              <a:srgbClr val="0E4D5C"/>
            </a:solidFill>
            <a:prstDash val="solid"/>
          </a:ln>
        </p:spPr>
      </p:sp>
      <p:sp>
        <p:nvSpPr>
          <p:cNvPr id="39" name="Text 37"/>
          <p:cNvSpPr txBox="1"/>
          <p:nvPr/>
        </p:nvSpPr>
        <p:spPr>
          <a:xfrm>
            <a:off x="758952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W16</a:t>
            </a:r>
            <a:endParaRPr lang="en-US" sz="700" dirty="0"/>
          </a:p>
        </p:txBody>
      </p:sp>
      <p:sp>
        <p:nvSpPr>
          <p:cNvPr id="40" name="Text 38"/>
          <p:cNvSpPr txBox="1"/>
          <p:nvPr/>
        </p:nvSpPr>
        <p:spPr>
          <a:xfrm>
            <a:off x="731520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Launch</a:t>
            </a:r>
            <a:endParaRPr lang="en-US" sz="700" dirty="0"/>
          </a:p>
        </p:txBody>
      </p:sp>
      <p:sp>
        <p:nvSpPr>
          <p:cNvPr id="41" name="Text 39"/>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100" kern="0" dirty="0">
                <a:solidFill>
                  <a:srgbClr val="1B7F79"/>
                </a:solidFill>
              </a:rPr>
              <a:t>1 · TECHNICAL PROGRESS — SYSTEM DEVELOPMENT</a:t>
            </a:r>
            <a:endParaRPr lang="en-US" sz="1000" dirty="0"/>
          </a:p>
        </p:txBody>
      </p:sp>
      <p:sp>
        <p:nvSpPr>
          <p:cNvPr id="42" name="Text 4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0E4D5C"/>
                </a:solidFill>
              </a:rPr>
              <a:t>UC1: extensions — where the real rules live</a:t>
            </a:r>
            <a:endParaRPr lang="en-US" sz="2800" dirty="0"/>
          </a:p>
        </p:txBody>
      </p:sp>
      <p:sp>
        <p:nvSpPr>
          <p:cNvPr id="43" name="Shape 41"/>
          <p:cNvSpPr/>
          <p:nvPr/>
        </p:nvSpPr>
        <p:spPr>
          <a:xfrm>
            <a:off x="457200" y="1143000"/>
            <a:ext cx="3383280" cy="694944"/>
          </a:xfrm>
          <a:prstGeom prst="roundRect">
            <a:avLst>
              <a:gd name="adj" fmla="val 10526"/>
            </a:avLst>
          </a:prstGeom>
          <a:solidFill>
            <a:srgbClr val="EAF2F2"/>
          </a:solidFill>
          <a:ln w="12700">
            <a:solidFill>
              <a:srgbClr val="EAF2F2"/>
            </a:solidFill>
            <a:prstDash val="solid"/>
          </a:ln>
        </p:spPr>
      </p:sp>
      <p:sp>
        <p:nvSpPr>
          <p:cNvPr id="44" name="Text 42"/>
          <p:cNvSpPr txBox="1"/>
          <p:nvPr/>
        </p:nvSpPr>
        <p:spPr>
          <a:xfrm>
            <a:off x="594360" y="1143000"/>
            <a:ext cx="3154680" cy="694944"/>
          </a:xfrm>
          <a:prstGeom prst="rect">
            <a:avLst/>
          </a:prstGeom>
          <a:noFill/>
          <a:ln/>
        </p:spPr>
        <p:txBody>
          <a:bodyPr wrap="square" lIns="0" tIns="0" rIns="0" bIns="0" rtlCol="0" anchor="ctr"/>
          <a:lstStyle/>
          <a:p>
            <a:pPr indent="0" marL="0">
              <a:buNone/>
            </a:pPr>
            <a:r>
              <a:rPr lang="en-US" sz="1200" b="1" dirty="0">
                <a:solidFill>
                  <a:srgbClr val="1B7F79"/>
                </a:solidFill>
              </a:rPr>
              <a:t>Cashier input</a:t>
            </a:r>
            <a:endParaRPr lang="en-US" sz="1200" dirty="0"/>
          </a:p>
          <a:p>
            <a:pPr indent="0" marL="0">
              <a:buNone/>
            </a:pPr>
            <a:r>
              <a:rPr lang="en-US" sz="1100" dirty="0">
                <a:solidFill>
                  <a:srgbClr val="1F2A30"/>
                </a:solidFill>
              </a:rPr>
              <a:t>4a invalid identifier · 4b quantity · 4c remove line · 4d price override (BR-04) · cancel sale</a:t>
            </a:r>
            <a:endParaRPr lang="en-US" sz="1200" dirty="0"/>
          </a:p>
        </p:txBody>
      </p:sp>
      <p:sp>
        <p:nvSpPr>
          <p:cNvPr id="45" name="Shape 43"/>
          <p:cNvSpPr/>
          <p:nvPr/>
        </p:nvSpPr>
        <p:spPr>
          <a:xfrm>
            <a:off x="457200" y="1929384"/>
            <a:ext cx="3383280" cy="694944"/>
          </a:xfrm>
          <a:prstGeom prst="roundRect">
            <a:avLst>
              <a:gd name="adj" fmla="val 10526"/>
            </a:avLst>
          </a:prstGeom>
          <a:solidFill>
            <a:srgbClr val="EAF2F2"/>
          </a:solidFill>
          <a:ln w="12700">
            <a:solidFill>
              <a:srgbClr val="EAF2F2"/>
            </a:solidFill>
            <a:prstDash val="solid"/>
          </a:ln>
        </p:spPr>
      </p:sp>
      <p:sp>
        <p:nvSpPr>
          <p:cNvPr id="46" name="Text 44"/>
          <p:cNvSpPr txBox="1"/>
          <p:nvPr/>
        </p:nvSpPr>
        <p:spPr>
          <a:xfrm>
            <a:off x="594360" y="1929384"/>
            <a:ext cx="3154680" cy="694944"/>
          </a:xfrm>
          <a:prstGeom prst="rect">
            <a:avLst/>
          </a:prstGeom>
          <a:noFill/>
          <a:ln/>
        </p:spPr>
        <p:txBody>
          <a:bodyPr wrap="square" lIns="0" tIns="0" rIns="0" bIns="0" rtlCol="0" anchor="ctr"/>
          <a:lstStyle/>
          <a:p>
            <a:pPr indent="0" marL="0">
              <a:buNone/>
            </a:pPr>
            <a:r>
              <a:rPr lang="en-US" sz="1200" b="1" dirty="0">
                <a:solidFill>
                  <a:srgbClr val="E09F3E"/>
                </a:solidFill>
              </a:rPr>
              <a:t>Payment</a:t>
            </a:r>
            <a:endParaRPr lang="en-US" sz="1200" dirty="0"/>
          </a:p>
          <a:p>
            <a:pPr indent="0" marL="0">
              <a:buNone/>
            </a:pPr>
            <a:r>
              <a:rPr lang="en-US" sz="1100" dirty="0">
                <a:solidFill>
                  <a:srgbClr val="1F2A30"/>
                </a:solidFill>
              </a:rPr>
              <a:t>9a cash (BR-06) · 9b credit card (BR-05) · 9c check (Could)</a:t>
            </a:r>
            <a:endParaRPr lang="en-US" sz="1200" dirty="0"/>
          </a:p>
        </p:txBody>
      </p:sp>
      <p:sp>
        <p:nvSpPr>
          <p:cNvPr id="47" name="Shape 45"/>
          <p:cNvSpPr/>
          <p:nvPr/>
        </p:nvSpPr>
        <p:spPr>
          <a:xfrm>
            <a:off x="457200" y="2715768"/>
            <a:ext cx="3383280" cy="694944"/>
          </a:xfrm>
          <a:prstGeom prst="roundRect">
            <a:avLst>
              <a:gd name="adj" fmla="val 10526"/>
            </a:avLst>
          </a:prstGeom>
          <a:solidFill>
            <a:srgbClr val="EAF2F2"/>
          </a:solidFill>
          <a:ln w="12700">
            <a:solidFill>
              <a:srgbClr val="EAF2F2"/>
            </a:solidFill>
            <a:prstDash val="solid"/>
          </a:ln>
        </p:spPr>
      </p:sp>
      <p:sp>
        <p:nvSpPr>
          <p:cNvPr id="48" name="Text 46"/>
          <p:cNvSpPr txBox="1"/>
          <p:nvPr/>
        </p:nvSpPr>
        <p:spPr>
          <a:xfrm>
            <a:off x="594360" y="2715768"/>
            <a:ext cx="3154680" cy="694944"/>
          </a:xfrm>
          <a:prstGeom prst="rect">
            <a:avLst/>
          </a:prstGeom>
          <a:noFill/>
          <a:ln/>
        </p:spPr>
        <p:txBody>
          <a:bodyPr wrap="square" lIns="0" tIns="0" rIns="0" bIns="0" rtlCol="0" anchor="ctr"/>
          <a:lstStyle/>
          <a:p>
            <a:pPr indent="0" marL="0">
              <a:buNone/>
            </a:pPr>
            <a:r>
              <a:rPr lang="en-US" sz="1200" b="1" dirty="0">
                <a:solidFill>
                  <a:srgbClr val="34495E"/>
                </a:solidFill>
              </a:rPr>
              <a:t>External failures</a:t>
            </a:r>
            <a:endParaRPr lang="en-US" sz="1200" dirty="0"/>
          </a:p>
          <a:p>
            <a:pPr indent="0" marL="0">
              <a:buNone/>
            </a:pPr>
            <a:r>
              <a:rPr lang="en-US" sz="1100" dirty="0">
                <a:solidFill>
                  <a:srgbClr val="1F2A30"/>
                </a:solidFill>
              </a:rPr>
              <a:t>7a Tax Calculator down (BR-02) · 9b2b Payment Service down · 11a Accounting down (IR-07)</a:t>
            </a:r>
            <a:endParaRPr lang="en-US" sz="1200" dirty="0"/>
          </a:p>
        </p:txBody>
      </p:sp>
      <p:sp>
        <p:nvSpPr>
          <p:cNvPr id="49" name="Shape 47"/>
          <p:cNvSpPr/>
          <p:nvPr/>
        </p:nvSpPr>
        <p:spPr>
          <a:xfrm>
            <a:off x="457200" y="3502152"/>
            <a:ext cx="3383280" cy="694944"/>
          </a:xfrm>
          <a:prstGeom prst="roundRect">
            <a:avLst>
              <a:gd name="adj" fmla="val 10526"/>
            </a:avLst>
          </a:prstGeom>
          <a:solidFill>
            <a:srgbClr val="EAF2F2"/>
          </a:solidFill>
          <a:ln w="12700">
            <a:solidFill>
              <a:srgbClr val="EAF2F2"/>
            </a:solidFill>
            <a:prstDash val="solid"/>
          </a:ln>
        </p:spPr>
      </p:sp>
      <p:sp>
        <p:nvSpPr>
          <p:cNvPr id="50" name="Text 48"/>
          <p:cNvSpPr txBox="1"/>
          <p:nvPr/>
        </p:nvSpPr>
        <p:spPr>
          <a:xfrm>
            <a:off x="594360" y="3502152"/>
            <a:ext cx="3154680" cy="694944"/>
          </a:xfrm>
          <a:prstGeom prst="rect">
            <a:avLst/>
          </a:prstGeom>
          <a:noFill/>
          <a:ln/>
        </p:spPr>
        <p:txBody>
          <a:bodyPr wrap="square" lIns="0" tIns="0" rIns="0" bIns="0" rtlCol="0" anchor="ctr"/>
          <a:lstStyle/>
          <a:p>
            <a:pPr indent="0" marL="0">
              <a:buNone/>
            </a:pPr>
            <a:r>
              <a:rPr lang="en-US" sz="1200" b="1" dirty="0">
                <a:solidFill>
                  <a:srgbClr val="5F6B70"/>
                </a:solidFill>
              </a:rPr>
              <a:t>Other</a:t>
            </a:r>
            <a:endParaRPr lang="en-US" sz="1200" dirty="0"/>
          </a:p>
          <a:p>
            <a:pPr indent="0" marL="0">
              <a:buNone/>
            </a:pPr>
            <a:r>
              <a:rPr lang="en-US" sz="1100" dirty="0">
                <a:solidFill>
                  <a:srgbClr val="1F2A30"/>
                </a:solidFill>
              </a:rPr>
              <a:t>*a register crash · 11b stock &lt; 10 → reorder list (BR-09) · 12a printer fails</a:t>
            </a:r>
            <a:endParaRPr lang="en-US" sz="1200" dirty="0"/>
          </a:p>
        </p:txBody>
      </p:sp>
      <p:sp>
        <p:nvSpPr>
          <p:cNvPr id="51" name="Shape 49"/>
          <p:cNvSpPr/>
          <p:nvPr/>
        </p:nvSpPr>
        <p:spPr>
          <a:xfrm>
            <a:off x="4069080" y="1143000"/>
            <a:ext cx="4617720" cy="3063240"/>
          </a:xfrm>
          <a:prstGeom prst="roundRect">
            <a:avLst>
              <a:gd name="adj" fmla="val 2388"/>
            </a:avLst>
          </a:prstGeom>
          <a:solidFill>
            <a:srgbClr val="F4F8F8"/>
          </a:solidFill>
          <a:ln w="12700">
            <a:solidFill>
              <a:srgbClr val="F4F8F8"/>
            </a:solidFill>
            <a:prstDash val="solid"/>
          </a:ln>
        </p:spPr>
      </p:sp>
      <p:sp>
        <p:nvSpPr>
          <p:cNvPr id="52" name="Shape 50"/>
          <p:cNvSpPr/>
          <p:nvPr/>
        </p:nvSpPr>
        <p:spPr>
          <a:xfrm>
            <a:off x="4069080" y="1143000"/>
            <a:ext cx="4617720" cy="384048"/>
          </a:xfrm>
          <a:prstGeom prst="roundRect">
            <a:avLst>
              <a:gd name="adj" fmla="val 19048"/>
            </a:avLst>
          </a:prstGeom>
          <a:solidFill>
            <a:srgbClr val="E09F3E"/>
          </a:solidFill>
          <a:ln w="12700">
            <a:solidFill>
              <a:srgbClr val="E09F3E"/>
            </a:solidFill>
            <a:prstDash val="solid"/>
          </a:ln>
        </p:spPr>
      </p:sp>
      <p:sp>
        <p:nvSpPr>
          <p:cNvPr id="53" name="Text 51"/>
          <p:cNvSpPr txBox="1"/>
          <p:nvPr/>
        </p:nvSpPr>
        <p:spPr>
          <a:xfrm>
            <a:off x="4206240" y="1143000"/>
            <a:ext cx="4389120" cy="384048"/>
          </a:xfrm>
          <a:prstGeom prst="rect">
            <a:avLst/>
          </a:prstGeom>
          <a:noFill/>
          <a:ln/>
        </p:spPr>
        <p:txBody>
          <a:bodyPr wrap="square" lIns="0" tIns="0" rIns="0" bIns="0" rtlCol="0" anchor="ctr"/>
          <a:lstStyle/>
          <a:p>
            <a:pPr indent="0" marL="0">
              <a:buNone/>
            </a:pPr>
            <a:r>
              <a:rPr lang="en-US" sz="1300" b="1" dirty="0">
                <a:solidFill>
                  <a:srgbClr val="FFFFFF"/>
                </a:solidFill>
              </a:rPr>
              <a:t>Example in full · 9b. Credit card payment</a:t>
            </a:r>
            <a:endParaRPr lang="en-US" sz="1300" dirty="0"/>
          </a:p>
        </p:txBody>
      </p:sp>
      <p:sp>
        <p:nvSpPr>
          <p:cNvPr id="54" name="Text 52"/>
          <p:cNvSpPr txBox="1"/>
          <p:nvPr/>
        </p:nvSpPr>
        <p:spPr>
          <a:xfrm>
            <a:off x="4206240" y="1600200"/>
            <a:ext cx="4389120" cy="2560320"/>
          </a:xfrm>
          <a:prstGeom prst="rect">
            <a:avLst/>
          </a:prstGeom>
          <a:noFill/>
          <a:ln/>
        </p:spPr>
        <p:txBody>
          <a:bodyPr wrap="square" lIns="0" tIns="0" rIns="0" bIns="0" rtlCol="0" anchor="t"/>
          <a:lstStyle/>
          <a:p>
            <a:pPr indent="0" marL="0">
              <a:spcAft>
                <a:spcPts val="500"/>
              </a:spcAft>
              <a:buNone/>
            </a:pPr>
            <a:r>
              <a:rPr lang="en-US" sz="1200" dirty="0">
                <a:solidFill>
                  <a:srgbClr val="1F2A30"/>
                </a:solidFill>
              </a:rPr>
              <a:t>1. The Customer gives the card; the card reader reads it.</a:t>
            </a:r>
            <a:endParaRPr lang="en-US" sz="1200" dirty="0"/>
          </a:p>
          <a:p>
            <a:pPr indent="0" marL="0">
              <a:spcAft>
                <a:spcPts val="500"/>
              </a:spcAft>
              <a:buNone/>
            </a:pPr>
            <a:r>
              <a:rPr lang="en-US" sz="1200" dirty="0">
                <a:solidFill>
                  <a:srgbClr val="1F2A30"/>
                </a:solidFill>
              </a:rPr>
              <a:t>2. The System requests authorization from the Payment Service (BR-05, IR-01).</a:t>
            </a:r>
            <a:endParaRPr lang="en-US" sz="1200" dirty="0"/>
          </a:p>
          <a:p>
            <a:pPr indent="0" marL="0">
              <a:spcAft>
                <a:spcPts val="500"/>
              </a:spcAft>
              <a:buNone/>
            </a:pPr>
            <a:r>
              <a:rPr lang="en-US" sz="1200" dirty="0">
                <a:solidFill>
                  <a:srgbClr val="1F2A30"/>
                </a:solidFill>
              </a:rPr>
              <a:t>3. The System records the payment with the authorization code.</a:t>
            </a:r>
            <a:endParaRPr lang="en-US" sz="1200" dirty="0"/>
          </a:p>
          <a:p>
            <a:pPr indent="0" marL="0">
              <a:spcAft>
                <a:spcPts val="500"/>
              </a:spcAft>
              <a:buNone/>
            </a:pPr>
            <a:r>
              <a:rPr lang="en-US" sz="1200" b="1" dirty="0">
                <a:solidFill>
                  <a:srgbClr val="0E4D5C"/>
                </a:solidFill>
              </a:rPr>
              <a:t>9b2a. Declined: </a:t>
            </a:r>
            <a:pPr indent="0" marL="0">
              <a:spcAft>
                <a:spcPts val="500"/>
              </a:spcAft>
              <a:buNone/>
            </a:pPr>
            <a:r>
              <a:rPr lang="en-US" sz="1200" dirty="0">
                <a:solidFill>
                  <a:srgbClr val="1F2A30"/>
                </a:solidFill>
              </a:rPr>
              <a:t>the System shows the reason; the Cashier asks for another tender; back to step 9.</a:t>
            </a:r>
            <a:endParaRPr lang="en-US" sz="1200" dirty="0"/>
          </a:p>
          <a:p>
            <a:pPr indent="0" marL="0">
              <a:spcAft>
                <a:spcPts val="500"/>
              </a:spcAft>
              <a:buNone/>
            </a:pPr>
            <a:r>
              <a:rPr lang="en-US" sz="1200" b="1" dirty="0">
                <a:solidFill>
                  <a:srgbClr val="0E4D5C"/>
                </a:solidFill>
              </a:rPr>
              <a:t>9b2b. No answer: </a:t>
            </a:r>
            <a:pPr indent="0" marL="0">
              <a:spcAft>
                <a:spcPts val="500"/>
              </a:spcAft>
              <a:buNone/>
            </a:pPr>
            <a:r>
              <a:rPr lang="en-US" sz="1200" dirty="0">
                <a:solidFill>
                  <a:srgbClr val="1F2A30"/>
                </a:solidFill>
              </a:rPr>
              <a:t>the System shows "Card payment not available", logs the failure (IR-10) and keeps the sale open; the Cashier asks for cash (IR-02).</a:t>
            </a:r>
            <a:endParaRPr lang="en-US" sz="1200" dirty="0"/>
          </a:p>
          <a:p>
            <a:pPr indent="0" marL="0">
              <a:spcAft>
                <a:spcPts val="500"/>
              </a:spcAft>
              <a:buNone/>
            </a:pPr>
            <a:r>
              <a:rPr lang="en-US" sz="1200" b="1" dirty="0">
                <a:solidFill>
                  <a:srgbClr val="E09F3E"/>
                </a:solidFill>
              </a:rPr>
              <a:t>Failure guarantee: </a:t>
            </a:r>
            <a:pPr indent="0" marL="0">
              <a:spcAft>
                <a:spcPts val="500"/>
              </a:spcAft>
              <a:buNone/>
            </a:pPr>
            <a:r>
              <a:rPr lang="en-US" sz="1200" dirty="0">
                <a:solidFill>
                  <a:srgbClr val="1F2A30"/>
                </a:solidFill>
              </a:rPr>
              <a:t>no card payment is ever completed without authorization.</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274320" y="4681728"/>
            <a:ext cx="1005840" cy="182880"/>
          </a:xfrm>
          <a:prstGeom prst="rect">
            <a:avLst/>
          </a:prstGeom>
          <a:noFill/>
          <a:ln/>
        </p:spPr>
        <p:txBody>
          <a:bodyPr wrap="square" lIns="0" tIns="0" rIns="0" bIns="0" rtlCol="0" anchor="ctr"/>
          <a:lstStyle/>
          <a:p>
            <a:pPr indent="0" marL="0">
              <a:buNone/>
            </a:pPr>
            <a:r>
              <a:rPr lang="en-US" sz="800" b="1" dirty="0">
                <a:solidFill>
                  <a:srgbClr val="5F6B70"/>
                </a:solidFill>
              </a:rPr>
              <a:t>Course timeline</a:t>
            </a:r>
            <a:endParaRPr lang="en-US" sz="800" dirty="0"/>
          </a:p>
        </p:txBody>
      </p:sp>
      <p:sp>
        <p:nvSpPr>
          <p:cNvPr id="3" name="Shape 1"/>
          <p:cNvSpPr/>
          <p:nvPr/>
        </p:nvSpPr>
        <p:spPr>
          <a:xfrm>
            <a:off x="1325880" y="4773168"/>
            <a:ext cx="6537960" cy="0"/>
          </a:xfrm>
          <a:prstGeom prst="line">
            <a:avLst/>
          </a:prstGeom>
          <a:noFill/>
          <a:ln w="19050">
            <a:solidFill>
              <a:srgbClr val="C9D9D8"/>
            </a:solidFill>
            <a:prstDash val="solid"/>
          </a:ln>
        </p:spPr>
      </p:sp>
      <p:sp>
        <p:nvSpPr>
          <p:cNvPr id="4" name="Shape 2"/>
          <p:cNvSpPr/>
          <p:nvPr/>
        </p:nvSpPr>
        <p:spPr>
          <a:xfrm>
            <a:off x="1325880" y="4773168"/>
            <a:ext cx="2179320" cy="0"/>
          </a:xfrm>
          <a:prstGeom prst="line">
            <a:avLst/>
          </a:prstGeom>
          <a:noFill/>
          <a:ln w="31750">
            <a:solidFill>
              <a:srgbClr val="1B7F79"/>
            </a:solidFill>
            <a:prstDash val="solid"/>
          </a:ln>
        </p:spPr>
      </p:sp>
      <p:sp>
        <p:nvSpPr>
          <p:cNvPr id="5" name="Shape 3"/>
          <p:cNvSpPr/>
          <p:nvPr/>
        </p:nvSpPr>
        <p:spPr>
          <a:xfrm>
            <a:off x="1293876" y="4741164"/>
            <a:ext cx="64008" cy="64008"/>
          </a:xfrm>
          <a:prstGeom prst="ellipse">
            <a:avLst/>
          </a:prstGeom>
          <a:solidFill>
            <a:srgbClr val="1B7F79"/>
          </a:solidFill>
          <a:ln w="12700">
            <a:solidFill>
              <a:srgbClr val="1B7F79"/>
            </a:solidFill>
            <a:prstDash val="solid"/>
          </a:ln>
        </p:spPr>
      </p:sp>
      <p:sp>
        <p:nvSpPr>
          <p:cNvPr id="6" name="Text 4"/>
          <p:cNvSpPr txBox="1"/>
          <p:nvPr/>
        </p:nvSpPr>
        <p:spPr>
          <a:xfrm>
            <a:off x="105156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a:t>
            </a:r>
            <a:endParaRPr lang="en-US" sz="700" dirty="0"/>
          </a:p>
        </p:txBody>
      </p:sp>
      <p:sp>
        <p:nvSpPr>
          <p:cNvPr id="7" name="Shape 5"/>
          <p:cNvSpPr/>
          <p:nvPr/>
        </p:nvSpPr>
        <p:spPr>
          <a:xfrm>
            <a:off x="1729740" y="4741164"/>
            <a:ext cx="64008" cy="64008"/>
          </a:xfrm>
          <a:prstGeom prst="ellipse">
            <a:avLst/>
          </a:prstGeom>
          <a:solidFill>
            <a:srgbClr val="1B7F79"/>
          </a:solidFill>
          <a:ln w="12700">
            <a:solidFill>
              <a:srgbClr val="1B7F79"/>
            </a:solidFill>
            <a:prstDash val="solid"/>
          </a:ln>
        </p:spPr>
      </p:sp>
      <p:sp>
        <p:nvSpPr>
          <p:cNvPr id="8" name="Text 6"/>
          <p:cNvSpPr txBox="1"/>
          <p:nvPr/>
        </p:nvSpPr>
        <p:spPr>
          <a:xfrm>
            <a:off x="148742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W2</a:t>
            </a:r>
            <a:endParaRPr lang="en-US" sz="700" dirty="0"/>
          </a:p>
        </p:txBody>
      </p:sp>
      <p:sp>
        <p:nvSpPr>
          <p:cNvPr id="9" name="Shape 7"/>
          <p:cNvSpPr/>
          <p:nvPr/>
        </p:nvSpPr>
        <p:spPr>
          <a:xfrm>
            <a:off x="2165604" y="4741164"/>
            <a:ext cx="64008" cy="64008"/>
          </a:xfrm>
          <a:prstGeom prst="ellipse">
            <a:avLst/>
          </a:prstGeom>
          <a:solidFill>
            <a:srgbClr val="1B7F79"/>
          </a:solidFill>
          <a:ln w="12700">
            <a:solidFill>
              <a:srgbClr val="1B7F79"/>
            </a:solidFill>
            <a:prstDash val="solid"/>
          </a:ln>
        </p:spPr>
      </p:sp>
      <p:sp>
        <p:nvSpPr>
          <p:cNvPr id="10" name="Text 8"/>
          <p:cNvSpPr txBox="1"/>
          <p:nvPr/>
        </p:nvSpPr>
        <p:spPr>
          <a:xfrm>
            <a:off x="192328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W3</a:t>
            </a:r>
            <a:endParaRPr lang="en-US" sz="700" dirty="0"/>
          </a:p>
        </p:txBody>
      </p:sp>
      <p:sp>
        <p:nvSpPr>
          <p:cNvPr id="11" name="Shape 9"/>
          <p:cNvSpPr/>
          <p:nvPr/>
        </p:nvSpPr>
        <p:spPr>
          <a:xfrm>
            <a:off x="2578608" y="4718304"/>
            <a:ext cx="109728" cy="109728"/>
          </a:xfrm>
          <a:prstGeom prst="ellipse">
            <a:avLst/>
          </a:prstGeom>
          <a:solidFill>
            <a:srgbClr val="1B7F79"/>
          </a:solidFill>
          <a:ln w="12700">
            <a:solidFill>
              <a:srgbClr val="1B7F79"/>
            </a:solidFill>
            <a:prstDash val="solid"/>
          </a:ln>
        </p:spPr>
      </p:sp>
      <p:sp>
        <p:nvSpPr>
          <p:cNvPr id="12" name="Text 10"/>
          <p:cNvSpPr txBox="1"/>
          <p:nvPr/>
        </p:nvSpPr>
        <p:spPr>
          <a:xfrm>
            <a:off x="235915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W4</a:t>
            </a:r>
            <a:endParaRPr lang="en-US" sz="700" dirty="0"/>
          </a:p>
        </p:txBody>
      </p:sp>
      <p:sp>
        <p:nvSpPr>
          <p:cNvPr id="13" name="Text 11"/>
          <p:cNvSpPr txBox="1"/>
          <p:nvPr/>
        </p:nvSpPr>
        <p:spPr>
          <a:xfrm>
            <a:off x="2084832"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Process models</a:t>
            </a:r>
            <a:endParaRPr lang="en-US" sz="700" dirty="0"/>
          </a:p>
        </p:txBody>
      </p:sp>
      <p:sp>
        <p:nvSpPr>
          <p:cNvPr id="14" name="Shape 12"/>
          <p:cNvSpPr/>
          <p:nvPr/>
        </p:nvSpPr>
        <p:spPr>
          <a:xfrm>
            <a:off x="3037332" y="4741164"/>
            <a:ext cx="64008" cy="64008"/>
          </a:xfrm>
          <a:prstGeom prst="ellipse">
            <a:avLst/>
          </a:prstGeom>
          <a:solidFill>
            <a:srgbClr val="1B7F79"/>
          </a:solidFill>
          <a:ln w="12700">
            <a:solidFill>
              <a:srgbClr val="1B7F79"/>
            </a:solidFill>
            <a:prstDash val="solid"/>
          </a:ln>
        </p:spPr>
      </p:sp>
      <p:sp>
        <p:nvSpPr>
          <p:cNvPr id="15" name="Text 13"/>
          <p:cNvSpPr txBox="1"/>
          <p:nvPr/>
        </p:nvSpPr>
        <p:spPr>
          <a:xfrm>
            <a:off x="279501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W5</a:t>
            </a:r>
            <a:endParaRPr lang="en-US" sz="700" dirty="0"/>
          </a:p>
        </p:txBody>
      </p:sp>
      <p:sp>
        <p:nvSpPr>
          <p:cNvPr id="16" name="Shape 14"/>
          <p:cNvSpPr/>
          <p:nvPr/>
        </p:nvSpPr>
        <p:spPr>
          <a:xfrm>
            <a:off x="3427476" y="4695444"/>
            <a:ext cx="155448" cy="155448"/>
          </a:xfrm>
          <a:prstGeom prst="ellipse">
            <a:avLst/>
          </a:prstGeom>
          <a:solidFill>
            <a:srgbClr val="E09F3E"/>
          </a:solidFill>
          <a:ln w="12700">
            <a:solidFill>
              <a:srgbClr val="E09F3E"/>
            </a:solidFill>
            <a:prstDash val="solid"/>
          </a:ln>
        </p:spPr>
      </p:sp>
      <p:sp>
        <p:nvSpPr>
          <p:cNvPr id="17" name="Text 15"/>
          <p:cNvSpPr txBox="1"/>
          <p:nvPr/>
        </p:nvSpPr>
        <p:spPr>
          <a:xfrm>
            <a:off x="3230880" y="4855464"/>
            <a:ext cx="548640" cy="146304"/>
          </a:xfrm>
          <a:prstGeom prst="rect">
            <a:avLst/>
          </a:prstGeom>
          <a:noFill/>
          <a:ln/>
        </p:spPr>
        <p:txBody>
          <a:bodyPr wrap="square" lIns="0" tIns="0" rIns="0" bIns="0" rtlCol="0" anchor="ctr"/>
          <a:lstStyle/>
          <a:p>
            <a:pPr algn="ctr" indent="0" marL="0">
              <a:buNone/>
            </a:pPr>
            <a:r>
              <a:rPr lang="en-US" sz="700" b="1" dirty="0">
                <a:solidFill>
                  <a:srgbClr val="E09F3E"/>
                </a:solidFill>
              </a:rPr>
              <a:t>W6 · now</a:t>
            </a:r>
            <a:endParaRPr lang="en-US" sz="700" dirty="0"/>
          </a:p>
        </p:txBody>
      </p:sp>
      <p:sp>
        <p:nvSpPr>
          <p:cNvPr id="18" name="Shape 16"/>
          <p:cNvSpPr/>
          <p:nvPr/>
        </p:nvSpPr>
        <p:spPr>
          <a:xfrm>
            <a:off x="3886200" y="4718304"/>
            <a:ext cx="109728" cy="109728"/>
          </a:xfrm>
          <a:prstGeom prst="ellipse">
            <a:avLst/>
          </a:prstGeom>
          <a:solidFill>
            <a:srgbClr val="0E4D5C"/>
          </a:solidFill>
          <a:ln w="12700">
            <a:solidFill>
              <a:srgbClr val="0E4D5C"/>
            </a:solidFill>
            <a:prstDash val="solid"/>
          </a:ln>
        </p:spPr>
      </p:sp>
      <p:sp>
        <p:nvSpPr>
          <p:cNvPr id="19" name="Text 17"/>
          <p:cNvSpPr txBox="1"/>
          <p:nvPr/>
        </p:nvSpPr>
        <p:spPr>
          <a:xfrm>
            <a:off x="366674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W7</a:t>
            </a:r>
            <a:endParaRPr lang="en-US" sz="700" dirty="0"/>
          </a:p>
        </p:txBody>
      </p:sp>
      <p:sp>
        <p:nvSpPr>
          <p:cNvPr id="20" name="Text 18"/>
          <p:cNvSpPr txBox="1"/>
          <p:nvPr/>
        </p:nvSpPr>
        <p:spPr>
          <a:xfrm>
            <a:off x="3392424"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SRS</a:t>
            </a:r>
            <a:endParaRPr lang="en-US" sz="700" dirty="0"/>
          </a:p>
        </p:txBody>
      </p:sp>
      <p:sp>
        <p:nvSpPr>
          <p:cNvPr id="21" name="Shape 19"/>
          <p:cNvSpPr/>
          <p:nvPr/>
        </p:nvSpPr>
        <p:spPr>
          <a:xfrm>
            <a:off x="4344924" y="4741164"/>
            <a:ext cx="64008" cy="64008"/>
          </a:xfrm>
          <a:prstGeom prst="ellipse">
            <a:avLst/>
          </a:prstGeom>
          <a:solidFill>
            <a:srgbClr val="C9D9D8"/>
          </a:solidFill>
          <a:ln w="12700">
            <a:solidFill>
              <a:srgbClr val="C9D9D8"/>
            </a:solidFill>
            <a:prstDash val="solid"/>
          </a:ln>
        </p:spPr>
      </p:sp>
      <p:sp>
        <p:nvSpPr>
          <p:cNvPr id="22" name="Text 20"/>
          <p:cNvSpPr txBox="1"/>
          <p:nvPr/>
        </p:nvSpPr>
        <p:spPr>
          <a:xfrm>
            <a:off x="410260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W8</a:t>
            </a:r>
            <a:endParaRPr lang="en-US" sz="700" dirty="0"/>
          </a:p>
        </p:txBody>
      </p:sp>
      <p:sp>
        <p:nvSpPr>
          <p:cNvPr id="23" name="Shape 21"/>
          <p:cNvSpPr/>
          <p:nvPr/>
        </p:nvSpPr>
        <p:spPr>
          <a:xfrm>
            <a:off x="4780788" y="4741164"/>
            <a:ext cx="64008" cy="64008"/>
          </a:xfrm>
          <a:prstGeom prst="ellipse">
            <a:avLst/>
          </a:prstGeom>
          <a:solidFill>
            <a:srgbClr val="C9D9D8"/>
          </a:solidFill>
          <a:ln w="12700">
            <a:solidFill>
              <a:srgbClr val="C9D9D8"/>
            </a:solidFill>
            <a:prstDash val="solid"/>
          </a:ln>
        </p:spPr>
      </p:sp>
      <p:sp>
        <p:nvSpPr>
          <p:cNvPr id="24" name="Text 22"/>
          <p:cNvSpPr txBox="1"/>
          <p:nvPr/>
        </p:nvSpPr>
        <p:spPr>
          <a:xfrm>
            <a:off x="453847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W9</a:t>
            </a:r>
            <a:endParaRPr lang="en-US" sz="700" dirty="0"/>
          </a:p>
        </p:txBody>
      </p:sp>
      <p:sp>
        <p:nvSpPr>
          <p:cNvPr id="25" name="Shape 23"/>
          <p:cNvSpPr/>
          <p:nvPr/>
        </p:nvSpPr>
        <p:spPr>
          <a:xfrm>
            <a:off x="5216652" y="4741164"/>
            <a:ext cx="64008" cy="64008"/>
          </a:xfrm>
          <a:prstGeom prst="ellipse">
            <a:avLst/>
          </a:prstGeom>
          <a:solidFill>
            <a:srgbClr val="C9D9D8"/>
          </a:solidFill>
          <a:ln w="12700">
            <a:solidFill>
              <a:srgbClr val="C9D9D8"/>
            </a:solidFill>
            <a:prstDash val="solid"/>
          </a:ln>
        </p:spPr>
      </p:sp>
      <p:sp>
        <p:nvSpPr>
          <p:cNvPr id="26" name="Text 24"/>
          <p:cNvSpPr txBox="1"/>
          <p:nvPr/>
        </p:nvSpPr>
        <p:spPr>
          <a:xfrm>
            <a:off x="497433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W10</a:t>
            </a:r>
            <a:endParaRPr lang="en-US" sz="700" dirty="0"/>
          </a:p>
        </p:txBody>
      </p:sp>
      <p:sp>
        <p:nvSpPr>
          <p:cNvPr id="27" name="Shape 25"/>
          <p:cNvSpPr/>
          <p:nvPr/>
        </p:nvSpPr>
        <p:spPr>
          <a:xfrm>
            <a:off x="5629656" y="4718304"/>
            <a:ext cx="109728" cy="109728"/>
          </a:xfrm>
          <a:prstGeom prst="ellipse">
            <a:avLst/>
          </a:prstGeom>
          <a:solidFill>
            <a:srgbClr val="0E4D5C"/>
          </a:solidFill>
          <a:ln w="12700">
            <a:solidFill>
              <a:srgbClr val="0E4D5C"/>
            </a:solidFill>
            <a:prstDash val="solid"/>
          </a:ln>
        </p:spPr>
      </p:sp>
      <p:sp>
        <p:nvSpPr>
          <p:cNvPr id="28" name="Text 26"/>
          <p:cNvSpPr txBox="1"/>
          <p:nvPr/>
        </p:nvSpPr>
        <p:spPr>
          <a:xfrm>
            <a:off x="541020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W11</a:t>
            </a:r>
            <a:endParaRPr lang="en-US" sz="700" dirty="0"/>
          </a:p>
        </p:txBody>
      </p:sp>
      <p:sp>
        <p:nvSpPr>
          <p:cNvPr id="29" name="Text 27"/>
          <p:cNvSpPr txBox="1"/>
          <p:nvPr/>
        </p:nvSpPr>
        <p:spPr>
          <a:xfrm>
            <a:off x="513588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Design</a:t>
            </a:r>
            <a:endParaRPr lang="en-US" sz="700" dirty="0"/>
          </a:p>
        </p:txBody>
      </p:sp>
      <p:sp>
        <p:nvSpPr>
          <p:cNvPr id="30" name="Shape 28"/>
          <p:cNvSpPr/>
          <p:nvPr/>
        </p:nvSpPr>
        <p:spPr>
          <a:xfrm>
            <a:off x="6088380" y="4741164"/>
            <a:ext cx="64008" cy="64008"/>
          </a:xfrm>
          <a:prstGeom prst="ellipse">
            <a:avLst/>
          </a:prstGeom>
          <a:solidFill>
            <a:srgbClr val="C9D9D8"/>
          </a:solidFill>
          <a:ln w="12700">
            <a:solidFill>
              <a:srgbClr val="C9D9D8"/>
            </a:solidFill>
            <a:prstDash val="solid"/>
          </a:ln>
        </p:spPr>
      </p:sp>
      <p:sp>
        <p:nvSpPr>
          <p:cNvPr id="31" name="Text 29"/>
          <p:cNvSpPr txBox="1"/>
          <p:nvPr/>
        </p:nvSpPr>
        <p:spPr>
          <a:xfrm>
            <a:off x="584606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W12</a:t>
            </a:r>
            <a:endParaRPr lang="en-US" sz="700" dirty="0"/>
          </a:p>
        </p:txBody>
      </p:sp>
      <p:sp>
        <p:nvSpPr>
          <p:cNvPr id="32" name="Shape 30"/>
          <p:cNvSpPr/>
          <p:nvPr/>
        </p:nvSpPr>
        <p:spPr>
          <a:xfrm>
            <a:off x="6524244" y="4741164"/>
            <a:ext cx="64008" cy="64008"/>
          </a:xfrm>
          <a:prstGeom prst="ellipse">
            <a:avLst/>
          </a:prstGeom>
          <a:solidFill>
            <a:srgbClr val="C9D9D8"/>
          </a:solidFill>
          <a:ln w="12700">
            <a:solidFill>
              <a:srgbClr val="C9D9D8"/>
            </a:solidFill>
            <a:prstDash val="solid"/>
          </a:ln>
        </p:spPr>
      </p:sp>
      <p:sp>
        <p:nvSpPr>
          <p:cNvPr id="33" name="Text 31"/>
          <p:cNvSpPr txBox="1"/>
          <p:nvPr/>
        </p:nvSpPr>
        <p:spPr>
          <a:xfrm>
            <a:off x="628192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W13</a:t>
            </a:r>
            <a:endParaRPr lang="en-US" sz="700" dirty="0"/>
          </a:p>
        </p:txBody>
      </p:sp>
      <p:sp>
        <p:nvSpPr>
          <p:cNvPr id="34" name="Shape 32"/>
          <p:cNvSpPr/>
          <p:nvPr/>
        </p:nvSpPr>
        <p:spPr>
          <a:xfrm>
            <a:off x="6960108" y="4741164"/>
            <a:ext cx="64008" cy="64008"/>
          </a:xfrm>
          <a:prstGeom prst="ellipse">
            <a:avLst/>
          </a:prstGeom>
          <a:solidFill>
            <a:srgbClr val="C9D9D8"/>
          </a:solidFill>
          <a:ln w="12700">
            <a:solidFill>
              <a:srgbClr val="C9D9D8"/>
            </a:solidFill>
            <a:prstDash val="solid"/>
          </a:ln>
        </p:spPr>
      </p:sp>
      <p:sp>
        <p:nvSpPr>
          <p:cNvPr id="35" name="Text 33"/>
          <p:cNvSpPr txBox="1"/>
          <p:nvPr/>
        </p:nvSpPr>
        <p:spPr>
          <a:xfrm>
            <a:off x="671779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W14</a:t>
            </a:r>
            <a:endParaRPr lang="en-US" sz="700" dirty="0"/>
          </a:p>
        </p:txBody>
      </p:sp>
      <p:sp>
        <p:nvSpPr>
          <p:cNvPr id="36" name="Shape 34"/>
          <p:cNvSpPr/>
          <p:nvPr/>
        </p:nvSpPr>
        <p:spPr>
          <a:xfrm>
            <a:off x="7395972" y="4741164"/>
            <a:ext cx="64008" cy="64008"/>
          </a:xfrm>
          <a:prstGeom prst="ellipse">
            <a:avLst/>
          </a:prstGeom>
          <a:solidFill>
            <a:srgbClr val="C9D9D8"/>
          </a:solidFill>
          <a:ln w="12700">
            <a:solidFill>
              <a:srgbClr val="C9D9D8"/>
            </a:solidFill>
            <a:prstDash val="solid"/>
          </a:ln>
        </p:spPr>
      </p:sp>
      <p:sp>
        <p:nvSpPr>
          <p:cNvPr id="37" name="Text 35"/>
          <p:cNvSpPr txBox="1"/>
          <p:nvPr/>
        </p:nvSpPr>
        <p:spPr>
          <a:xfrm>
            <a:off x="715365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W15</a:t>
            </a:r>
            <a:endParaRPr lang="en-US" sz="700" dirty="0"/>
          </a:p>
        </p:txBody>
      </p:sp>
      <p:sp>
        <p:nvSpPr>
          <p:cNvPr id="38" name="Shape 36"/>
          <p:cNvSpPr/>
          <p:nvPr/>
        </p:nvSpPr>
        <p:spPr>
          <a:xfrm>
            <a:off x="7808976" y="4718304"/>
            <a:ext cx="109728" cy="109728"/>
          </a:xfrm>
          <a:prstGeom prst="ellipse">
            <a:avLst/>
          </a:prstGeom>
          <a:solidFill>
            <a:srgbClr val="0E4D5C"/>
          </a:solidFill>
          <a:ln w="12700">
            <a:solidFill>
              <a:srgbClr val="0E4D5C"/>
            </a:solidFill>
            <a:prstDash val="solid"/>
          </a:ln>
        </p:spPr>
      </p:sp>
      <p:sp>
        <p:nvSpPr>
          <p:cNvPr id="39" name="Text 37"/>
          <p:cNvSpPr txBox="1"/>
          <p:nvPr/>
        </p:nvSpPr>
        <p:spPr>
          <a:xfrm>
            <a:off x="758952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W16</a:t>
            </a:r>
            <a:endParaRPr lang="en-US" sz="700" dirty="0"/>
          </a:p>
        </p:txBody>
      </p:sp>
      <p:sp>
        <p:nvSpPr>
          <p:cNvPr id="40" name="Text 38"/>
          <p:cNvSpPr txBox="1"/>
          <p:nvPr/>
        </p:nvSpPr>
        <p:spPr>
          <a:xfrm>
            <a:off x="731520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Launch</a:t>
            </a:r>
            <a:endParaRPr lang="en-US" sz="700" dirty="0"/>
          </a:p>
        </p:txBody>
      </p:sp>
      <p:sp>
        <p:nvSpPr>
          <p:cNvPr id="41" name="Text 39"/>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100" kern="0" dirty="0">
                <a:solidFill>
                  <a:srgbClr val="1B7F79"/>
                </a:solidFill>
              </a:rPr>
              <a:t>1 · TECHNICAL PROGRESS — SYSTEM DEVELOPMENT</a:t>
            </a:r>
            <a:endParaRPr lang="en-US" sz="1000" dirty="0"/>
          </a:p>
        </p:txBody>
      </p:sp>
      <p:sp>
        <p:nvSpPr>
          <p:cNvPr id="42" name="Text 4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0E4D5C"/>
                </a:solidFill>
              </a:rPr>
              <a:t>Requirements: classification and structure</a:t>
            </a:r>
            <a:endParaRPr lang="en-US" sz="2800" dirty="0"/>
          </a:p>
        </p:txBody>
      </p:sp>
      <p:sp>
        <p:nvSpPr>
          <p:cNvPr id="43" name="Shape 41"/>
          <p:cNvSpPr/>
          <p:nvPr/>
        </p:nvSpPr>
        <p:spPr>
          <a:xfrm>
            <a:off x="457200" y="1188720"/>
            <a:ext cx="1920240" cy="2011680"/>
          </a:xfrm>
          <a:prstGeom prst="roundRect">
            <a:avLst>
              <a:gd name="adj" fmla="val 3810"/>
            </a:avLst>
          </a:prstGeom>
          <a:solidFill>
            <a:srgbClr val="EAF2F2"/>
          </a:solidFill>
          <a:ln w="12700">
            <a:solidFill>
              <a:srgbClr val="EAF2F2"/>
            </a:solidFill>
            <a:prstDash val="solid"/>
          </a:ln>
        </p:spPr>
      </p:sp>
      <p:sp>
        <p:nvSpPr>
          <p:cNvPr id="44" name="Shape 42"/>
          <p:cNvSpPr/>
          <p:nvPr/>
        </p:nvSpPr>
        <p:spPr>
          <a:xfrm>
            <a:off x="594360" y="1325880"/>
            <a:ext cx="731520" cy="365760"/>
          </a:xfrm>
          <a:prstGeom prst="roundRect">
            <a:avLst>
              <a:gd name="adj" fmla="val 15000"/>
            </a:avLst>
          </a:prstGeom>
          <a:solidFill>
            <a:srgbClr val="0E4D5C"/>
          </a:solidFill>
          <a:ln w="12700">
            <a:solidFill>
              <a:srgbClr val="0E4D5C"/>
            </a:solidFill>
            <a:prstDash val="solid"/>
          </a:ln>
        </p:spPr>
      </p:sp>
      <p:sp>
        <p:nvSpPr>
          <p:cNvPr id="45" name="Text 43"/>
          <p:cNvSpPr txBox="1"/>
          <p:nvPr/>
        </p:nvSpPr>
        <p:spPr>
          <a:xfrm>
            <a:off x="594360" y="1325880"/>
            <a:ext cx="731520" cy="365760"/>
          </a:xfrm>
          <a:prstGeom prst="rect">
            <a:avLst/>
          </a:prstGeom>
          <a:noFill/>
          <a:ln/>
        </p:spPr>
        <p:txBody>
          <a:bodyPr wrap="square" lIns="0" tIns="0" rIns="0" bIns="0" rtlCol="0" anchor="ctr"/>
          <a:lstStyle/>
          <a:p>
            <a:pPr algn="ctr" indent="0" marL="0">
              <a:buNone/>
            </a:pPr>
            <a:r>
              <a:rPr lang="en-US" sz="1300" b="1" dirty="0">
                <a:solidFill>
                  <a:srgbClr val="FFFFFF"/>
                </a:solidFill>
              </a:rPr>
              <a:t>FR</a:t>
            </a:r>
            <a:endParaRPr lang="en-US" sz="1300" dirty="0"/>
          </a:p>
        </p:txBody>
      </p:sp>
      <p:sp>
        <p:nvSpPr>
          <p:cNvPr id="46" name="Text 44"/>
          <p:cNvSpPr txBox="1"/>
          <p:nvPr/>
        </p:nvSpPr>
        <p:spPr>
          <a:xfrm>
            <a:off x="1371600" y="1234440"/>
            <a:ext cx="914400" cy="548640"/>
          </a:xfrm>
          <a:prstGeom prst="rect">
            <a:avLst/>
          </a:prstGeom>
          <a:noFill/>
          <a:ln/>
        </p:spPr>
        <p:txBody>
          <a:bodyPr wrap="square" lIns="0" tIns="0" rIns="0" bIns="0" rtlCol="0" anchor="ctr"/>
          <a:lstStyle/>
          <a:p>
            <a:pPr algn="r" indent="0" marL="0">
              <a:buNone/>
            </a:pPr>
            <a:r>
              <a:rPr lang="en-US" sz="3200" b="1" dirty="0">
                <a:solidFill>
                  <a:srgbClr val="0E4D5C"/>
                </a:solidFill>
              </a:rPr>
              <a:t>17</a:t>
            </a:r>
            <a:endParaRPr lang="en-US" sz="3200" dirty="0"/>
          </a:p>
        </p:txBody>
      </p:sp>
      <p:sp>
        <p:nvSpPr>
          <p:cNvPr id="47" name="Text 45"/>
          <p:cNvSpPr txBox="1"/>
          <p:nvPr/>
        </p:nvSpPr>
        <p:spPr>
          <a:xfrm>
            <a:off x="594360" y="1874520"/>
            <a:ext cx="1691640" cy="1234440"/>
          </a:xfrm>
          <a:prstGeom prst="rect">
            <a:avLst/>
          </a:prstGeom>
          <a:noFill/>
          <a:ln/>
        </p:spPr>
        <p:txBody>
          <a:bodyPr wrap="square" lIns="0" tIns="0" rIns="0" bIns="0" rtlCol="0" anchor="t"/>
          <a:lstStyle/>
          <a:p>
            <a:pPr indent="0" marL="0">
              <a:buNone/>
            </a:pPr>
            <a:r>
              <a:rPr lang="en-US" sz="1300" b="1" dirty="0">
                <a:solidFill>
                  <a:srgbClr val="1F2A30"/>
                </a:solidFill>
              </a:rPr>
              <a:t>Functional</a:t>
            </a:r>
            <a:endParaRPr lang="en-US" sz="1300" dirty="0"/>
          </a:p>
          <a:p>
            <a:pPr indent="0" marL="0">
              <a:buNone/>
            </a:pPr>
            <a:r>
              <a:rPr lang="en-US" sz="1100" dirty="0">
                <a:solidFill>
                  <a:srgbClr val="5F6B70"/>
                </a:solidFill>
              </a:rPr>
              <a:t>FR-01…17 from UC1</a:t>
            </a:r>
            <a:endParaRPr lang="en-US" sz="1300" dirty="0"/>
          </a:p>
        </p:txBody>
      </p:sp>
      <p:sp>
        <p:nvSpPr>
          <p:cNvPr id="48" name="Shape 46"/>
          <p:cNvSpPr/>
          <p:nvPr/>
        </p:nvSpPr>
        <p:spPr>
          <a:xfrm>
            <a:off x="2560320" y="1188720"/>
            <a:ext cx="1920240" cy="2011680"/>
          </a:xfrm>
          <a:prstGeom prst="roundRect">
            <a:avLst>
              <a:gd name="adj" fmla="val 3810"/>
            </a:avLst>
          </a:prstGeom>
          <a:solidFill>
            <a:srgbClr val="EAF2F2"/>
          </a:solidFill>
          <a:ln w="12700">
            <a:solidFill>
              <a:srgbClr val="EAF2F2"/>
            </a:solidFill>
            <a:prstDash val="solid"/>
          </a:ln>
        </p:spPr>
      </p:sp>
      <p:sp>
        <p:nvSpPr>
          <p:cNvPr id="49" name="Shape 47"/>
          <p:cNvSpPr/>
          <p:nvPr/>
        </p:nvSpPr>
        <p:spPr>
          <a:xfrm>
            <a:off x="2697480" y="1325880"/>
            <a:ext cx="731520" cy="365760"/>
          </a:xfrm>
          <a:prstGeom prst="roundRect">
            <a:avLst>
              <a:gd name="adj" fmla="val 15000"/>
            </a:avLst>
          </a:prstGeom>
          <a:solidFill>
            <a:srgbClr val="1B7F79"/>
          </a:solidFill>
          <a:ln w="12700">
            <a:solidFill>
              <a:srgbClr val="1B7F79"/>
            </a:solidFill>
            <a:prstDash val="solid"/>
          </a:ln>
        </p:spPr>
      </p:sp>
      <p:sp>
        <p:nvSpPr>
          <p:cNvPr id="50" name="Text 48"/>
          <p:cNvSpPr txBox="1"/>
          <p:nvPr/>
        </p:nvSpPr>
        <p:spPr>
          <a:xfrm>
            <a:off x="2697480" y="1325880"/>
            <a:ext cx="731520" cy="365760"/>
          </a:xfrm>
          <a:prstGeom prst="rect">
            <a:avLst/>
          </a:prstGeom>
          <a:noFill/>
          <a:ln/>
        </p:spPr>
        <p:txBody>
          <a:bodyPr wrap="square" lIns="0" tIns="0" rIns="0" bIns="0" rtlCol="0" anchor="ctr"/>
          <a:lstStyle/>
          <a:p>
            <a:pPr algn="ctr" indent="0" marL="0">
              <a:buNone/>
            </a:pPr>
            <a:r>
              <a:rPr lang="en-US" sz="1300" b="1" dirty="0">
                <a:solidFill>
                  <a:srgbClr val="FFFFFF"/>
                </a:solidFill>
              </a:rPr>
              <a:t>NFR</a:t>
            </a:r>
            <a:endParaRPr lang="en-US" sz="1300" dirty="0"/>
          </a:p>
        </p:txBody>
      </p:sp>
      <p:sp>
        <p:nvSpPr>
          <p:cNvPr id="51" name="Text 49"/>
          <p:cNvSpPr txBox="1"/>
          <p:nvPr/>
        </p:nvSpPr>
        <p:spPr>
          <a:xfrm>
            <a:off x="3474720" y="1234440"/>
            <a:ext cx="914400" cy="548640"/>
          </a:xfrm>
          <a:prstGeom prst="rect">
            <a:avLst/>
          </a:prstGeom>
          <a:noFill/>
          <a:ln/>
        </p:spPr>
        <p:txBody>
          <a:bodyPr wrap="square" lIns="0" tIns="0" rIns="0" bIns="0" rtlCol="0" anchor="ctr"/>
          <a:lstStyle/>
          <a:p>
            <a:pPr algn="r" indent="0" marL="0">
              <a:buNone/>
            </a:pPr>
            <a:r>
              <a:rPr lang="en-US" sz="3200" b="1" dirty="0">
                <a:solidFill>
                  <a:srgbClr val="0E4D5C"/>
                </a:solidFill>
              </a:rPr>
              <a:t>10</a:t>
            </a:r>
            <a:endParaRPr lang="en-US" sz="3200" dirty="0"/>
          </a:p>
        </p:txBody>
      </p:sp>
      <p:sp>
        <p:nvSpPr>
          <p:cNvPr id="52" name="Text 50"/>
          <p:cNvSpPr txBox="1"/>
          <p:nvPr/>
        </p:nvSpPr>
        <p:spPr>
          <a:xfrm>
            <a:off x="2697480" y="1874520"/>
            <a:ext cx="1691640" cy="1234440"/>
          </a:xfrm>
          <a:prstGeom prst="rect">
            <a:avLst/>
          </a:prstGeom>
          <a:noFill/>
          <a:ln/>
        </p:spPr>
        <p:txBody>
          <a:bodyPr wrap="square" lIns="0" tIns="0" rIns="0" bIns="0" rtlCol="0" anchor="t"/>
          <a:lstStyle/>
          <a:p>
            <a:pPr indent="0" marL="0">
              <a:buNone/>
            </a:pPr>
            <a:r>
              <a:rPr lang="en-US" sz="1300" b="1" dirty="0">
                <a:solidFill>
                  <a:srgbClr val="1F2A30"/>
                </a:solidFill>
              </a:rPr>
              <a:t>Non-functional</a:t>
            </a:r>
            <a:endParaRPr lang="en-US" sz="1300" dirty="0"/>
          </a:p>
          <a:p>
            <a:pPr indent="0" marL="0">
              <a:buNone/>
            </a:pPr>
            <a:r>
              <a:rPr lang="en-US" sz="1100" dirty="0">
                <a:solidFill>
                  <a:srgbClr val="5F6B70"/>
                </a:solidFill>
              </a:rPr>
              <a:t>ISO 25010: performance, reliability, usability, security…</a:t>
            </a:r>
            <a:endParaRPr lang="en-US" sz="1300" dirty="0"/>
          </a:p>
        </p:txBody>
      </p:sp>
      <p:sp>
        <p:nvSpPr>
          <p:cNvPr id="53" name="Shape 51"/>
          <p:cNvSpPr/>
          <p:nvPr/>
        </p:nvSpPr>
        <p:spPr>
          <a:xfrm>
            <a:off x="4663440" y="1188720"/>
            <a:ext cx="1920240" cy="2011680"/>
          </a:xfrm>
          <a:prstGeom prst="roundRect">
            <a:avLst>
              <a:gd name="adj" fmla="val 3810"/>
            </a:avLst>
          </a:prstGeom>
          <a:solidFill>
            <a:srgbClr val="EAF2F2"/>
          </a:solidFill>
          <a:ln w="12700">
            <a:solidFill>
              <a:srgbClr val="EAF2F2"/>
            </a:solidFill>
            <a:prstDash val="solid"/>
          </a:ln>
        </p:spPr>
      </p:sp>
      <p:sp>
        <p:nvSpPr>
          <p:cNvPr id="54" name="Shape 52"/>
          <p:cNvSpPr/>
          <p:nvPr/>
        </p:nvSpPr>
        <p:spPr>
          <a:xfrm>
            <a:off x="4800600" y="1325880"/>
            <a:ext cx="731520" cy="365760"/>
          </a:xfrm>
          <a:prstGeom prst="roundRect">
            <a:avLst>
              <a:gd name="adj" fmla="val 15000"/>
            </a:avLst>
          </a:prstGeom>
          <a:solidFill>
            <a:srgbClr val="E09F3E"/>
          </a:solidFill>
          <a:ln w="12700">
            <a:solidFill>
              <a:srgbClr val="E09F3E"/>
            </a:solidFill>
            <a:prstDash val="solid"/>
          </a:ln>
        </p:spPr>
      </p:sp>
      <p:sp>
        <p:nvSpPr>
          <p:cNvPr id="55" name="Text 53"/>
          <p:cNvSpPr txBox="1"/>
          <p:nvPr/>
        </p:nvSpPr>
        <p:spPr>
          <a:xfrm>
            <a:off x="4800600" y="1325880"/>
            <a:ext cx="731520" cy="365760"/>
          </a:xfrm>
          <a:prstGeom prst="rect">
            <a:avLst/>
          </a:prstGeom>
          <a:noFill/>
          <a:ln/>
        </p:spPr>
        <p:txBody>
          <a:bodyPr wrap="square" lIns="0" tIns="0" rIns="0" bIns="0" rtlCol="0" anchor="ctr"/>
          <a:lstStyle/>
          <a:p>
            <a:pPr algn="ctr" indent="0" marL="0">
              <a:buNone/>
            </a:pPr>
            <a:r>
              <a:rPr lang="en-US" sz="1300" b="1" dirty="0">
                <a:solidFill>
                  <a:srgbClr val="FFFFFF"/>
                </a:solidFill>
              </a:rPr>
              <a:t>BR</a:t>
            </a:r>
            <a:endParaRPr lang="en-US" sz="1300" dirty="0"/>
          </a:p>
        </p:txBody>
      </p:sp>
      <p:sp>
        <p:nvSpPr>
          <p:cNvPr id="56" name="Text 54"/>
          <p:cNvSpPr txBox="1"/>
          <p:nvPr/>
        </p:nvSpPr>
        <p:spPr>
          <a:xfrm>
            <a:off x="5577840" y="1234440"/>
            <a:ext cx="914400" cy="548640"/>
          </a:xfrm>
          <a:prstGeom prst="rect">
            <a:avLst/>
          </a:prstGeom>
          <a:noFill/>
          <a:ln/>
        </p:spPr>
        <p:txBody>
          <a:bodyPr wrap="square" lIns="0" tIns="0" rIns="0" bIns="0" rtlCol="0" anchor="ctr"/>
          <a:lstStyle/>
          <a:p>
            <a:pPr algn="r" indent="0" marL="0">
              <a:buNone/>
            </a:pPr>
            <a:r>
              <a:rPr lang="en-US" sz="3200" b="1" dirty="0">
                <a:solidFill>
                  <a:srgbClr val="0E4D5C"/>
                </a:solidFill>
              </a:rPr>
              <a:t>14</a:t>
            </a:r>
            <a:endParaRPr lang="en-US" sz="3200" dirty="0"/>
          </a:p>
        </p:txBody>
      </p:sp>
      <p:sp>
        <p:nvSpPr>
          <p:cNvPr id="57" name="Text 55"/>
          <p:cNvSpPr txBox="1"/>
          <p:nvPr/>
        </p:nvSpPr>
        <p:spPr>
          <a:xfrm>
            <a:off x="4800600" y="1874520"/>
            <a:ext cx="1691640" cy="1234440"/>
          </a:xfrm>
          <a:prstGeom prst="rect">
            <a:avLst/>
          </a:prstGeom>
          <a:noFill/>
          <a:ln/>
        </p:spPr>
        <p:txBody>
          <a:bodyPr wrap="square" lIns="0" tIns="0" rIns="0" bIns="0" rtlCol="0" anchor="t"/>
          <a:lstStyle/>
          <a:p>
            <a:pPr indent="0" marL="0">
              <a:buNone/>
            </a:pPr>
            <a:r>
              <a:rPr lang="en-US" sz="1300" b="1" dirty="0">
                <a:solidFill>
                  <a:srgbClr val="1F2A30"/>
                </a:solidFill>
              </a:rPr>
              <a:t>Business rules</a:t>
            </a:r>
            <a:endParaRPr lang="en-US" sz="1300" dirty="0"/>
          </a:p>
          <a:p>
            <a:pPr indent="0" marL="0">
              <a:buNone/>
            </a:pPr>
            <a:r>
              <a:rPr lang="en-US" sz="1100" dirty="0">
                <a:solidFill>
                  <a:srgbClr val="5F6B70"/>
                </a:solidFill>
              </a:rPr>
              <a:t>tax, price, payment, return, rental, staff</a:t>
            </a:r>
            <a:endParaRPr lang="en-US" sz="1300" dirty="0"/>
          </a:p>
        </p:txBody>
      </p:sp>
      <p:sp>
        <p:nvSpPr>
          <p:cNvPr id="58" name="Shape 56"/>
          <p:cNvSpPr/>
          <p:nvPr/>
        </p:nvSpPr>
        <p:spPr>
          <a:xfrm>
            <a:off x="6766560" y="1188720"/>
            <a:ext cx="1920240" cy="2011680"/>
          </a:xfrm>
          <a:prstGeom prst="roundRect">
            <a:avLst>
              <a:gd name="adj" fmla="val 3810"/>
            </a:avLst>
          </a:prstGeom>
          <a:solidFill>
            <a:srgbClr val="EAF2F2"/>
          </a:solidFill>
          <a:ln w="12700">
            <a:solidFill>
              <a:srgbClr val="EAF2F2"/>
            </a:solidFill>
            <a:prstDash val="solid"/>
          </a:ln>
        </p:spPr>
      </p:sp>
      <p:sp>
        <p:nvSpPr>
          <p:cNvPr id="59" name="Shape 57"/>
          <p:cNvSpPr/>
          <p:nvPr/>
        </p:nvSpPr>
        <p:spPr>
          <a:xfrm>
            <a:off x="6903720" y="1325880"/>
            <a:ext cx="731520" cy="365760"/>
          </a:xfrm>
          <a:prstGeom prst="roundRect">
            <a:avLst>
              <a:gd name="adj" fmla="val 15000"/>
            </a:avLst>
          </a:prstGeom>
          <a:solidFill>
            <a:srgbClr val="34495E"/>
          </a:solidFill>
          <a:ln w="12700">
            <a:solidFill>
              <a:srgbClr val="34495E"/>
            </a:solidFill>
            <a:prstDash val="solid"/>
          </a:ln>
        </p:spPr>
      </p:sp>
      <p:sp>
        <p:nvSpPr>
          <p:cNvPr id="60" name="Text 58"/>
          <p:cNvSpPr txBox="1"/>
          <p:nvPr/>
        </p:nvSpPr>
        <p:spPr>
          <a:xfrm>
            <a:off x="6903720" y="1325880"/>
            <a:ext cx="731520" cy="365760"/>
          </a:xfrm>
          <a:prstGeom prst="rect">
            <a:avLst/>
          </a:prstGeom>
          <a:noFill/>
          <a:ln/>
        </p:spPr>
        <p:txBody>
          <a:bodyPr wrap="square" lIns="0" tIns="0" rIns="0" bIns="0" rtlCol="0" anchor="ctr"/>
          <a:lstStyle/>
          <a:p>
            <a:pPr algn="ctr" indent="0" marL="0">
              <a:buNone/>
            </a:pPr>
            <a:r>
              <a:rPr lang="en-US" sz="1300" b="1" dirty="0">
                <a:solidFill>
                  <a:srgbClr val="FFFFFF"/>
                </a:solidFill>
              </a:rPr>
              <a:t>IR</a:t>
            </a:r>
            <a:endParaRPr lang="en-US" sz="1300" dirty="0"/>
          </a:p>
        </p:txBody>
      </p:sp>
      <p:sp>
        <p:nvSpPr>
          <p:cNvPr id="61" name="Text 59"/>
          <p:cNvSpPr txBox="1"/>
          <p:nvPr/>
        </p:nvSpPr>
        <p:spPr>
          <a:xfrm>
            <a:off x="7680960" y="1234440"/>
            <a:ext cx="914400" cy="548640"/>
          </a:xfrm>
          <a:prstGeom prst="rect">
            <a:avLst/>
          </a:prstGeom>
          <a:noFill/>
          <a:ln/>
        </p:spPr>
        <p:txBody>
          <a:bodyPr wrap="square" lIns="0" tIns="0" rIns="0" bIns="0" rtlCol="0" anchor="ctr"/>
          <a:lstStyle/>
          <a:p>
            <a:pPr algn="r" indent="0" marL="0">
              <a:buNone/>
            </a:pPr>
            <a:r>
              <a:rPr lang="en-US" sz="3200" b="1" dirty="0">
                <a:solidFill>
                  <a:srgbClr val="0E4D5C"/>
                </a:solidFill>
              </a:rPr>
              <a:t>10</a:t>
            </a:r>
            <a:endParaRPr lang="en-US" sz="3200" dirty="0"/>
          </a:p>
        </p:txBody>
      </p:sp>
      <p:sp>
        <p:nvSpPr>
          <p:cNvPr id="62" name="Text 60"/>
          <p:cNvSpPr txBox="1"/>
          <p:nvPr/>
        </p:nvSpPr>
        <p:spPr>
          <a:xfrm>
            <a:off x="6903720" y="1874520"/>
            <a:ext cx="1691640" cy="1234440"/>
          </a:xfrm>
          <a:prstGeom prst="rect">
            <a:avLst/>
          </a:prstGeom>
          <a:noFill/>
          <a:ln/>
        </p:spPr>
        <p:txBody>
          <a:bodyPr wrap="square" lIns="0" tIns="0" rIns="0" bIns="0" rtlCol="0" anchor="t"/>
          <a:lstStyle/>
          <a:p>
            <a:pPr indent="0" marL="0">
              <a:buNone/>
            </a:pPr>
            <a:r>
              <a:rPr lang="en-US" sz="1300" b="1" dirty="0">
                <a:solidFill>
                  <a:srgbClr val="1F2A30"/>
                </a:solidFill>
              </a:rPr>
              <a:t>Interface reqs.</a:t>
            </a:r>
            <a:endParaRPr lang="en-US" sz="1300" dirty="0"/>
          </a:p>
          <a:p>
            <a:pPr indent="0" marL="0">
              <a:buNone/>
            </a:pPr>
            <a:r>
              <a:rPr lang="en-US" sz="1100" dirty="0">
                <a:solidFill>
                  <a:srgbClr val="5F6B70"/>
                </a:solidFill>
              </a:rPr>
              <a:t>4 external systems + logging</a:t>
            </a:r>
            <a:endParaRPr lang="en-US" sz="1300" dirty="0"/>
          </a:p>
        </p:txBody>
      </p:sp>
      <p:sp>
        <p:nvSpPr>
          <p:cNvPr id="63" name="Text 61"/>
          <p:cNvSpPr txBox="1"/>
          <p:nvPr/>
        </p:nvSpPr>
        <p:spPr>
          <a:xfrm>
            <a:off x="457200" y="3383280"/>
            <a:ext cx="8229600" cy="914400"/>
          </a:xfrm>
          <a:prstGeom prst="rect">
            <a:avLst/>
          </a:prstGeom>
          <a:noFill/>
          <a:ln/>
        </p:spPr>
        <p:txBody>
          <a:bodyPr wrap="square" lIns="0" tIns="0" rIns="0" bIns="0" rtlCol="0" anchor="ctr"/>
          <a:lstStyle/>
          <a:p>
            <a:pPr indent="0" marL="0">
              <a:spcAft>
                <a:spcPts val="600"/>
              </a:spcAft>
              <a:buNone/>
            </a:pPr>
            <a:r>
              <a:rPr lang="en-US" sz="1200" b="1" dirty="0">
                <a:solidFill>
                  <a:srgbClr val="0E4D5C"/>
                </a:solidFill>
              </a:rPr>
              <a:t>Conventions: </a:t>
            </a:r>
            <a:pPr indent="0" marL="0">
              <a:spcAft>
                <a:spcPts val="600"/>
              </a:spcAft>
              <a:buNone/>
            </a:pPr>
            <a:r>
              <a:rPr lang="en-US" sz="1200" dirty="0">
                <a:solidFill>
                  <a:srgbClr val="1F2A30"/>
                </a:solidFill>
              </a:rPr>
              <a:t>unique IDs, MoSCoW priority, every requirement unambiguous and verifiable, every FR traced to its use case step and to the BR/IR it implements.</a:t>
            </a:r>
            <a:endParaRPr lang="en-US" sz="1200" dirty="0"/>
          </a:p>
          <a:p>
            <a:pPr indent="0" marL="0">
              <a:spcAft>
                <a:spcPts val="600"/>
              </a:spcAft>
              <a:buNone/>
            </a:pPr>
            <a:r>
              <a:rPr lang="en-US" sz="1200" b="1" dirty="0">
                <a:solidFill>
                  <a:srgbClr val="E09F3E"/>
                </a:solidFill>
              </a:rPr>
              <a:t>Still to develop (W07): </a:t>
            </a:r>
            <a:pPr indent="0" marL="0">
              <a:spcAft>
                <a:spcPts val="600"/>
              </a:spcAft>
              <a:buNone/>
            </a:pPr>
            <a:r>
              <a:rPr lang="en-US" sz="1200" dirty="0">
                <a:solidFill>
                  <a:srgbClr val="1F2A30"/>
                </a:solidFill>
              </a:rPr>
              <a:t>FRs of UC2–UC5, usability and UI requirements, data requirements, verification method for each requirement.</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274320" y="4681728"/>
            <a:ext cx="1005840" cy="182880"/>
          </a:xfrm>
          <a:prstGeom prst="rect">
            <a:avLst/>
          </a:prstGeom>
          <a:noFill/>
          <a:ln/>
        </p:spPr>
        <p:txBody>
          <a:bodyPr wrap="square" lIns="0" tIns="0" rIns="0" bIns="0" rtlCol="0" anchor="ctr"/>
          <a:lstStyle/>
          <a:p>
            <a:pPr indent="0" marL="0">
              <a:buNone/>
            </a:pPr>
            <a:r>
              <a:rPr lang="en-US" sz="800" b="1" dirty="0">
                <a:solidFill>
                  <a:srgbClr val="5F6B70"/>
                </a:solidFill>
              </a:rPr>
              <a:t>Course timeline</a:t>
            </a:r>
            <a:endParaRPr lang="en-US" sz="800" dirty="0"/>
          </a:p>
        </p:txBody>
      </p:sp>
      <p:sp>
        <p:nvSpPr>
          <p:cNvPr id="3" name="Shape 1"/>
          <p:cNvSpPr/>
          <p:nvPr/>
        </p:nvSpPr>
        <p:spPr>
          <a:xfrm>
            <a:off x="1325880" y="4773168"/>
            <a:ext cx="6537960" cy="0"/>
          </a:xfrm>
          <a:prstGeom prst="line">
            <a:avLst/>
          </a:prstGeom>
          <a:noFill/>
          <a:ln w="19050">
            <a:solidFill>
              <a:srgbClr val="C9D9D8"/>
            </a:solidFill>
            <a:prstDash val="solid"/>
          </a:ln>
        </p:spPr>
      </p:sp>
      <p:sp>
        <p:nvSpPr>
          <p:cNvPr id="4" name="Shape 2"/>
          <p:cNvSpPr/>
          <p:nvPr/>
        </p:nvSpPr>
        <p:spPr>
          <a:xfrm>
            <a:off x="1325880" y="4773168"/>
            <a:ext cx="2179320" cy="0"/>
          </a:xfrm>
          <a:prstGeom prst="line">
            <a:avLst/>
          </a:prstGeom>
          <a:noFill/>
          <a:ln w="31750">
            <a:solidFill>
              <a:srgbClr val="1B7F79"/>
            </a:solidFill>
            <a:prstDash val="solid"/>
          </a:ln>
        </p:spPr>
      </p:sp>
      <p:sp>
        <p:nvSpPr>
          <p:cNvPr id="5" name="Shape 3"/>
          <p:cNvSpPr/>
          <p:nvPr/>
        </p:nvSpPr>
        <p:spPr>
          <a:xfrm>
            <a:off x="1293876" y="4741164"/>
            <a:ext cx="64008" cy="64008"/>
          </a:xfrm>
          <a:prstGeom prst="ellipse">
            <a:avLst/>
          </a:prstGeom>
          <a:solidFill>
            <a:srgbClr val="1B7F79"/>
          </a:solidFill>
          <a:ln w="12700">
            <a:solidFill>
              <a:srgbClr val="1B7F79"/>
            </a:solidFill>
            <a:prstDash val="solid"/>
          </a:ln>
        </p:spPr>
      </p:sp>
      <p:sp>
        <p:nvSpPr>
          <p:cNvPr id="6" name="Text 4"/>
          <p:cNvSpPr txBox="1"/>
          <p:nvPr/>
        </p:nvSpPr>
        <p:spPr>
          <a:xfrm>
            <a:off x="105156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a:t>
            </a:r>
            <a:endParaRPr lang="en-US" sz="700" dirty="0"/>
          </a:p>
        </p:txBody>
      </p:sp>
      <p:sp>
        <p:nvSpPr>
          <p:cNvPr id="7" name="Shape 5"/>
          <p:cNvSpPr/>
          <p:nvPr/>
        </p:nvSpPr>
        <p:spPr>
          <a:xfrm>
            <a:off x="1729740" y="4741164"/>
            <a:ext cx="64008" cy="64008"/>
          </a:xfrm>
          <a:prstGeom prst="ellipse">
            <a:avLst/>
          </a:prstGeom>
          <a:solidFill>
            <a:srgbClr val="1B7F79"/>
          </a:solidFill>
          <a:ln w="12700">
            <a:solidFill>
              <a:srgbClr val="1B7F79"/>
            </a:solidFill>
            <a:prstDash val="solid"/>
          </a:ln>
        </p:spPr>
      </p:sp>
      <p:sp>
        <p:nvSpPr>
          <p:cNvPr id="8" name="Text 6"/>
          <p:cNvSpPr txBox="1"/>
          <p:nvPr/>
        </p:nvSpPr>
        <p:spPr>
          <a:xfrm>
            <a:off x="148742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W2</a:t>
            </a:r>
            <a:endParaRPr lang="en-US" sz="700" dirty="0"/>
          </a:p>
        </p:txBody>
      </p:sp>
      <p:sp>
        <p:nvSpPr>
          <p:cNvPr id="9" name="Shape 7"/>
          <p:cNvSpPr/>
          <p:nvPr/>
        </p:nvSpPr>
        <p:spPr>
          <a:xfrm>
            <a:off x="2165604" y="4741164"/>
            <a:ext cx="64008" cy="64008"/>
          </a:xfrm>
          <a:prstGeom prst="ellipse">
            <a:avLst/>
          </a:prstGeom>
          <a:solidFill>
            <a:srgbClr val="1B7F79"/>
          </a:solidFill>
          <a:ln w="12700">
            <a:solidFill>
              <a:srgbClr val="1B7F79"/>
            </a:solidFill>
            <a:prstDash val="solid"/>
          </a:ln>
        </p:spPr>
      </p:sp>
      <p:sp>
        <p:nvSpPr>
          <p:cNvPr id="10" name="Text 8"/>
          <p:cNvSpPr txBox="1"/>
          <p:nvPr/>
        </p:nvSpPr>
        <p:spPr>
          <a:xfrm>
            <a:off x="192328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W3</a:t>
            </a:r>
            <a:endParaRPr lang="en-US" sz="700" dirty="0"/>
          </a:p>
        </p:txBody>
      </p:sp>
      <p:sp>
        <p:nvSpPr>
          <p:cNvPr id="11" name="Shape 9"/>
          <p:cNvSpPr/>
          <p:nvPr/>
        </p:nvSpPr>
        <p:spPr>
          <a:xfrm>
            <a:off x="2578608" y="4718304"/>
            <a:ext cx="109728" cy="109728"/>
          </a:xfrm>
          <a:prstGeom prst="ellipse">
            <a:avLst/>
          </a:prstGeom>
          <a:solidFill>
            <a:srgbClr val="1B7F79"/>
          </a:solidFill>
          <a:ln w="12700">
            <a:solidFill>
              <a:srgbClr val="1B7F79"/>
            </a:solidFill>
            <a:prstDash val="solid"/>
          </a:ln>
        </p:spPr>
      </p:sp>
      <p:sp>
        <p:nvSpPr>
          <p:cNvPr id="12" name="Text 10"/>
          <p:cNvSpPr txBox="1"/>
          <p:nvPr/>
        </p:nvSpPr>
        <p:spPr>
          <a:xfrm>
            <a:off x="235915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W4</a:t>
            </a:r>
            <a:endParaRPr lang="en-US" sz="700" dirty="0"/>
          </a:p>
        </p:txBody>
      </p:sp>
      <p:sp>
        <p:nvSpPr>
          <p:cNvPr id="13" name="Text 11"/>
          <p:cNvSpPr txBox="1"/>
          <p:nvPr/>
        </p:nvSpPr>
        <p:spPr>
          <a:xfrm>
            <a:off x="2084832"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Process models</a:t>
            </a:r>
            <a:endParaRPr lang="en-US" sz="700" dirty="0"/>
          </a:p>
        </p:txBody>
      </p:sp>
      <p:sp>
        <p:nvSpPr>
          <p:cNvPr id="14" name="Shape 12"/>
          <p:cNvSpPr/>
          <p:nvPr/>
        </p:nvSpPr>
        <p:spPr>
          <a:xfrm>
            <a:off x="3037332" y="4741164"/>
            <a:ext cx="64008" cy="64008"/>
          </a:xfrm>
          <a:prstGeom prst="ellipse">
            <a:avLst/>
          </a:prstGeom>
          <a:solidFill>
            <a:srgbClr val="1B7F79"/>
          </a:solidFill>
          <a:ln w="12700">
            <a:solidFill>
              <a:srgbClr val="1B7F79"/>
            </a:solidFill>
            <a:prstDash val="solid"/>
          </a:ln>
        </p:spPr>
      </p:sp>
      <p:sp>
        <p:nvSpPr>
          <p:cNvPr id="15" name="Text 13"/>
          <p:cNvSpPr txBox="1"/>
          <p:nvPr/>
        </p:nvSpPr>
        <p:spPr>
          <a:xfrm>
            <a:off x="279501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W5</a:t>
            </a:r>
            <a:endParaRPr lang="en-US" sz="700" dirty="0"/>
          </a:p>
        </p:txBody>
      </p:sp>
      <p:sp>
        <p:nvSpPr>
          <p:cNvPr id="16" name="Shape 14"/>
          <p:cNvSpPr/>
          <p:nvPr/>
        </p:nvSpPr>
        <p:spPr>
          <a:xfrm>
            <a:off x="3427476" y="4695444"/>
            <a:ext cx="155448" cy="155448"/>
          </a:xfrm>
          <a:prstGeom prst="ellipse">
            <a:avLst/>
          </a:prstGeom>
          <a:solidFill>
            <a:srgbClr val="E09F3E"/>
          </a:solidFill>
          <a:ln w="12700">
            <a:solidFill>
              <a:srgbClr val="E09F3E"/>
            </a:solidFill>
            <a:prstDash val="solid"/>
          </a:ln>
        </p:spPr>
      </p:sp>
      <p:sp>
        <p:nvSpPr>
          <p:cNvPr id="17" name="Text 15"/>
          <p:cNvSpPr txBox="1"/>
          <p:nvPr/>
        </p:nvSpPr>
        <p:spPr>
          <a:xfrm>
            <a:off x="3230880" y="4855464"/>
            <a:ext cx="548640" cy="146304"/>
          </a:xfrm>
          <a:prstGeom prst="rect">
            <a:avLst/>
          </a:prstGeom>
          <a:noFill/>
          <a:ln/>
        </p:spPr>
        <p:txBody>
          <a:bodyPr wrap="square" lIns="0" tIns="0" rIns="0" bIns="0" rtlCol="0" anchor="ctr"/>
          <a:lstStyle/>
          <a:p>
            <a:pPr algn="ctr" indent="0" marL="0">
              <a:buNone/>
            </a:pPr>
            <a:r>
              <a:rPr lang="en-US" sz="700" b="1" dirty="0">
                <a:solidFill>
                  <a:srgbClr val="E09F3E"/>
                </a:solidFill>
              </a:rPr>
              <a:t>W6 · now</a:t>
            </a:r>
            <a:endParaRPr lang="en-US" sz="700" dirty="0"/>
          </a:p>
        </p:txBody>
      </p:sp>
      <p:sp>
        <p:nvSpPr>
          <p:cNvPr id="18" name="Shape 16"/>
          <p:cNvSpPr/>
          <p:nvPr/>
        </p:nvSpPr>
        <p:spPr>
          <a:xfrm>
            <a:off x="3886200" y="4718304"/>
            <a:ext cx="109728" cy="109728"/>
          </a:xfrm>
          <a:prstGeom prst="ellipse">
            <a:avLst/>
          </a:prstGeom>
          <a:solidFill>
            <a:srgbClr val="0E4D5C"/>
          </a:solidFill>
          <a:ln w="12700">
            <a:solidFill>
              <a:srgbClr val="0E4D5C"/>
            </a:solidFill>
            <a:prstDash val="solid"/>
          </a:ln>
        </p:spPr>
      </p:sp>
      <p:sp>
        <p:nvSpPr>
          <p:cNvPr id="19" name="Text 17"/>
          <p:cNvSpPr txBox="1"/>
          <p:nvPr/>
        </p:nvSpPr>
        <p:spPr>
          <a:xfrm>
            <a:off x="366674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W7</a:t>
            </a:r>
            <a:endParaRPr lang="en-US" sz="700" dirty="0"/>
          </a:p>
        </p:txBody>
      </p:sp>
      <p:sp>
        <p:nvSpPr>
          <p:cNvPr id="20" name="Text 18"/>
          <p:cNvSpPr txBox="1"/>
          <p:nvPr/>
        </p:nvSpPr>
        <p:spPr>
          <a:xfrm>
            <a:off x="3392424"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SRS</a:t>
            </a:r>
            <a:endParaRPr lang="en-US" sz="700" dirty="0"/>
          </a:p>
        </p:txBody>
      </p:sp>
      <p:sp>
        <p:nvSpPr>
          <p:cNvPr id="21" name="Shape 19"/>
          <p:cNvSpPr/>
          <p:nvPr/>
        </p:nvSpPr>
        <p:spPr>
          <a:xfrm>
            <a:off x="4344924" y="4741164"/>
            <a:ext cx="64008" cy="64008"/>
          </a:xfrm>
          <a:prstGeom prst="ellipse">
            <a:avLst/>
          </a:prstGeom>
          <a:solidFill>
            <a:srgbClr val="C9D9D8"/>
          </a:solidFill>
          <a:ln w="12700">
            <a:solidFill>
              <a:srgbClr val="C9D9D8"/>
            </a:solidFill>
            <a:prstDash val="solid"/>
          </a:ln>
        </p:spPr>
      </p:sp>
      <p:sp>
        <p:nvSpPr>
          <p:cNvPr id="22" name="Text 20"/>
          <p:cNvSpPr txBox="1"/>
          <p:nvPr/>
        </p:nvSpPr>
        <p:spPr>
          <a:xfrm>
            <a:off x="410260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W8</a:t>
            </a:r>
            <a:endParaRPr lang="en-US" sz="700" dirty="0"/>
          </a:p>
        </p:txBody>
      </p:sp>
      <p:sp>
        <p:nvSpPr>
          <p:cNvPr id="23" name="Shape 21"/>
          <p:cNvSpPr/>
          <p:nvPr/>
        </p:nvSpPr>
        <p:spPr>
          <a:xfrm>
            <a:off x="4780788" y="4741164"/>
            <a:ext cx="64008" cy="64008"/>
          </a:xfrm>
          <a:prstGeom prst="ellipse">
            <a:avLst/>
          </a:prstGeom>
          <a:solidFill>
            <a:srgbClr val="C9D9D8"/>
          </a:solidFill>
          <a:ln w="12700">
            <a:solidFill>
              <a:srgbClr val="C9D9D8"/>
            </a:solidFill>
            <a:prstDash val="solid"/>
          </a:ln>
        </p:spPr>
      </p:sp>
      <p:sp>
        <p:nvSpPr>
          <p:cNvPr id="24" name="Text 22"/>
          <p:cNvSpPr txBox="1"/>
          <p:nvPr/>
        </p:nvSpPr>
        <p:spPr>
          <a:xfrm>
            <a:off x="453847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W9</a:t>
            </a:r>
            <a:endParaRPr lang="en-US" sz="700" dirty="0"/>
          </a:p>
        </p:txBody>
      </p:sp>
      <p:sp>
        <p:nvSpPr>
          <p:cNvPr id="25" name="Shape 23"/>
          <p:cNvSpPr/>
          <p:nvPr/>
        </p:nvSpPr>
        <p:spPr>
          <a:xfrm>
            <a:off x="5216652" y="4741164"/>
            <a:ext cx="64008" cy="64008"/>
          </a:xfrm>
          <a:prstGeom prst="ellipse">
            <a:avLst/>
          </a:prstGeom>
          <a:solidFill>
            <a:srgbClr val="C9D9D8"/>
          </a:solidFill>
          <a:ln w="12700">
            <a:solidFill>
              <a:srgbClr val="C9D9D8"/>
            </a:solidFill>
            <a:prstDash val="solid"/>
          </a:ln>
        </p:spPr>
      </p:sp>
      <p:sp>
        <p:nvSpPr>
          <p:cNvPr id="26" name="Text 24"/>
          <p:cNvSpPr txBox="1"/>
          <p:nvPr/>
        </p:nvSpPr>
        <p:spPr>
          <a:xfrm>
            <a:off x="497433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W10</a:t>
            </a:r>
            <a:endParaRPr lang="en-US" sz="700" dirty="0"/>
          </a:p>
        </p:txBody>
      </p:sp>
      <p:sp>
        <p:nvSpPr>
          <p:cNvPr id="27" name="Shape 25"/>
          <p:cNvSpPr/>
          <p:nvPr/>
        </p:nvSpPr>
        <p:spPr>
          <a:xfrm>
            <a:off x="5629656" y="4718304"/>
            <a:ext cx="109728" cy="109728"/>
          </a:xfrm>
          <a:prstGeom prst="ellipse">
            <a:avLst/>
          </a:prstGeom>
          <a:solidFill>
            <a:srgbClr val="0E4D5C"/>
          </a:solidFill>
          <a:ln w="12700">
            <a:solidFill>
              <a:srgbClr val="0E4D5C"/>
            </a:solidFill>
            <a:prstDash val="solid"/>
          </a:ln>
        </p:spPr>
      </p:sp>
      <p:sp>
        <p:nvSpPr>
          <p:cNvPr id="28" name="Text 26"/>
          <p:cNvSpPr txBox="1"/>
          <p:nvPr/>
        </p:nvSpPr>
        <p:spPr>
          <a:xfrm>
            <a:off x="541020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W11</a:t>
            </a:r>
            <a:endParaRPr lang="en-US" sz="700" dirty="0"/>
          </a:p>
        </p:txBody>
      </p:sp>
      <p:sp>
        <p:nvSpPr>
          <p:cNvPr id="29" name="Text 27"/>
          <p:cNvSpPr txBox="1"/>
          <p:nvPr/>
        </p:nvSpPr>
        <p:spPr>
          <a:xfrm>
            <a:off x="513588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Design</a:t>
            </a:r>
            <a:endParaRPr lang="en-US" sz="700" dirty="0"/>
          </a:p>
        </p:txBody>
      </p:sp>
      <p:sp>
        <p:nvSpPr>
          <p:cNvPr id="30" name="Shape 28"/>
          <p:cNvSpPr/>
          <p:nvPr/>
        </p:nvSpPr>
        <p:spPr>
          <a:xfrm>
            <a:off x="6088380" y="4741164"/>
            <a:ext cx="64008" cy="64008"/>
          </a:xfrm>
          <a:prstGeom prst="ellipse">
            <a:avLst/>
          </a:prstGeom>
          <a:solidFill>
            <a:srgbClr val="C9D9D8"/>
          </a:solidFill>
          <a:ln w="12700">
            <a:solidFill>
              <a:srgbClr val="C9D9D8"/>
            </a:solidFill>
            <a:prstDash val="solid"/>
          </a:ln>
        </p:spPr>
      </p:sp>
      <p:sp>
        <p:nvSpPr>
          <p:cNvPr id="31" name="Text 29"/>
          <p:cNvSpPr txBox="1"/>
          <p:nvPr/>
        </p:nvSpPr>
        <p:spPr>
          <a:xfrm>
            <a:off x="584606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W12</a:t>
            </a:r>
            <a:endParaRPr lang="en-US" sz="700" dirty="0"/>
          </a:p>
        </p:txBody>
      </p:sp>
      <p:sp>
        <p:nvSpPr>
          <p:cNvPr id="32" name="Shape 30"/>
          <p:cNvSpPr/>
          <p:nvPr/>
        </p:nvSpPr>
        <p:spPr>
          <a:xfrm>
            <a:off x="6524244" y="4741164"/>
            <a:ext cx="64008" cy="64008"/>
          </a:xfrm>
          <a:prstGeom prst="ellipse">
            <a:avLst/>
          </a:prstGeom>
          <a:solidFill>
            <a:srgbClr val="C9D9D8"/>
          </a:solidFill>
          <a:ln w="12700">
            <a:solidFill>
              <a:srgbClr val="C9D9D8"/>
            </a:solidFill>
            <a:prstDash val="solid"/>
          </a:ln>
        </p:spPr>
      </p:sp>
      <p:sp>
        <p:nvSpPr>
          <p:cNvPr id="33" name="Text 31"/>
          <p:cNvSpPr txBox="1"/>
          <p:nvPr/>
        </p:nvSpPr>
        <p:spPr>
          <a:xfrm>
            <a:off x="628192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W13</a:t>
            </a:r>
            <a:endParaRPr lang="en-US" sz="700" dirty="0"/>
          </a:p>
        </p:txBody>
      </p:sp>
      <p:sp>
        <p:nvSpPr>
          <p:cNvPr id="34" name="Shape 32"/>
          <p:cNvSpPr/>
          <p:nvPr/>
        </p:nvSpPr>
        <p:spPr>
          <a:xfrm>
            <a:off x="6960108" y="4741164"/>
            <a:ext cx="64008" cy="64008"/>
          </a:xfrm>
          <a:prstGeom prst="ellipse">
            <a:avLst/>
          </a:prstGeom>
          <a:solidFill>
            <a:srgbClr val="C9D9D8"/>
          </a:solidFill>
          <a:ln w="12700">
            <a:solidFill>
              <a:srgbClr val="C9D9D8"/>
            </a:solidFill>
            <a:prstDash val="solid"/>
          </a:ln>
        </p:spPr>
      </p:sp>
      <p:sp>
        <p:nvSpPr>
          <p:cNvPr id="35" name="Text 33"/>
          <p:cNvSpPr txBox="1"/>
          <p:nvPr/>
        </p:nvSpPr>
        <p:spPr>
          <a:xfrm>
            <a:off x="671779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W14</a:t>
            </a:r>
            <a:endParaRPr lang="en-US" sz="700" dirty="0"/>
          </a:p>
        </p:txBody>
      </p:sp>
      <p:sp>
        <p:nvSpPr>
          <p:cNvPr id="36" name="Shape 34"/>
          <p:cNvSpPr/>
          <p:nvPr/>
        </p:nvSpPr>
        <p:spPr>
          <a:xfrm>
            <a:off x="7395972" y="4741164"/>
            <a:ext cx="64008" cy="64008"/>
          </a:xfrm>
          <a:prstGeom prst="ellipse">
            <a:avLst/>
          </a:prstGeom>
          <a:solidFill>
            <a:srgbClr val="C9D9D8"/>
          </a:solidFill>
          <a:ln w="12700">
            <a:solidFill>
              <a:srgbClr val="C9D9D8"/>
            </a:solidFill>
            <a:prstDash val="solid"/>
          </a:ln>
        </p:spPr>
      </p:sp>
      <p:sp>
        <p:nvSpPr>
          <p:cNvPr id="37" name="Text 35"/>
          <p:cNvSpPr txBox="1"/>
          <p:nvPr/>
        </p:nvSpPr>
        <p:spPr>
          <a:xfrm>
            <a:off x="715365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W15</a:t>
            </a:r>
            <a:endParaRPr lang="en-US" sz="700" dirty="0"/>
          </a:p>
        </p:txBody>
      </p:sp>
      <p:sp>
        <p:nvSpPr>
          <p:cNvPr id="38" name="Shape 36"/>
          <p:cNvSpPr/>
          <p:nvPr/>
        </p:nvSpPr>
        <p:spPr>
          <a:xfrm>
            <a:off x="7808976" y="4718304"/>
            <a:ext cx="109728" cy="109728"/>
          </a:xfrm>
          <a:prstGeom prst="ellipse">
            <a:avLst/>
          </a:prstGeom>
          <a:solidFill>
            <a:srgbClr val="0E4D5C"/>
          </a:solidFill>
          <a:ln w="12700">
            <a:solidFill>
              <a:srgbClr val="0E4D5C"/>
            </a:solidFill>
            <a:prstDash val="solid"/>
          </a:ln>
        </p:spPr>
      </p:sp>
      <p:sp>
        <p:nvSpPr>
          <p:cNvPr id="39" name="Text 37"/>
          <p:cNvSpPr txBox="1"/>
          <p:nvPr/>
        </p:nvSpPr>
        <p:spPr>
          <a:xfrm>
            <a:off x="758952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W16</a:t>
            </a:r>
            <a:endParaRPr lang="en-US" sz="700" dirty="0"/>
          </a:p>
        </p:txBody>
      </p:sp>
      <p:sp>
        <p:nvSpPr>
          <p:cNvPr id="40" name="Text 38"/>
          <p:cNvSpPr txBox="1"/>
          <p:nvPr/>
        </p:nvSpPr>
        <p:spPr>
          <a:xfrm>
            <a:off x="731520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Launch</a:t>
            </a:r>
            <a:endParaRPr lang="en-US" sz="700" dirty="0"/>
          </a:p>
        </p:txBody>
      </p:sp>
      <p:sp>
        <p:nvSpPr>
          <p:cNvPr id="41" name="Text 39"/>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100" kern="0" dirty="0">
                <a:solidFill>
                  <a:srgbClr val="1B7F79"/>
                </a:solidFill>
              </a:rPr>
              <a:t>1 · TECHNICAL PROGRESS — SYSTEM DEVELOPMENT</a:t>
            </a:r>
            <a:endParaRPr lang="en-US" sz="1000" dirty="0"/>
          </a:p>
        </p:txBody>
      </p:sp>
      <p:sp>
        <p:nvSpPr>
          <p:cNvPr id="42" name="Text 4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0E4D5C"/>
                </a:solidFill>
              </a:rPr>
              <a:t>Requirements as written: examples</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731520"/>
                <a:gridCol w="4572000"/>
                <a:gridCol w="1234440"/>
                <a:gridCol w="1691640"/>
              </a:tblGrid>
              <a:tr h="274320">
                <a:tc>
                  <a:txBody>
                    <a:bodyPr/>
                    <a:lstStyle/>
                    <a:p>
                      <a:pPr indent="0" marL="0">
                        <a:buNone/>
                      </a:pPr>
                      <a:r>
                        <a:rPr lang="en-US" sz="1100" b="1" dirty="0">
                          <a:solidFill>
                            <a:srgbClr val="FFFFFF"/>
                          </a:solidFill>
                        </a:rPr>
                        <a:t>ID</a:t>
                      </a:r>
                      <a:endParaRPr lang="en-US" sz="11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0E4D5C"/>
                    </a:solidFill>
                  </a:tcPr>
                </a:tc>
                <a:tc>
                  <a:txBody>
                    <a:bodyPr/>
                    <a:lstStyle/>
                    <a:p>
                      <a:pPr indent="0" marL="0">
                        <a:buNone/>
                      </a:pPr>
                      <a:r>
                        <a:rPr lang="en-US" sz="1100" b="1" dirty="0">
                          <a:solidFill>
                            <a:srgbClr val="FFFFFF"/>
                          </a:solidFill>
                        </a:rPr>
                        <a:t>Requirement</a:t>
                      </a:r>
                      <a:endParaRPr lang="en-US" sz="11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0E4D5C"/>
                    </a:solidFill>
                  </a:tcPr>
                </a:tc>
                <a:tc>
                  <a:txBody>
                    <a:bodyPr/>
                    <a:lstStyle/>
                    <a:p>
                      <a:pPr indent="0" marL="0">
                        <a:buNone/>
                      </a:pPr>
                      <a:r>
                        <a:rPr lang="en-US" sz="1100" b="1" dirty="0">
                          <a:solidFill>
                            <a:srgbClr val="FFFFFF"/>
                          </a:solidFill>
                        </a:rPr>
                        <a:t>Priority / status</a:t>
                      </a:r>
                      <a:endParaRPr lang="en-US" sz="11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0E4D5C"/>
                    </a:solidFill>
                  </a:tcPr>
                </a:tc>
                <a:tc>
                  <a:txBody>
                    <a:bodyPr/>
                    <a:lstStyle/>
                    <a:p>
                      <a:pPr indent="0" marL="0">
                        <a:buNone/>
                      </a:pPr>
                      <a:r>
                        <a:rPr lang="en-US" sz="1100" b="1" dirty="0">
                          <a:solidFill>
                            <a:srgbClr val="FFFFFF"/>
                          </a:solidFill>
                        </a:rPr>
                        <a:t>Traced to</a:t>
                      </a:r>
                      <a:endParaRPr lang="en-US" sz="11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0E4D5C"/>
                    </a:solidFill>
                  </a:tcPr>
                </a:tc>
              </a:tr>
              <a:tr h="502920">
                <a:tc>
                  <a:txBody>
                    <a:bodyPr/>
                    <a:lstStyle/>
                    <a:p>
                      <a:pPr indent="0" marL="0">
                        <a:buNone/>
                      </a:pPr>
                      <a:r>
                        <a:rPr lang="en-US" sz="1000" b="1" dirty="0">
                          <a:solidFill>
                            <a:srgbClr val="0E4D5C"/>
                          </a:solidFill>
                        </a:rPr>
                        <a:t>FR-02</a:t>
                      </a:r>
                      <a:endParaRPr lang="en-US" sz="10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00" dirty="0">
                          <a:solidFill>
                            <a:srgbClr val="1F2A30"/>
                          </a:solidFill>
                        </a:rPr>
                        <a:t>The system shall record a sale line item when the cashier enters a valid item identifier, and shall show the product description, price, quantity and running subtotal.</a:t>
                      </a:r>
                      <a:endParaRPr lang="en-US" sz="10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00" dirty="0">
                          <a:solidFill>
                            <a:srgbClr val="1F2A30"/>
                          </a:solidFill>
                        </a:rPr>
                        <a:t>Must</a:t>
                      </a:r>
                      <a:endParaRPr lang="en-US" sz="10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00" dirty="0">
                          <a:solidFill>
                            <a:srgbClr val="1F2A30"/>
                          </a:solidFill>
                        </a:rPr>
                        <a:t>UC1 steps 4–5, BR-03</a:t>
                      </a:r>
                      <a:endParaRPr lang="en-US" sz="10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r h="438912">
                <a:tc>
                  <a:txBody>
                    <a:bodyPr/>
                    <a:lstStyle/>
                    <a:p>
                      <a:pPr indent="0" marL="0">
                        <a:buNone/>
                      </a:pPr>
                      <a:r>
                        <a:rPr lang="en-US" sz="1000" b="1" dirty="0">
                          <a:solidFill>
                            <a:srgbClr val="0E4D5C"/>
                          </a:solidFill>
                        </a:rPr>
                        <a:t>FR-10</a:t>
                      </a:r>
                      <a:endParaRPr lang="en-US" sz="10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00" dirty="0">
                          <a:solidFill>
                            <a:srgbClr val="1F2A30"/>
                          </a:solidFill>
                        </a:rPr>
                        <a:t>For a credit card payment, the system shall complete the payment only after the Payment Service approves it, and shall record the authorization code.</a:t>
                      </a:r>
                      <a:endParaRPr lang="en-US" sz="10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00" dirty="0">
                          <a:solidFill>
                            <a:srgbClr val="1F2A30"/>
                          </a:solidFill>
                        </a:rPr>
                        <a:t>Must</a:t>
                      </a:r>
                      <a:endParaRPr lang="en-US" sz="10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00" dirty="0">
                          <a:solidFill>
                            <a:srgbClr val="1F2A30"/>
                          </a:solidFill>
                        </a:rPr>
                        <a:t>UC1 ext. 9b, BR-05, IR-01</a:t>
                      </a:r>
                      <a:endParaRPr lang="en-US" sz="10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r h="502920">
                <a:tc>
                  <a:txBody>
                    <a:bodyPr/>
                    <a:lstStyle/>
                    <a:p>
                      <a:pPr indent="0" marL="0">
                        <a:buNone/>
                      </a:pPr>
                      <a:r>
                        <a:rPr lang="en-US" sz="1000" b="1" dirty="0">
                          <a:solidFill>
                            <a:srgbClr val="0E4D5C"/>
                          </a:solidFill>
                        </a:rPr>
                        <a:t>IR-02</a:t>
                      </a:r>
                      <a:endParaRPr lang="en-US" sz="10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00" dirty="0">
                          <a:solidFill>
                            <a:srgbClr val="1F2A30"/>
                          </a:solidFill>
                        </a:rPr>
                        <a:t>When the Payment Service does not answer or returns an error, the POS shall inform the cashier and keep the transaction open so that another tender can be used.</a:t>
                      </a:r>
                      <a:endParaRPr lang="en-US" sz="10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00" dirty="0">
                          <a:solidFill>
                            <a:srgbClr val="1F2A30"/>
                          </a:solidFill>
                        </a:rPr>
                        <a:t>Must</a:t>
                      </a:r>
                      <a:endParaRPr lang="en-US" sz="10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00" dirty="0">
                          <a:solidFill>
                            <a:srgbClr val="1F2A30"/>
                          </a:solidFill>
                        </a:rPr>
                        <a:t>UC1 ext. 9b2b, BR-05</a:t>
                      </a:r>
                      <a:endParaRPr lang="en-US" sz="10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r h="310896">
                <a:tc>
                  <a:txBody>
                    <a:bodyPr/>
                    <a:lstStyle/>
                    <a:p>
                      <a:pPr indent="0" marL="0">
                        <a:buNone/>
                      </a:pPr>
                      <a:r>
                        <a:rPr lang="en-US" sz="1000" b="1" dirty="0">
                          <a:solidFill>
                            <a:srgbClr val="0E4D5C"/>
                          </a:solidFill>
                        </a:rPr>
                        <a:t>NFR-01</a:t>
                      </a:r>
                      <a:endParaRPr lang="en-US" sz="10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00" dirty="0">
                          <a:solidFill>
                            <a:srgbClr val="1F2A30"/>
                          </a:solidFill>
                        </a:rPr>
                        <a:t>A sale line item must be registered in less than 1 second.</a:t>
                      </a:r>
                      <a:endParaRPr lang="en-US" sz="10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00" dirty="0">
                          <a:solidFill>
                            <a:srgbClr val="1F2A30"/>
                          </a:solidFill>
                        </a:rPr>
                        <a:t>Performance (ISO 25010)</a:t>
                      </a:r>
                      <a:endParaRPr lang="en-US" sz="10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00" dirty="0">
                          <a:solidFill>
                            <a:srgbClr val="1F2A30"/>
                          </a:solidFill>
                        </a:rPr>
                        <a:t>FR-02, UC1 special requirements</a:t>
                      </a:r>
                      <a:endParaRPr lang="en-US" sz="10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r h="438912">
                <a:tc>
                  <a:txBody>
                    <a:bodyPr/>
                    <a:lstStyle/>
                    <a:p>
                      <a:pPr indent="0" marL="0">
                        <a:buNone/>
                      </a:pPr>
                      <a:r>
                        <a:rPr lang="en-US" sz="1000" b="1" dirty="0">
                          <a:solidFill>
                            <a:srgbClr val="0E4D5C"/>
                          </a:solidFill>
                        </a:rPr>
                        <a:t>BR-06</a:t>
                      </a:r>
                      <a:endParaRPr lang="en-US" sz="10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00" dirty="0">
                          <a:solidFill>
                            <a:srgbClr val="1F2A30"/>
                          </a:solidFill>
                        </a:rPr>
                        <a:t>For cash payments, the amount tendered must be at least the total; the change due is the amount tendered minus the total.</a:t>
                      </a:r>
                      <a:endParaRPr lang="en-US" sz="10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00" dirty="0">
                          <a:solidFill>
                            <a:srgbClr val="1F2A30"/>
                          </a:solidFill>
                        </a:rPr>
                        <a:t>Proposed</a:t>
                      </a:r>
                      <a:endParaRPr lang="en-US" sz="10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00" dirty="0">
                          <a:solidFill>
                            <a:srgbClr val="1F2A30"/>
                          </a:solidFill>
                        </a:rPr>
                        <a:t>FR-09, UC1 ext. 9a</a:t>
                      </a:r>
                      <a:endParaRPr lang="en-US" sz="10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bl>
          </a:graphicData>
        </a:graphic>
      </p:graphicFrame>
      <p:sp>
        <p:nvSpPr>
          <p:cNvPr id="44" name="Text 41"/>
          <p:cNvSpPr txBox="1"/>
          <p:nvPr/>
        </p:nvSpPr>
        <p:spPr>
          <a:xfrm>
            <a:off x="457200" y="4023360"/>
            <a:ext cx="8229600" cy="274320"/>
          </a:xfrm>
          <a:prstGeom prst="rect">
            <a:avLst/>
          </a:prstGeom>
          <a:noFill/>
          <a:ln/>
        </p:spPr>
        <p:txBody>
          <a:bodyPr wrap="square" lIns="0" tIns="0" rIns="0" bIns="0" rtlCol="0" anchor="ctr"/>
          <a:lstStyle/>
          <a:p>
            <a:pPr indent="0" marL="0">
              <a:buNone/>
            </a:pPr>
            <a:r>
              <a:rPr lang="en-US" sz="1100" b="1" dirty="0">
                <a:solidFill>
                  <a:srgbClr val="0E4D5C"/>
                </a:solidFill>
              </a:rPr>
              <a:t>Every requirement: </a:t>
            </a:r>
            <a:pPr indent="0" marL="0">
              <a:buNone/>
            </a:pPr>
            <a:r>
              <a:rPr lang="en-US" sz="1100" dirty="0">
                <a:solidFill>
                  <a:srgbClr val="1F2A30"/>
                </a:solidFill>
              </a:rPr>
              <a:t>one ID, one "shall", one testable condition, a priority and a source. No "fast", "easy" or "user-friendly" without a number.</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274320" y="4681728"/>
            <a:ext cx="1005840" cy="182880"/>
          </a:xfrm>
          <a:prstGeom prst="rect">
            <a:avLst/>
          </a:prstGeom>
          <a:noFill/>
          <a:ln/>
        </p:spPr>
        <p:txBody>
          <a:bodyPr wrap="square" lIns="0" tIns="0" rIns="0" bIns="0" rtlCol="0" anchor="ctr"/>
          <a:lstStyle/>
          <a:p>
            <a:pPr indent="0" marL="0">
              <a:buNone/>
            </a:pPr>
            <a:r>
              <a:rPr lang="en-US" sz="800" b="1" dirty="0">
                <a:solidFill>
                  <a:srgbClr val="5F6B70"/>
                </a:solidFill>
              </a:rPr>
              <a:t>Course timeline</a:t>
            </a:r>
            <a:endParaRPr lang="en-US" sz="800" dirty="0"/>
          </a:p>
        </p:txBody>
      </p:sp>
      <p:sp>
        <p:nvSpPr>
          <p:cNvPr id="3" name="Shape 1"/>
          <p:cNvSpPr/>
          <p:nvPr/>
        </p:nvSpPr>
        <p:spPr>
          <a:xfrm>
            <a:off x="1325880" y="4773168"/>
            <a:ext cx="6537960" cy="0"/>
          </a:xfrm>
          <a:prstGeom prst="line">
            <a:avLst/>
          </a:prstGeom>
          <a:noFill/>
          <a:ln w="19050">
            <a:solidFill>
              <a:srgbClr val="C9D9D8"/>
            </a:solidFill>
            <a:prstDash val="solid"/>
          </a:ln>
        </p:spPr>
      </p:sp>
      <p:sp>
        <p:nvSpPr>
          <p:cNvPr id="4" name="Shape 2"/>
          <p:cNvSpPr/>
          <p:nvPr/>
        </p:nvSpPr>
        <p:spPr>
          <a:xfrm>
            <a:off x="1325880" y="4773168"/>
            <a:ext cx="2179320" cy="0"/>
          </a:xfrm>
          <a:prstGeom prst="line">
            <a:avLst/>
          </a:prstGeom>
          <a:noFill/>
          <a:ln w="31750">
            <a:solidFill>
              <a:srgbClr val="1B7F79"/>
            </a:solidFill>
            <a:prstDash val="solid"/>
          </a:ln>
        </p:spPr>
      </p:sp>
      <p:sp>
        <p:nvSpPr>
          <p:cNvPr id="5" name="Shape 3"/>
          <p:cNvSpPr/>
          <p:nvPr/>
        </p:nvSpPr>
        <p:spPr>
          <a:xfrm>
            <a:off x="1293876" y="4741164"/>
            <a:ext cx="64008" cy="64008"/>
          </a:xfrm>
          <a:prstGeom prst="ellipse">
            <a:avLst/>
          </a:prstGeom>
          <a:solidFill>
            <a:srgbClr val="1B7F79"/>
          </a:solidFill>
          <a:ln w="12700">
            <a:solidFill>
              <a:srgbClr val="1B7F79"/>
            </a:solidFill>
            <a:prstDash val="solid"/>
          </a:ln>
        </p:spPr>
      </p:sp>
      <p:sp>
        <p:nvSpPr>
          <p:cNvPr id="6" name="Text 4"/>
          <p:cNvSpPr txBox="1"/>
          <p:nvPr/>
        </p:nvSpPr>
        <p:spPr>
          <a:xfrm>
            <a:off x="105156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a:t>
            </a:r>
            <a:endParaRPr lang="en-US" sz="700" dirty="0"/>
          </a:p>
        </p:txBody>
      </p:sp>
      <p:sp>
        <p:nvSpPr>
          <p:cNvPr id="7" name="Shape 5"/>
          <p:cNvSpPr/>
          <p:nvPr/>
        </p:nvSpPr>
        <p:spPr>
          <a:xfrm>
            <a:off x="1729740" y="4741164"/>
            <a:ext cx="64008" cy="64008"/>
          </a:xfrm>
          <a:prstGeom prst="ellipse">
            <a:avLst/>
          </a:prstGeom>
          <a:solidFill>
            <a:srgbClr val="1B7F79"/>
          </a:solidFill>
          <a:ln w="12700">
            <a:solidFill>
              <a:srgbClr val="1B7F79"/>
            </a:solidFill>
            <a:prstDash val="solid"/>
          </a:ln>
        </p:spPr>
      </p:sp>
      <p:sp>
        <p:nvSpPr>
          <p:cNvPr id="8" name="Text 6"/>
          <p:cNvSpPr txBox="1"/>
          <p:nvPr/>
        </p:nvSpPr>
        <p:spPr>
          <a:xfrm>
            <a:off x="148742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W2</a:t>
            </a:r>
            <a:endParaRPr lang="en-US" sz="700" dirty="0"/>
          </a:p>
        </p:txBody>
      </p:sp>
      <p:sp>
        <p:nvSpPr>
          <p:cNvPr id="9" name="Shape 7"/>
          <p:cNvSpPr/>
          <p:nvPr/>
        </p:nvSpPr>
        <p:spPr>
          <a:xfrm>
            <a:off x="2165604" y="4741164"/>
            <a:ext cx="64008" cy="64008"/>
          </a:xfrm>
          <a:prstGeom prst="ellipse">
            <a:avLst/>
          </a:prstGeom>
          <a:solidFill>
            <a:srgbClr val="1B7F79"/>
          </a:solidFill>
          <a:ln w="12700">
            <a:solidFill>
              <a:srgbClr val="1B7F79"/>
            </a:solidFill>
            <a:prstDash val="solid"/>
          </a:ln>
        </p:spPr>
      </p:sp>
      <p:sp>
        <p:nvSpPr>
          <p:cNvPr id="10" name="Text 8"/>
          <p:cNvSpPr txBox="1"/>
          <p:nvPr/>
        </p:nvSpPr>
        <p:spPr>
          <a:xfrm>
            <a:off x="192328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W3</a:t>
            </a:r>
            <a:endParaRPr lang="en-US" sz="700" dirty="0"/>
          </a:p>
        </p:txBody>
      </p:sp>
      <p:sp>
        <p:nvSpPr>
          <p:cNvPr id="11" name="Shape 9"/>
          <p:cNvSpPr/>
          <p:nvPr/>
        </p:nvSpPr>
        <p:spPr>
          <a:xfrm>
            <a:off x="2578608" y="4718304"/>
            <a:ext cx="109728" cy="109728"/>
          </a:xfrm>
          <a:prstGeom prst="ellipse">
            <a:avLst/>
          </a:prstGeom>
          <a:solidFill>
            <a:srgbClr val="1B7F79"/>
          </a:solidFill>
          <a:ln w="12700">
            <a:solidFill>
              <a:srgbClr val="1B7F79"/>
            </a:solidFill>
            <a:prstDash val="solid"/>
          </a:ln>
        </p:spPr>
      </p:sp>
      <p:sp>
        <p:nvSpPr>
          <p:cNvPr id="12" name="Text 10"/>
          <p:cNvSpPr txBox="1"/>
          <p:nvPr/>
        </p:nvSpPr>
        <p:spPr>
          <a:xfrm>
            <a:off x="235915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W4</a:t>
            </a:r>
            <a:endParaRPr lang="en-US" sz="700" dirty="0"/>
          </a:p>
        </p:txBody>
      </p:sp>
      <p:sp>
        <p:nvSpPr>
          <p:cNvPr id="13" name="Text 11"/>
          <p:cNvSpPr txBox="1"/>
          <p:nvPr/>
        </p:nvSpPr>
        <p:spPr>
          <a:xfrm>
            <a:off x="2084832"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Process models</a:t>
            </a:r>
            <a:endParaRPr lang="en-US" sz="700" dirty="0"/>
          </a:p>
        </p:txBody>
      </p:sp>
      <p:sp>
        <p:nvSpPr>
          <p:cNvPr id="14" name="Shape 12"/>
          <p:cNvSpPr/>
          <p:nvPr/>
        </p:nvSpPr>
        <p:spPr>
          <a:xfrm>
            <a:off x="3037332" y="4741164"/>
            <a:ext cx="64008" cy="64008"/>
          </a:xfrm>
          <a:prstGeom prst="ellipse">
            <a:avLst/>
          </a:prstGeom>
          <a:solidFill>
            <a:srgbClr val="1B7F79"/>
          </a:solidFill>
          <a:ln w="12700">
            <a:solidFill>
              <a:srgbClr val="1B7F79"/>
            </a:solidFill>
            <a:prstDash val="solid"/>
          </a:ln>
        </p:spPr>
      </p:sp>
      <p:sp>
        <p:nvSpPr>
          <p:cNvPr id="15" name="Text 13"/>
          <p:cNvSpPr txBox="1"/>
          <p:nvPr/>
        </p:nvSpPr>
        <p:spPr>
          <a:xfrm>
            <a:off x="279501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W5</a:t>
            </a:r>
            <a:endParaRPr lang="en-US" sz="700" dirty="0"/>
          </a:p>
        </p:txBody>
      </p:sp>
      <p:sp>
        <p:nvSpPr>
          <p:cNvPr id="16" name="Shape 14"/>
          <p:cNvSpPr/>
          <p:nvPr/>
        </p:nvSpPr>
        <p:spPr>
          <a:xfrm>
            <a:off x="3427476" y="4695444"/>
            <a:ext cx="155448" cy="155448"/>
          </a:xfrm>
          <a:prstGeom prst="ellipse">
            <a:avLst/>
          </a:prstGeom>
          <a:solidFill>
            <a:srgbClr val="E09F3E"/>
          </a:solidFill>
          <a:ln w="12700">
            <a:solidFill>
              <a:srgbClr val="E09F3E"/>
            </a:solidFill>
            <a:prstDash val="solid"/>
          </a:ln>
        </p:spPr>
      </p:sp>
      <p:sp>
        <p:nvSpPr>
          <p:cNvPr id="17" name="Text 15"/>
          <p:cNvSpPr txBox="1"/>
          <p:nvPr/>
        </p:nvSpPr>
        <p:spPr>
          <a:xfrm>
            <a:off x="3230880" y="4855464"/>
            <a:ext cx="548640" cy="146304"/>
          </a:xfrm>
          <a:prstGeom prst="rect">
            <a:avLst/>
          </a:prstGeom>
          <a:noFill/>
          <a:ln/>
        </p:spPr>
        <p:txBody>
          <a:bodyPr wrap="square" lIns="0" tIns="0" rIns="0" bIns="0" rtlCol="0" anchor="ctr"/>
          <a:lstStyle/>
          <a:p>
            <a:pPr algn="ctr" indent="0" marL="0">
              <a:buNone/>
            </a:pPr>
            <a:r>
              <a:rPr lang="en-US" sz="700" b="1" dirty="0">
                <a:solidFill>
                  <a:srgbClr val="E09F3E"/>
                </a:solidFill>
              </a:rPr>
              <a:t>W6 · now</a:t>
            </a:r>
            <a:endParaRPr lang="en-US" sz="700" dirty="0"/>
          </a:p>
        </p:txBody>
      </p:sp>
      <p:sp>
        <p:nvSpPr>
          <p:cNvPr id="18" name="Shape 16"/>
          <p:cNvSpPr/>
          <p:nvPr/>
        </p:nvSpPr>
        <p:spPr>
          <a:xfrm>
            <a:off x="3886200" y="4718304"/>
            <a:ext cx="109728" cy="109728"/>
          </a:xfrm>
          <a:prstGeom prst="ellipse">
            <a:avLst/>
          </a:prstGeom>
          <a:solidFill>
            <a:srgbClr val="0E4D5C"/>
          </a:solidFill>
          <a:ln w="12700">
            <a:solidFill>
              <a:srgbClr val="0E4D5C"/>
            </a:solidFill>
            <a:prstDash val="solid"/>
          </a:ln>
        </p:spPr>
      </p:sp>
      <p:sp>
        <p:nvSpPr>
          <p:cNvPr id="19" name="Text 17"/>
          <p:cNvSpPr txBox="1"/>
          <p:nvPr/>
        </p:nvSpPr>
        <p:spPr>
          <a:xfrm>
            <a:off x="366674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W7</a:t>
            </a:r>
            <a:endParaRPr lang="en-US" sz="700" dirty="0"/>
          </a:p>
        </p:txBody>
      </p:sp>
      <p:sp>
        <p:nvSpPr>
          <p:cNvPr id="20" name="Text 18"/>
          <p:cNvSpPr txBox="1"/>
          <p:nvPr/>
        </p:nvSpPr>
        <p:spPr>
          <a:xfrm>
            <a:off x="3392424"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SRS</a:t>
            </a:r>
            <a:endParaRPr lang="en-US" sz="700" dirty="0"/>
          </a:p>
        </p:txBody>
      </p:sp>
      <p:sp>
        <p:nvSpPr>
          <p:cNvPr id="21" name="Shape 19"/>
          <p:cNvSpPr/>
          <p:nvPr/>
        </p:nvSpPr>
        <p:spPr>
          <a:xfrm>
            <a:off x="4344924" y="4741164"/>
            <a:ext cx="64008" cy="64008"/>
          </a:xfrm>
          <a:prstGeom prst="ellipse">
            <a:avLst/>
          </a:prstGeom>
          <a:solidFill>
            <a:srgbClr val="C9D9D8"/>
          </a:solidFill>
          <a:ln w="12700">
            <a:solidFill>
              <a:srgbClr val="C9D9D8"/>
            </a:solidFill>
            <a:prstDash val="solid"/>
          </a:ln>
        </p:spPr>
      </p:sp>
      <p:sp>
        <p:nvSpPr>
          <p:cNvPr id="22" name="Text 20"/>
          <p:cNvSpPr txBox="1"/>
          <p:nvPr/>
        </p:nvSpPr>
        <p:spPr>
          <a:xfrm>
            <a:off x="410260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W8</a:t>
            </a:r>
            <a:endParaRPr lang="en-US" sz="700" dirty="0"/>
          </a:p>
        </p:txBody>
      </p:sp>
      <p:sp>
        <p:nvSpPr>
          <p:cNvPr id="23" name="Shape 21"/>
          <p:cNvSpPr/>
          <p:nvPr/>
        </p:nvSpPr>
        <p:spPr>
          <a:xfrm>
            <a:off x="4780788" y="4741164"/>
            <a:ext cx="64008" cy="64008"/>
          </a:xfrm>
          <a:prstGeom prst="ellipse">
            <a:avLst/>
          </a:prstGeom>
          <a:solidFill>
            <a:srgbClr val="C9D9D8"/>
          </a:solidFill>
          <a:ln w="12700">
            <a:solidFill>
              <a:srgbClr val="C9D9D8"/>
            </a:solidFill>
            <a:prstDash val="solid"/>
          </a:ln>
        </p:spPr>
      </p:sp>
      <p:sp>
        <p:nvSpPr>
          <p:cNvPr id="24" name="Text 22"/>
          <p:cNvSpPr txBox="1"/>
          <p:nvPr/>
        </p:nvSpPr>
        <p:spPr>
          <a:xfrm>
            <a:off x="453847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W9</a:t>
            </a:r>
            <a:endParaRPr lang="en-US" sz="700" dirty="0"/>
          </a:p>
        </p:txBody>
      </p:sp>
      <p:sp>
        <p:nvSpPr>
          <p:cNvPr id="25" name="Shape 23"/>
          <p:cNvSpPr/>
          <p:nvPr/>
        </p:nvSpPr>
        <p:spPr>
          <a:xfrm>
            <a:off x="5216652" y="4741164"/>
            <a:ext cx="64008" cy="64008"/>
          </a:xfrm>
          <a:prstGeom prst="ellipse">
            <a:avLst/>
          </a:prstGeom>
          <a:solidFill>
            <a:srgbClr val="C9D9D8"/>
          </a:solidFill>
          <a:ln w="12700">
            <a:solidFill>
              <a:srgbClr val="C9D9D8"/>
            </a:solidFill>
            <a:prstDash val="solid"/>
          </a:ln>
        </p:spPr>
      </p:sp>
      <p:sp>
        <p:nvSpPr>
          <p:cNvPr id="26" name="Text 24"/>
          <p:cNvSpPr txBox="1"/>
          <p:nvPr/>
        </p:nvSpPr>
        <p:spPr>
          <a:xfrm>
            <a:off x="497433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W10</a:t>
            </a:r>
            <a:endParaRPr lang="en-US" sz="700" dirty="0"/>
          </a:p>
        </p:txBody>
      </p:sp>
      <p:sp>
        <p:nvSpPr>
          <p:cNvPr id="27" name="Shape 25"/>
          <p:cNvSpPr/>
          <p:nvPr/>
        </p:nvSpPr>
        <p:spPr>
          <a:xfrm>
            <a:off x="5629656" y="4718304"/>
            <a:ext cx="109728" cy="109728"/>
          </a:xfrm>
          <a:prstGeom prst="ellipse">
            <a:avLst/>
          </a:prstGeom>
          <a:solidFill>
            <a:srgbClr val="0E4D5C"/>
          </a:solidFill>
          <a:ln w="12700">
            <a:solidFill>
              <a:srgbClr val="0E4D5C"/>
            </a:solidFill>
            <a:prstDash val="solid"/>
          </a:ln>
        </p:spPr>
      </p:sp>
      <p:sp>
        <p:nvSpPr>
          <p:cNvPr id="28" name="Text 26"/>
          <p:cNvSpPr txBox="1"/>
          <p:nvPr/>
        </p:nvSpPr>
        <p:spPr>
          <a:xfrm>
            <a:off x="541020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W11</a:t>
            </a:r>
            <a:endParaRPr lang="en-US" sz="700" dirty="0"/>
          </a:p>
        </p:txBody>
      </p:sp>
      <p:sp>
        <p:nvSpPr>
          <p:cNvPr id="29" name="Text 27"/>
          <p:cNvSpPr txBox="1"/>
          <p:nvPr/>
        </p:nvSpPr>
        <p:spPr>
          <a:xfrm>
            <a:off x="513588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Design</a:t>
            </a:r>
            <a:endParaRPr lang="en-US" sz="700" dirty="0"/>
          </a:p>
        </p:txBody>
      </p:sp>
      <p:sp>
        <p:nvSpPr>
          <p:cNvPr id="30" name="Shape 28"/>
          <p:cNvSpPr/>
          <p:nvPr/>
        </p:nvSpPr>
        <p:spPr>
          <a:xfrm>
            <a:off x="6088380" y="4741164"/>
            <a:ext cx="64008" cy="64008"/>
          </a:xfrm>
          <a:prstGeom prst="ellipse">
            <a:avLst/>
          </a:prstGeom>
          <a:solidFill>
            <a:srgbClr val="C9D9D8"/>
          </a:solidFill>
          <a:ln w="12700">
            <a:solidFill>
              <a:srgbClr val="C9D9D8"/>
            </a:solidFill>
            <a:prstDash val="solid"/>
          </a:ln>
        </p:spPr>
      </p:sp>
      <p:sp>
        <p:nvSpPr>
          <p:cNvPr id="31" name="Text 29"/>
          <p:cNvSpPr txBox="1"/>
          <p:nvPr/>
        </p:nvSpPr>
        <p:spPr>
          <a:xfrm>
            <a:off x="584606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W12</a:t>
            </a:r>
            <a:endParaRPr lang="en-US" sz="700" dirty="0"/>
          </a:p>
        </p:txBody>
      </p:sp>
      <p:sp>
        <p:nvSpPr>
          <p:cNvPr id="32" name="Shape 30"/>
          <p:cNvSpPr/>
          <p:nvPr/>
        </p:nvSpPr>
        <p:spPr>
          <a:xfrm>
            <a:off x="6524244" y="4741164"/>
            <a:ext cx="64008" cy="64008"/>
          </a:xfrm>
          <a:prstGeom prst="ellipse">
            <a:avLst/>
          </a:prstGeom>
          <a:solidFill>
            <a:srgbClr val="C9D9D8"/>
          </a:solidFill>
          <a:ln w="12700">
            <a:solidFill>
              <a:srgbClr val="C9D9D8"/>
            </a:solidFill>
            <a:prstDash val="solid"/>
          </a:ln>
        </p:spPr>
      </p:sp>
      <p:sp>
        <p:nvSpPr>
          <p:cNvPr id="33" name="Text 31"/>
          <p:cNvSpPr txBox="1"/>
          <p:nvPr/>
        </p:nvSpPr>
        <p:spPr>
          <a:xfrm>
            <a:off x="628192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W13</a:t>
            </a:r>
            <a:endParaRPr lang="en-US" sz="700" dirty="0"/>
          </a:p>
        </p:txBody>
      </p:sp>
      <p:sp>
        <p:nvSpPr>
          <p:cNvPr id="34" name="Shape 32"/>
          <p:cNvSpPr/>
          <p:nvPr/>
        </p:nvSpPr>
        <p:spPr>
          <a:xfrm>
            <a:off x="6960108" y="4741164"/>
            <a:ext cx="64008" cy="64008"/>
          </a:xfrm>
          <a:prstGeom prst="ellipse">
            <a:avLst/>
          </a:prstGeom>
          <a:solidFill>
            <a:srgbClr val="C9D9D8"/>
          </a:solidFill>
          <a:ln w="12700">
            <a:solidFill>
              <a:srgbClr val="C9D9D8"/>
            </a:solidFill>
            <a:prstDash val="solid"/>
          </a:ln>
        </p:spPr>
      </p:sp>
      <p:sp>
        <p:nvSpPr>
          <p:cNvPr id="35" name="Text 33"/>
          <p:cNvSpPr txBox="1"/>
          <p:nvPr/>
        </p:nvSpPr>
        <p:spPr>
          <a:xfrm>
            <a:off x="671779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W14</a:t>
            </a:r>
            <a:endParaRPr lang="en-US" sz="700" dirty="0"/>
          </a:p>
        </p:txBody>
      </p:sp>
      <p:sp>
        <p:nvSpPr>
          <p:cNvPr id="36" name="Shape 34"/>
          <p:cNvSpPr/>
          <p:nvPr/>
        </p:nvSpPr>
        <p:spPr>
          <a:xfrm>
            <a:off x="7395972" y="4741164"/>
            <a:ext cx="64008" cy="64008"/>
          </a:xfrm>
          <a:prstGeom prst="ellipse">
            <a:avLst/>
          </a:prstGeom>
          <a:solidFill>
            <a:srgbClr val="C9D9D8"/>
          </a:solidFill>
          <a:ln w="12700">
            <a:solidFill>
              <a:srgbClr val="C9D9D8"/>
            </a:solidFill>
            <a:prstDash val="solid"/>
          </a:ln>
        </p:spPr>
      </p:sp>
      <p:sp>
        <p:nvSpPr>
          <p:cNvPr id="37" name="Text 35"/>
          <p:cNvSpPr txBox="1"/>
          <p:nvPr/>
        </p:nvSpPr>
        <p:spPr>
          <a:xfrm>
            <a:off x="715365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W15</a:t>
            </a:r>
            <a:endParaRPr lang="en-US" sz="700" dirty="0"/>
          </a:p>
        </p:txBody>
      </p:sp>
      <p:sp>
        <p:nvSpPr>
          <p:cNvPr id="38" name="Shape 36"/>
          <p:cNvSpPr/>
          <p:nvPr/>
        </p:nvSpPr>
        <p:spPr>
          <a:xfrm>
            <a:off x="7808976" y="4718304"/>
            <a:ext cx="109728" cy="109728"/>
          </a:xfrm>
          <a:prstGeom prst="ellipse">
            <a:avLst/>
          </a:prstGeom>
          <a:solidFill>
            <a:srgbClr val="0E4D5C"/>
          </a:solidFill>
          <a:ln w="12700">
            <a:solidFill>
              <a:srgbClr val="0E4D5C"/>
            </a:solidFill>
            <a:prstDash val="solid"/>
          </a:ln>
        </p:spPr>
      </p:sp>
      <p:sp>
        <p:nvSpPr>
          <p:cNvPr id="39" name="Text 37"/>
          <p:cNvSpPr txBox="1"/>
          <p:nvPr/>
        </p:nvSpPr>
        <p:spPr>
          <a:xfrm>
            <a:off x="758952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W16</a:t>
            </a:r>
            <a:endParaRPr lang="en-US" sz="700" dirty="0"/>
          </a:p>
        </p:txBody>
      </p:sp>
      <p:sp>
        <p:nvSpPr>
          <p:cNvPr id="40" name="Text 38"/>
          <p:cNvSpPr txBox="1"/>
          <p:nvPr/>
        </p:nvSpPr>
        <p:spPr>
          <a:xfrm>
            <a:off x="731520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Launch</a:t>
            </a:r>
            <a:endParaRPr lang="en-US" sz="700" dirty="0"/>
          </a:p>
        </p:txBody>
      </p:sp>
      <p:sp>
        <p:nvSpPr>
          <p:cNvPr id="41" name="Text 39"/>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100" kern="0" dirty="0">
                <a:solidFill>
                  <a:srgbClr val="1B7F79"/>
                </a:solidFill>
              </a:rPr>
              <a:t>1 · TECHNICAL PROGRESS — SYSTEM DEVELOPMENT</a:t>
            </a:r>
            <a:endParaRPr lang="en-US" sz="1000" dirty="0"/>
          </a:p>
        </p:txBody>
      </p:sp>
      <p:sp>
        <p:nvSpPr>
          <p:cNvPr id="42" name="Text 4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0E4D5C"/>
                </a:solidFill>
              </a:rPr>
              <a:t>Traceability: one requirement, end to end</a:t>
            </a:r>
            <a:endParaRPr lang="en-US" sz="2800" dirty="0"/>
          </a:p>
        </p:txBody>
      </p:sp>
      <p:sp>
        <p:nvSpPr>
          <p:cNvPr id="43" name="Shape 41"/>
          <p:cNvSpPr/>
          <p:nvPr/>
        </p:nvSpPr>
        <p:spPr>
          <a:xfrm>
            <a:off x="457200" y="1371600"/>
            <a:ext cx="1261872" cy="2103120"/>
          </a:xfrm>
          <a:prstGeom prst="roundRect">
            <a:avLst>
              <a:gd name="adj" fmla="val 5797"/>
            </a:avLst>
          </a:prstGeom>
          <a:solidFill>
            <a:srgbClr val="EAF2F2"/>
          </a:solidFill>
          <a:ln w="12700">
            <a:solidFill>
              <a:srgbClr val="EAF2F2"/>
            </a:solidFill>
            <a:prstDash val="solid"/>
          </a:ln>
        </p:spPr>
      </p:sp>
      <p:sp>
        <p:nvSpPr>
          <p:cNvPr id="44" name="Text 42"/>
          <p:cNvSpPr txBox="1"/>
          <p:nvPr/>
        </p:nvSpPr>
        <p:spPr>
          <a:xfrm>
            <a:off x="530352" y="1463040"/>
            <a:ext cx="1115568" cy="274320"/>
          </a:xfrm>
          <a:prstGeom prst="rect">
            <a:avLst/>
          </a:prstGeom>
          <a:noFill/>
          <a:ln/>
        </p:spPr>
        <p:txBody>
          <a:bodyPr wrap="square" lIns="0" tIns="0" rIns="0" bIns="0" rtlCol="0" anchor="ctr"/>
          <a:lstStyle/>
          <a:p>
            <a:pPr indent="0" marL="0">
              <a:buNone/>
            </a:pPr>
            <a:r>
              <a:rPr lang="en-US" sz="1000" b="1" dirty="0">
                <a:solidFill>
                  <a:srgbClr val="5F6B70"/>
                </a:solidFill>
              </a:rPr>
              <a:t>Use case</a:t>
            </a:r>
            <a:endParaRPr lang="en-US" sz="1000" dirty="0"/>
          </a:p>
        </p:txBody>
      </p:sp>
      <p:sp>
        <p:nvSpPr>
          <p:cNvPr id="45" name="Text 43"/>
          <p:cNvSpPr txBox="1"/>
          <p:nvPr/>
        </p:nvSpPr>
        <p:spPr>
          <a:xfrm>
            <a:off x="530352" y="1737360"/>
            <a:ext cx="1115568" cy="457200"/>
          </a:xfrm>
          <a:prstGeom prst="rect">
            <a:avLst/>
          </a:prstGeom>
          <a:noFill/>
          <a:ln/>
        </p:spPr>
        <p:txBody>
          <a:bodyPr wrap="square" lIns="0" tIns="0" rIns="0" bIns="0" rtlCol="0" anchor="ctr"/>
          <a:lstStyle/>
          <a:p>
            <a:pPr indent="0" marL="0">
              <a:buNone/>
            </a:pPr>
            <a:r>
              <a:rPr lang="en-US" sz="1500" b="1" dirty="0">
                <a:solidFill>
                  <a:srgbClr val="0E4D5C"/>
                </a:solidFill>
              </a:rPr>
              <a:t>UC1 ext. 9b</a:t>
            </a:r>
            <a:endParaRPr lang="en-US" sz="1500" dirty="0"/>
          </a:p>
        </p:txBody>
      </p:sp>
      <p:sp>
        <p:nvSpPr>
          <p:cNvPr id="46" name="Text 44"/>
          <p:cNvSpPr txBox="1"/>
          <p:nvPr/>
        </p:nvSpPr>
        <p:spPr>
          <a:xfrm>
            <a:off x="530352" y="2240280"/>
            <a:ext cx="1115568" cy="1097280"/>
          </a:xfrm>
          <a:prstGeom prst="rect">
            <a:avLst/>
          </a:prstGeom>
          <a:noFill/>
          <a:ln/>
        </p:spPr>
        <p:txBody>
          <a:bodyPr wrap="square" lIns="0" tIns="0" rIns="0" bIns="0" rtlCol="0" anchor="t"/>
          <a:lstStyle/>
          <a:p>
            <a:pPr indent="0" marL="0">
              <a:buNone/>
            </a:pPr>
            <a:r>
              <a:rPr lang="en-US" sz="1100" dirty="0">
                <a:solidFill>
                  <a:srgbClr val="1F2A30"/>
                </a:solidFill>
              </a:rPr>
              <a:t>Card payment</a:t>
            </a:r>
            <a:endParaRPr lang="en-US" sz="1100" dirty="0"/>
          </a:p>
        </p:txBody>
      </p:sp>
      <p:sp>
        <p:nvSpPr>
          <p:cNvPr id="47" name="Text 45"/>
          <p:cNvSpPr txBox="1"/>
          <p:nvPr/>
        </p:nvSpPr>
        <p:spPr>
          <a:xfrm>
            <a:off x="1700784" y="2194560"/>
            <a:ext cx="182880" cy="365760"/>
          </a:xfrm>
          <a:prstGeom prst="rect">
            <a:avLst/>
          </a:prstGeom>
          <a:noFill/>
          <a:ln/>
        </p:spPr>
        <p:txBody>
          <a:bodyPr wrap="square" lIns="0" tIns="0" rIns="0" bIns="0" rtlCol="0" anchor="ctr"/>
          <a:lstStyle/>
          <a:p>
            <a:pPr algn="ctr" indent="0" marL="0">
              <a:buNone/>
            </a:pPr>
            <a:r>
              <a:rPr lang="en-US" sz="1800" dirty="0">
                <a:solidFill>
                  <a:srgbClr val="1B7F79"/>
                </a:solidFill>
              </a:rPr>
              <a:t>›</a:t>
            </a:r>
            <a:endParaRPr lang="en-US" sz="1800" dirty="0"/>
          </a:p>
        </p:txBody>
      </p:sp>
      <p:sp>
        <p:nvSpPr>
          <p:cNvPr id="48" name="Shape 46"/>
          <p:cNvSpPr/>
          <p:nvPr/>
        </p:nvSpPr>
        <p:spPr>
          <a:xfrm>
            <a:off x="1856232" y="1371600"/>
            <a:ext cx="1261872" cy="2103120"/>
          </a:xfrm>
          <a:prstGeom prst="roundRect">
            <a:avLst>
              <a:gd name="adj" fmla="val 5797"/>
            </a:avLst>
          </a:prstGeom>
          <a:solidFill>
            <a:srgbClr val="EAF2F2"/>
          </a:solidFill>
          <a:ln w="12700">
            <a:solidFill>
              <a:srgbClr val="EAF2F2"/>
            </a:solidFill>
            <a:prstDash val="solid"/>
          </a:ln>
        </p:spPr>
      </p:sp>
      <p:sp>
        <p:nvSpPr>
          <p:cNvPr id="49" name="Text 47"/>
          <p:cNvSpPr txBox="1"/>
          <p:nvPr/>
        </p:nvSpPr>
        <p:spPr>
          <a:xfrm>
            <a:off x="1929384" y="1463040"/>
            <a:ext cx="1115568" cy="274320"/>
          </a:xfrm>
          <a:prstGeom prst="rect">
            <a:avLst/>
          </a:prstGeom>
          <a:noFill/>
          <a:ln/>
        </p:spPr>
        <p:txBody>
          <a:bodyPr wrap="square" lIns="0" tIns="0" rIns="0" bIns="0" rtlCol="0" anchor="ctr"/>
          <a:lstStyle/>
          <a:p>
            <a:pPr indent="0" marL="0">
              <a:buNone/>
            </a:pPr>
            <a:r>
              <a:rPr lang="en-US" sz="1000" b="1" dirty="0">
                <a:solidFill>
                  <a:srgbClr val="5F6B70"/>
                </a:solidFill>
              </a:rPr>
              <a:t>Business rule</a:t>
            </a:r>
            <a:endParaRPr lang="en-US" sz="1000" dirty="0"/>
          </a:p>
        </p:txBody>
      </p:sp>
      <p:sp>
        <p:nvSpPr>
          <p:cNvPr id="50" name="Text 48"/>
          <p:cNvSpPr txBox="1"/>
          <p:nvPr/>
        </p:nvSpPr>
        <p:spPr>
          <a:xfrm>
            <a:off x="1929384" y="1737360"/>
            <a:ext cx="1115568" cy="457200"/>
          </a:xfrm>
          <a:prstGeom prst="rect">
            <a:avLst/>
          </a:prstGeom>
          <a:noFill/>
          <a:ln/>
        </p:spPr>
        <p:txBody>
          <a:bodyPr wrap="square" lIns="0" tIns="0" rIns="0" bIns="0" rtlCol="0" anchor="ctr"/>
          <a:lstStyle/>
          <a:p>
            <a:pPr indent="0" marL="0">
              <a:buNone/>
            </a:pPr>
            <a:r>
              <a:rPr lang="en-US" sz="1500" b="1" dirty="0">
                <a:solidFill>
                  <a:srgbClr val="0E4D5C"/>
                </a:solidFill>
              </a:rPr>
              <a:t>BR-05</a:t>
            </a:r>
            <a:endParaRPr lang="en-US" sz="1500" dirty="0"/>
          </a:p>
        </p:txBody>
      </p:sp>
      <p:sp>
        <p:nvSpPr>
          <p:cNvPr id="51" name="Text 49"/>
          <p:cNvSpPr txBox="1"/>
          <p:nvPr/>
        </p:nvSpPr>
        <p:spPr>
          <a:xfrm>
            <a:off x="1929384" y="2240280"/>
            <a:ext cx="1115568" cy="1097280"/>
          </a:xfrm>
          <a:prstGeom prst="rect">
            <a:avLst/>
          </a:prstGeom>
          <a:noFill/>
          <a:ln/>
        </p:spPr>
        <p:txBody>
          <a:bodyPr wrap="square" lIns="0" tIns="0" rIns="0" bIns="0" rtlCol="0" anchor="t"/>
          <a:lstStyle/>
          <a:p>
            <a:pPr indent="0" marL="0">
              <a:buNone/>
            </a:pPr>
            <a:r>
              <a:rPr lang="en-US" sz="1100" dirty="0">
                <a:solidFill>
                  <a:srgbClr val="1F2A30"/>
                </a:solidFill>
              </a:rPr>
              <a:t>Card payment must be authorized first</a:t>
            </a:r>
            <a:endParaRPr lang="en-US" sz="1100" dirty="0"/>
          </a:p>
        </p:txBody>
      </p:sp>
      <p:sp>
        <p:nvSpPr>
          <p:cNvPr id="52" name="Text 50"/>
          <p:cNvSpPr txBox="1"/>
          <p:nvPr/>
        </p:nvSpPr>
        <p:spPr>
          <a:xfrm>
            <a:off x="3099816" y="2194560"/>
            <a:ext cx="182880" cy="365760"/>
          </a:xfrm>
          <a:prstGeom prst="rect">
            <a:avLst/>
          </a:prstGeom>
          <a:noFill/>
          <a:ln/>
        </p:spPr>
        <p:txBody>
          <a:bodyPr wrap="square" lIns="0" tIns="0" rIns="0" bIns="0" rtlCol="0" anchor="ctr"/>
          <a:lstStyle/>
          <a:p>
            <a:pPr algn="ctr" indent="0" marL="0">
              <a:buNone/>
            </a:pPr>
            <a:r>
              <a:rPr lang="en-US" sz="1800" dirty="0">
                <a:solidFill>
                  <a:srgbClr val="1B7F79"/>
                </a:solidFill>
              </a:rPr>
              <a:t>›</a:t>
            </a:r>
            <a:endParaRPr lang="en-US" sz="1800" dirty="0"/>
          </a:p>
        </p:txBody>
      </p:sp>
      <p:sp>
        <p:nvSpPr>
          <p:cNvPr id="53" name="Shape 51"/>
          <p:cNvSpPr/>
          <p:nvPr/>
        </p:nvSpPr>
        <p:spPr>
          <a:xfrm>
            <a:off x="3255264" y="1371600"/>
            <a:ext cx="1261872" cy="2103120"/>
          </a:xfrm>
          <a:prstGeom prst="roundRect">
            <a:avLst>
              <a:gd name="adj" fmla="val 5797"/>
            </a:avLst>
          </a:prstGeom>
          <a:solidFill>
            <a:srgbClr val="0E4D5C"/>
          </a:solidFill>
          <a:ln w="12700">
            <a:solidFill>
              <a:srgbClr val="0E4D5C"/>
            </a:solidFill>
            <a:prstDash val="solid"/>
          </a:ln>
        </p:spPr>
      </p:sp>
      <p:sp>
        <p:nvSpPr>
          <p:cNvPr id="54" name="Text 52"/>
          <p:cNvSpPr txBox="1"/>
          <p:nvPr/>
        </p:nvSpPr>
        <p:spPr>
          <a:xfrm>
            <a:off x="3328416" y="1463040"/>
            <a:ext cx="1115568" cy="274320"/>
          </a:xfrm>
          <a:prstGeom prst="rect">
            <a:avLst/>
          </a:prstGeom>
          <a:noFill/>
          <a:ln/>
        </p:spPr>
        <p:txBody>
          <a:bodyPr wrap="square" lIns="0" tIns="0" rIns="0" bIns="0" rtlCol="0" anchor="ctr"/>
          <a:lstStyle/>
          <a:p>
            <a:pPr indent="0" marL="0">
              <a:buNone/>
            </a:pPr>
            <a:r>
              <a:rPr lang="en-US" sz="1000" b="1" dirty="0">
                <a:solidFill>
                  <a:srgbClr val="CFE3E1"/>
                </a:solidFill>
              </a:rPr>
              <a:t>Requirement</a:t>
            </a:r>
            <a:endParaRPr lang="en-US" sz="1000" dirty="0"/>
          </a:p>
        </p:txBody>
      </p:sp>
      <p:sp>
        <p:nvSpPr>
          <p:cNvPr id="55" name="Text 53"/>
          <p:cNvSpPr txBox="1"/>
          <p:nvPr/>
        </p:nvSpPr>
        <p:spPr>
          <a:xfrm>
            <a:off x="3328416" y="1737360"/>
            <a:ext cx="1115568" cy="457200"/>
          </a:xfrm>
          <a:prstGeom prst="rect">
            <a:avLst/>
          </a:prstGeom>
          <a:noFill/>
          <a:ln/>
        </p:spPr>
        <p:txBody>
          <a:bodyPr wrap="square" lIns="0" tIns="0" rIns="0" bIns="0" rtlCol="0" anchor="ctr"/>
          <a:lstStyle/>
          <a:p>
            <a:pPr indent="0" marL="0">
              <a:buNone/>
            </a:pPr>
            <a:r>
              <a:rPr lang="en-US" sz="1500" b="1" dirty="0">
                <a:solidFill>
                  <a:srgbClr val="FFFFFF"/>
                </a:solidFill>
              </a:rPr>
              <a:t>FR-10</a:t>
            </a:r>
            <a:endParaRPr lang="en-US" sz="1500" dirty="0"/>
          </a:p>
        </p:txBody>
      </p:sp>
      <p:sp>
        <p:nvSpPr>
          <p:cNvPr id="56" name="Text 54"/>
          <p:cNvSpPr txBox="1"/>
          <p:nvPr/>
        </p:nvSpPr>
        <p:spPr>
          <a:xfrm>
            <a:off x="3328416" y="2240280"/>
            <a:ext cx="1115568" cy="1097280"/>
          </a:xfrm>
          <a:prstGeom prst="rect">
            <a:avLst/>
          </a:prstGeom>
          <a:noFill/>
          <a:ln/>
        </p:spPr>
        <p:txBody>
          <a:bodyPr wrap="square" lIns="0" tIns="0" rIns="0" bIns="0" rtlCol="0" anchor="t"/>
          <a:lstStyle/>
          <a:p>
            <a:pPr indent="0" marL="0">
              <a:buNone/>
            </a:pPr>
            <a:r>
              <a:rPr lang="en-US" sz="1100" dirty="0">
                <a:solidFill>
                  <a:srgbClr val="FFFFFF"/>
                </a:solidFill>
              </a:rPr>
              <a:t>Complete card payment only if approved</a:t>
            </a:r>
            <a:endParaRPr lang="en-US" sz="1100" dirty="0"/>
          </a:p>
        </p:txBody>
      </p:sp>
      <p:sp>
        <p:nvSpPr>
          <p:cNvPr id="57" name="Text 55"/>
          <p:cNvSpPr txBox="1"/>
          <p:nvPr/>
        </p:nvSpPr>
        <p:spPr>
          <a:xfrm>
            <a:off x="4498848" y="2194560"/>
            <a:ext cx="182880" cy="365760"/>
          </a:xfrm>
          <a:prstGeom prst="rect">
            <a:avLst/>
          </a:prstGeom>
          <a:noFill/>
          <a:ln/>
        </p:spPr>
        <p:txBody>
          <a:bodyPr wrap="square" lIns="0" tIns="0" rIns="0" bIns="0" rtlCol="0" anchor="ctr"/>
          <a:lstStyle/>
          <a:p>
            <a:pPr algn="ctr" indent="0" marL="0">
              <a:buNone/>
            </a:pPr>
            <a:r>
              <a:rPr lang="en-US" sz="1800" dirty="0">
                <a:solidFill>
                  <a:srgbClr val="1B7F79"/>
                </a:solidFill>
              </a:rPr>
              <a:t>›</a:t>
            </a:r>
            <a:endParaRPr lang="en-US" sz="1800" dirty="0"/>
          </a:p>
        </p:txBody>
      </p:sp>
      <p:sp>
        <p:nvSpPr>
          <p:cNvPr id="58" name="Shape 56"/>
          <p:cNvSpPr/>
          <p:nvPr/>
        </p:nvSpPr>
        <p:spPr>
          <a:xfrm>
            <a:off x="4654296" y="1371600"/>
            <a:ext cx="1261872" cy="2103120"/>
          </a:xfrm>
          <a:prstGeom prst="roundRect">
            <a:avLst>
              <a:gd name="adj" fmla="val 5797"/>
            </a:avLst>
          </a:prstGeom>
          <a:solidFill>
            <a:srgbClr val="EAF2F2"/>
          </a:solidFill>
          <a:ln w="12700">
            <a:solidFill>
              <a:srgbClr val="EAF2F2"/>
            </a:solidFill>
            <a:prstDash val="solid"/>
          </a:ln>
        </p:spPr>
      </p:sp>
      <p:sp>
        <p:nvSpPr>
          <p:cNvPr id="59" name="Text 57"/>
          <p:cNvSpPr txBox="1"/>
          <p:nvPr/>
        </p:nvSpPr>
        <p:spPr>
          <a:xfrm>
            <a:off x="4727448" y="1463040"/>
            <a:ext cx="1115568" cy="274320"/>
          </a:xfrm>
          <a:prstGeom prst="rect">
            <a:avLst/>
          </a:prstGeom>
          <a:noFill/>
          <a:ln/>
        </p:spPr>
        <p:txBody>
          <a:bodyPr wrap="square" lIns="0" tIns="0" rIns="0" bIns="0" rtlCol="0" anchor="ctr"/>
          <a:lstStyle/>
          <a:p>
            <a:pPr indent="0" marL="0">
              <a:buNone/>
            </a:pPr>
            <a:r>
              <a:rPr lang="en-US" sz="1000" b="1" dirty="0">
                <a:solidFill>
                  <a:srgbClr val="5F6B70"/>
                </a:solidFill>
              </a:rPr>
              <a:t>Interface</a:t>
            </a:r>
            <a:endParaRPr lang="en-US" sz="1000" dirty="0"/>
          </a:p>
        </p:txBody>
      </p:sp>
      <p:sp>
        <p:nvSpPr>
          <p:cNvPr id="60" name="Text 58"/>
          <p:cNvSpPr txBox="1"/>
          <p:nvPr/>
        </p:nvSpPr>
        <p:spPr>
          <a:xfrm>
            <a:off x="4727448" y="1737360"/>
            <a:ext cx="1115568" cy="457200"/>
          </a:xfrm>
          <a:prstGeom prst="rect">
            <a:avLst/>
          </a:prstGeom>
          <a:noFill/>
          <a:ln/>
        </p:spPr>
        <p:txBody>
          <a:bodyPr wrap="square" lIns="0" tIns="0" rIns="0" bIns="0" rtlCol="0" anchor="ctr"/>
          <a:lstStyle/>
          <a:p>
            <a:pPr indent="0" marL="0">
              <a:buNone/>
            </a:pPr>
            <a:r>
              <a:rPr lang="en-US" sz="1500" b="1" dirty="0">
                <a:solidFill>
                  <a:srgbClr val="0E4D5C"/>
                </a:solidFill>
              </a:rPr>
              <a:t>IR-01 / IR-02</a:t>
            </a:r>
            <a:endParaRPr lang="en-US" sz="1500" dirty="0"/>
          </a:p>
        </p:txBody>
      </p:sp>
      <p:sp>
        <p:nvSpPr>
          <p:cNvPr id="61" name="Text 59"/>
          <p:cNvSpPr txBox="1"/>
          <p:nvPr/>
        </p:nvSpPr>
        <p:spPr>
          <a:xfrm>
            <a:off x="4727448" y="2240280"/>
            <a:ext cx="1115568" cy="1097280"/>
          </a:xfrm>
          <a:prstGeom prst="rect">
            <a:avLst/>
          </a:prstGeom>
          <a:noFill/>
          <a:ln/>
        </p:spPr>
        <p:txBody>
          <a:bodyPr wrap="square" lIns="0" tIns="0" rIns="0" bIns="0" rtlCol="0" anchor="t"/>
          <a:lstStyle/>
          <a:p>
            <a:pPr indent="0" marL="0">
              <a:buNone/>
            </a:pPr>
            <a:r>
              <a:rPr lang="en-US" sz="1100" dirty="0">
                <a:solidFill>
                  <a:srgbClr val="1F2A30"/>
                </a:solidFill>
              </a:rPr>
              <a:t>Request authorization; fallback to cash</a:t>
            </a:r>
            <a:endParaRPr lang="en-US" sz="1100" dirty="0"/>
          </a:p>
        </p:txBody>
      </p:sp>
      <p:sp>
        <p:nvSpPr>
          <p:cNvPr id="62" name="Text 60"/>
          <p:cNvSpPr txBox="1"/>
          <p:nvPr/>
        </p:nvSpPr>
        <p:spPr>
          <a:xfrm>
            <a:off x="5897880" y="2194560"/>
            <a:ext cx="182880" cy="365760"/>
          </a:xfrm>
          <a:prstGeom prst="rect">
            <a:avLst/>
          </a:prstGeom>
          <a:noFill/>
          <a:ln/>
        </p:spPr>
        <p:txBody>
          <a:bodyPr wrap="square" lIns="0" tIns="0" rIns="0" bIns="0" rtlCol="0" anchor="ctr"/>
          <a:lstStyle/>
          <a:p>
            <a:pPr algn="ctr" indent="0" marL="0">
              <a:buNone/>
            </a:pPr>
            <a:r>
              <a:rPr lang="en-US" sz="1800" dirty="0">
                <a:solidFill>
                  <a:srgbClr val="1B7F79"/>
                </a:solidFill>
              </a:rPr>
              <a:t>›</a:t>
            </a:r>
            <a:endParaRPr lang="en-US" sz="1800" dirty="0"/>
          </a:p>
        </p:txBody>
      </p:sp>
      <p:sp>
        <p:nvSpPr>
          <p:cNvPr id="63" name="Shape 61"/>
          <p:cNvSpPr/>
          <p:nvPr/>
        </p:nvSpPr>
        <p:spPr>
          <a:xfrm>
            <a:off x="6053328" y="1371600"/>
            <a:ext cx="1261872" cy="2103120"/>
          </a:xfrm>
          <a:prstGeom prst="roundRect">
            <a:avLst>
              <a:gd name="adj" fmla="val 5797"/>
            </a:avLst>
          </a:prstGeom>
          <a:solidFill>
            <a:srgbClr val="EAF2F2"/>
          </a:solidFill>
          <a:ln w="12700">
            <a:solidFill>
              <a:srgbClr val="EAF2F2"/>
            </a:solidFill>
            <a:prstDash val="solid"/>
          </a:ln>
        </p:spPr>
      </p:sp>
      <p:sp>
        <p:nvSpPr>
          <p:cNvPr id="64" name="Text 62"/>
          <p:cNvSpPr txBox="1"/>
          <p:nvPr/>
        </p:nvSpPr>
        <p:spPr>
          <a:xfrm>
            <a:off x="6126480" y="1463040"/>
            <a:ext cx="1115568" cy="274320"/>
          </a:xfrm>
          <a:prstGeom prst="rect">
            <a:avLst/>
          </a:prstGeom>
          <a:noFill/>
          <a:ln/>
        </p:spPr>
        <p:txBody>
          <a:bodyPr wrap="square" lIns="0" tIns="0" rIns="0" bIns="0" rtlCol="0" anchor="ctr"/>
          <a:lstStyle/>
          <a:p>
            <a:pPr indent="0" marL="0">
              <a:buNone/>
            </a:pPr>
            <a:r>
              <a:rPr lang="en-US" sz="1000" b="1" dirty="0">
                <a:solidFill>
                  <a:srgbClr val="5F6B70"/>
                </a:solidFill>
              </a:rPr>
              <a:t>Quality</a:t>
            </a:r>
            <a:endParaRPr lang="en-US" sz="1000" dirty="0"/>
          </a:p>
        </p:txBody>
      </p:sp>
      <p:sp>
        <p:nvSpPr>
          <p:cNvPr id="65" name="Text 63"/>
          <p:cNvSpPr txBox="1"/>
          <p:nvPr/>
        </p:nvSpPr>
        <p:spPr>
          <a:xfrm>
            <a:off x="6126480" y="1737360"/>
            <a:ext cx="1115568" cy="457200"/>
          </a:xfrm>
          <a:prstGeom prst="rect">
            <a:avLst/>
          </a:prstGeom>
          <a:noFill/>
          <a:ln/>
        </p:spPr>
        <p:txBody>
          <a:bodyPr wrap="square" lIns="0" tIns="0" rIns="0" bIns="0" rtlCol="0" anchor="ctr"/>
          <a:lstStyle/>
          <a:p>
            <a:pPr indent="0" marL="0">
              <a:buNone/>
            </a:pPr>
            <a:r>
              <a:rPr lang="en-US" sz="1500" b="1" dirty="0">
                <a:solidFill>
                  <a:srgbClr val="0E4D5C"/>
                </a:solidFill>
              </a:rPr>
              <a:t>NFR-08</a:t>
            </a:r>
            <a:endParaRPr lang="en-US" sz="1500" dirty="0"/>
          </a:p>
        </p:txBody>
      </p:sp>
      <p:sp>
        <p:nvSpPr>
          <p:cNvPr id="66" name="Text 64"/>
          <p:cNvSpPr txBox="1"/>
          <p:nvPr/>
        </p:nvSpPr>
        <p:spPr>
          <a:xfrm>
            <a:off x="6126480" y="2240280"/>
            <a:ext cx="1115568" cy="1097280"/>
          </a:xfrm>
          <a:prstGeom prst="rect">
            <a:avLst/>
          </a:prstGeom>
          <a:noFill/>
          <a:ln/>
        </p:spPr>
        <p:txBody>
          <a:bodyPr wrap="square" lIns="0" tIns="0" rIns="0" bIns="0" rtlCol="0" anchor="t"/>
          <a:lstStyle/>
          <a:p>
            <a:pPr indent="0" marL="0">
              <a:buNone/>
            </a:pPr>
            <a:r>
              <a:rPr lang="en-US" sz="1100" dirty="0">
                <a:solidFill>
                  <a:srgbClr val="1F2A30"/>
                </a:solidFill>
              </a:rPr>
              <a:t>Payment data encrypted</a:t>
            </a:r>
            <a:endParaRPr lang="en-US" sz="1100" dirty="0"/>
          </a:p>
        </p:txBody>
      </p:sp>
      <p:sp>
        <p:nvSpPr>
          <p:cNvPr id="67" name="Text 65"/>
          <p:cNvSpPr txBox="1"/>
          <p:nvPr/>
        </p:nvSpPr>
        <p:spPr>
          <a:xfrm>
            <a:off x="7296912" y="2194560"/>
            <a:ext cx="182880" cy="365760"/>
          </a:xfrm>
          <a:prstGeom prst="rect">
            <a:avLst/>
          </a:prstGeom>
          <a:noFill/>
          <a:ln/>
        </p:spPr>
        <p:txBody>
          <a:bodyPr wrap="square" lIns="0" tIns="0" rIns="0" bIns="0" rtlCol="0" anchor="ctr"/>
          <a:lstStyle/>
          <a:p>
            <a:pPr algn="ctr" indent="0" marL="0">
              <a:buNone/>
            </a:pPr>
            <a:r>
              <a:rPr lang="en-US" sz="1800" dirty="0">
                <a:solidFill>
                  <a:srgbClr val="1B7F79"/>
                </a:solidFill>
              </a:rPr>
              <a:t>›</a:t>
            </a:r>
            <a:endParaRPr lang="en-US" sz="1800" dirty="0"/>
          </a:p>
        </p:txBody>
      </p:sp>
      <p:sp>
        <p:nvSpPr>
          <p:cNvPr id="68" name="Shape 66"/>
          <p:cNvSpPr/>
          <p:nvPr/>
        </p:nvSpPr>
        <p:spPr>
          <a:xfrm>
            <a:off x="7452360" y="1371600"/>
            <a:ext cx="1261872" cy="2103120"/>
          </a:xfrm>
          <a:prstGeom prst="roundRect">
            <a:avLst>
              <a:gd name="adj" fmla="val 5797"/>
            </a:avLst>
          </a:prstGeom>
          <a:solidFill>
            <a:srgbClr val="EAF2F2"/>
          </a:solidFill>
          <a:ln w="12700">
            <a:solidFill>
              <a:srgbClr val="EAF2F2"/>
            </a:solidFill>
            <a:prstDash val="solid"/>
          </a:ln>
        </p:spPr>
      </p:sp>
      <p:sp>
        <p:nvSpPr>
          <p:cNvPr id="69" name="Text 67"/>
          <p:cNvSpPr txBox="1"/>
          <p:nvPr/>
        </p:nvSpPr>
        <p:spPr>
          <a:xfrm>
            <a:off x="7525512" y="1463040"/>
            <a:ext cx="1115568" cy="274320"/>
          </a:xfrm>
          <a:prstGeom prst="rect">
            <a:avLst/>
          </a:prstGeom>
          <a:noFill/>
          <a:ln/>
        </p:spPr>
        <p:txBody>
          <a:bodyPr wrap="square" lIns="0" tIns="0" rIns="0" bIns="0" rtlCol="0" anchor="ctr"/>
          <a:lstStyle/>
          <a:p>
            <a:pPr indent="0" marL="0">
              <a:buNone/>
            </a:pPr>
            <a:r>
              <a:rPr lang="en-US" sz="1000" b="1" dirty="0">
                <a:solidFill>
                  <a:srgbClr val="5F6B70"/>
                </a:solidFill>
              </a:rPr>
              <a:t>Test</a:t>
            </a:r>
            <a:endParaRPr lang="en-US" sz="1000" dirty="0"/>
          </a:p>
        </p:txBody>
      </p:sp>
      <p:sp>
        <p:nvSpPr>
          <p:cNvPr id="70" name="Text 68"/>
          <p:cNvSpPr txBox="1"/>
          <p:nvPr/>
        </p:nvSpPr>
        <p:spPr>
          <a:xfrm>
            <a:off x="7525512" y="1737360"/>
            <a:ext cx="1115568" cy="457200"/>
          </a:xfrm>
          <a:prstGeom prst="rect">
            <a:avLst/>
          </a:prstGeom>
          <a:noFill/>
          <a:ln/>
        </p:spPr>
        <p:txBody>
          <a:bodyPr wrap="square" lIns="0" tIns="0" rIns="0" bIns="0" rtlCol="0" anchor="ctr"/>
          <a:lstStyle/>
          <a:p>
            <a:pPr indent="0" marL="0">
              <a:buNone/>
            </a:pPr>
            <a:r>
              <a:rPr lang="en-US" sz="1500" b="1" dirty="0">
                <a:solidFill>
                  <a:srgbClr val="0E4D5C"/>
                </a:solidFill>
              </a:rPr>
              <a:t>TC-10</a:t>
            </a:r>
            <a:endParaRPr lang="en-US" sz="1500" dirty="0"/>
          </a:p>
        </p:txBody>
      </p:sp>
      <p:sp>
        <p:nvSpPr>
          <p:cNvPr id="71" name="Text 69"/>
          <p:cNvSpPr txBox="1"/>
          <p:nvPr/>
        </p:nvSpPr>
        <p:spPr>
          <a:xfrm>
            <a:off x="7525512" y="2240280"/>
            <a:ext cx="1115568" cy="1097280"/>
          </a:xfrm>
          <a:prstGeom prst="rect">
            <a:avLst/>
          </a:prstGeom>
          <a:noFill/>
          <a:ln/>
        </p:spPr>
        <p:txBody>
          <a:bodyPr wrap="square" lIns="0" tIns="0" rIns="0" bIns="0" rtlCol="0" anchor="t"/>
          <a:lstStyle/>
          <a:p>
            <a:pPr indent="0" marL="0">
              <a:buNone/>
            </a:pPr>
            <a:r>
              <a:rPr lang="en-US" sz="1100" dirty="0">
                <a:solidFill>
                  <a:srgbClr val="1F2A30"/>
                </a:solidFill>
              </a:rPr>
              <a:t>Mock approval; auth code saved</a:t>
            </a:r>
            <a:endParaRPr lang="en-US" sz="1100" dirty="0"/>
          </a:p>
        </p:txBody>
      </p:sp>
      <p:sp>
        <p:nvSpPr>
          <p:cNvPr id="72" name="Text 70"/>
          <p:cNvSpPr txBox="1"/>
          <p:nvPr/>
        </p:nvSpPr>
        <p:spPr>
          <a:xfrm>
            <a:off x="457200" y="3749040"/>
            <a:ext cx="8229600" cy="457200"/>
          </a:xfrm>
          <a:prstGeom prst="rect">
            <a:avLst/>
          </a:prstGeom>
          <a:noFill/>
          <a:ln/>
        </p:spPr>
        <p:txBody>
          <a:bodyPr wrap="square" lIns="0" tIns="0" rIns="0" bIns="0" rtlCol="0" anchor="ctr"/>
          <a:lstStyle/>
          <a:p>
            <a:pPr indent="0" marL="0">
              <a:buNone/>
            </a:pPr>
            <a:r>
              <a:rPr lang="en-US" sz="1200" i="1" dirty="0">
                <a:solidFill>
                  <a:srgbClr val="5F6B70"/>
                </a:solidFill>
              </a:rPr>
              <a:t>The traceability matrix (requirements_conventions.md) already covers FR-01 to FR-17 with a planned test case for each; the design column will be completed in increment 2.</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274320" y="4681728"/>
            <a:ext cx="1005840" cy="182880"/>
          </a:xfrm>
          <a:prstGeom prst="rect">
            <a:avLst/>
          </a:prstGeom>
          <a:noFill/>
          <a:ln/>
        </p:spPr>
        <p:txBody>
          <a:bodyPr wrap="square" lIns="0" tIns="0" rIns="0" bIns="0" rtlCol="0" anchor="ctr"/>
          <a:lstStyle/>
          <a:p>
            <a:pPr indent="0" marL="0">
              <a:buNone/>
            </a:pPr>
            <a:r>
              <a:rPr lang="en-US" sz="800" b="1" dirty="0">
                <a:solidFill>
                  <a:srgbClr val="5F6B70"/>
                </a:solidFill>
              </a:rPr>
              <a:t>Course timeline</a:t>
            </a:r>
            <a:endParaRPr lang="en-US" sz="800" dirty="0"/>
          </a:p>
        </p:txBody>
      </p:sp>
      <p:sp>
        <p:nvSpPr>
          <p:cNvPr id="3" name="Shape 1"/>
          <p:cNvSpPr/>
          <p:nvPr/>
        </p:nvSpPr>
        <p:spPr>
          <a:xfrm>
            <a:off x="1325880" y="4773168"/>
            <a:ext cx="6537960" cy="0"/>
          </a:xfrm>
          <a:prstGeom prst="line">
            <a:avLst/>
          </a:prstGeom>
          <a:noFill/>
          <a:ln w="19050">
            <a:solidFill>
              <a:srgbClr val="C9D9D8"/>
            </a:solidFill>
            <a:prstDash val="solid"/>
          </a:ln>
        </p:spPr>
      </p:sp>
      <p:sp>
        <p:nvSpPr>
          <p:cNvPr id="4" name="Shape 2"/>
          <p:cNvSpPr/>
          <p:nvPr/>
        </p:nvSpPr>
        <p:spPr>
          <a:xfrm>
            <a:off x="1325880" y="4773168"/>
            <a:ext cx="2179320" cy="0"/>
          </a:xfrm>
          <a:prstGeom prst="line">
            <a:avLst/>
          </a:prstGeom>
          <a:noFill/>
          <a:ln w="31750">
            <a:solidFill>
              <a:srgbClr val="1B7F79"/>
            </a:solidFill>
            <a:prstDash val="solid"/>
          </a:ln>
        </p:spPr>
      </p:sp>
      <p:sp>
        <p:nvSpPr>
          <p:cNvPr id="5" name="Shape 3"/>
          <p:cNvSpPr/>
          <p:nvPr/>
        </p:nvSpPr>
        <p:spPr>
          <a:xfrm>
            <a:off x="1293876" y="4741164"/>
            <a:ext cx="64008" cy="64008"/>
          </a:xfrm>
          <a:prstGeom prst="ellipse">
            <a:avLst/>
          </a:prstGeom>
          <a:solidFill>
            <a:srgbClr val="1B7F79"/>
          </a:solidFill>
          <a:ln w="12700">
            <a:solidFill>
              <a:srgbClr val="1B7F79"/>
            </a:solidFill>
            <a:prstDash val="solid"/>
          </a:ln>
        </p:spPr>
      </p:sp>
      <p:sp>
        <p:nvSpPr>
          <p:cNvPr id="6" name="Text 4"/>
          <p:cNvSpPr txBox="1"/>
          <p:nvPr/>
        </p:nvSpPr>
        <p:spPr>
          <a:xfrm>
            <a:off x="105156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a:t>
            </a:r>
            <a:endParaRPr lang="en-US" sz="700" dirty="0"/>
          </a:p>
        </p:txBody>
      </p:sp>
      <p:sp>
        <p:nvSpPr>
          <p:cNvPr id="7" name="Shape 5"/>
          <p:cNvSpPr/>
          <p:nvPr/>
        </p:nvSpPr>
        <p:spPr>
          <a:xfrm>
            <a:off x="1729740" y="4741164"/>
            <a:ext cx="64008" cy="64008"/>
          </a:xfrm>
          <a:prstGeom prst="ellipse">
            <a:avLst/>
          </a:prstGeom>
          <a:solidFill>
            <a:srgbClr val="1B7F79"/>
          </a:solidFill>
          <a:ln w="12700">
            <a:solidFill>
              <a:srgbClr val="1B7F79"/>
            </a:solidFill>
            <a:prstDash val="solid"/>
          </a:ln>
        </p:spPr>
      </p:sp>
      <p:sp>
        <p:nvSpPr>
          <p:cNvPr id="8" name="Text 6"/>
          <p:cNvSpPr txBox="1"/>
          <p:nvPr/>
        </p:nvSpPr>
        <p:spPr>
          <a:xfrm>
            <a:off x="148742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W2</a:t>
            </a:r>
            <a:endParaRPr lang="en-US" sz="700" dirty="0"/>
          </a:p>
        </p:txBody>
      </p:sp>
      <p:sp>
        <p:nvSpPr>
          <p:cNvPr id="9" name="Shape 7"/>
          <p:cNvSpPr/>
          <p:nvPr/>
        </p:nvSpPr>
        <p:spPr>
          <a:xfrm>
            <a:off x="2165604" y="4741164"/>
            <a:ext cx="64008" cy="64008"/>
          </a:xfrm>
          <a:prstGeom prst="ellipse">
            <a:avLst/>
          </a:prstGeom>
          <a:solidFill>
            <a:srgbClr val="1B7F79"/>
          </a:solidFill>
          <a:ln w="12700">
            <a:solidFill>
              <a:srgbClr val="1B7F79"/>
            </a:solidFill>
            <a:prstDash val="solid"/>
          </a:ln>
        </p:spPr>
      </p:sp>
      <p:sp>
        <p:nvSpPr>
          <p:cNvPr id="10" name="Text 8"/>
          <p:cNvSpPr txBox="1"/>
          <p:nvPr/>
        </p:nvSpPr>
        <p:spPr>
          <a:xfrm>
            <a:off x="192328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W3</a:t>
            </a:r>
            <a:endParaRPr lang="en-US" sz="700" dirty="0"/>
          </a:p>
        </p:txBody>
      </p:sp>
      <p:sp>
        <p:nvSpPr>
          <p:cNvPr id="11" name="Shape 9"/>
          <p:cNvSpPr/>
          <p:nvPr/>
        </p:nvSpPr>
        <p:spPr>
          <a:xfrm>
            <a:off x="2578608" y="4718304"/>
            <a:ext cx="109728" cy="109728"/>
          </a:xfrm>
          <a:prstGeom prst="ellipse">
            <a:avLst/>
          </a:prstGeom>
          <a:solidFill>
            <a:srgbClr val="1B7F79"/>
          </a:solidFill>
          <a:ln w="12700">
            <a:solidFill>
              <a:srgbClr val="1B7F79"/>
            </a:solidFill>
            <a:prstDash val="solid"/>
          </a:ln>
        </p:spPr>
      </p:sp>
      <p:sp>
        <p:nvSpPr>
          <p:cNvPr id="12" name="Text 10"/>
          <p:cNvSpPr txBox="1"/>
          <p:nvPr/>
        </p:nvSpPr>
        <p:spPr>
          <a:xfrm>
            <a:off x="235915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W4</a:t>
            </a:r>
            <a:endParaRPr lang="en-US" sz="700" dirty="0"/>
          </a:p>
        </p:txBody>
      </p:sp>
      <p:sp>
        <p:nvSpPr>
          <p:cNvPr id="13" name="Text 11"/>
          <p:cNvSpPr txBox="1"/>
          <p:nvPr/>
        </p:nvSpPr>
        <p:spPr>
          <a:xfrm>
            <a:off x="2084832"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Process models</a:t>
            </a:r>
            <a:endParaRPr lang="en-US" sz="700" dirty="0"/>
          </a:p>
        </p:txBody>
      </p:sp>
      <p:sp>
        <p:nvSpPr>
          <p:cNvPr id="14" name="Shape 12"/>
          <p:cNvSpPr/>
          <p:nvPr/>
        </p:nvSpPr>
        <p:spPr>
          <a:xfrm>
            <a:off x="3037332" y="4741164"/>
            <a:ext cx="64008" cy="64008"/>
          </a:xfrm>
          <a:prstGeom prst="ellipse">
            <a:avLst/>
          </a:prstGeom>
          <a:solidFill>
            <a:srgbClr val="1B7F79"/>
          </a:solidFill>
          <a:ln w="12700">
            <a:solidFill>
              <a:srgbClr val="1B7F79"/>
            </a:solidFill>
            <a:prstDash val="solid"/>
          </a:ln>
        </p:spPr>
      </p:sp>
      <p:sp>
        <p:nvSpPr>
          <p:cNvPr id="15" name="Text 13"/>
          <p:cNvSpPr txBox="1"/>
          <p:nvPr/>
        </p:nvSpPr>
        <p:spPr>
          <a:xfrm>
            <a:off x="279501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W5</a:t>
            </a:r>
            <a:endParaRPr lang="en-US" sz="700" dirty="0"/>
          </a:p>
        </p:txBody>
      </p:sp>
      <p:sp>
        <p:nvSpPr>
          <p:cNvPr id="16" name="Shape 14"/>
          <p:cNvSpPr/>
          <p:nvPr/>
        </p:nvSpPr>
        <p:spPr>
          <a:xfrm>
            <a:off x="3427476" y="4695444"/>
            <a:ext cx="155448" cy="155448"/>
          </a:xfrm>
          <a:prstGeom prst="ellipse">
            <a:avLst/>
          </a:prstGeom>
          <a:solidFill>
            <a:srgbClr val="E09F3E"/>
          </a:solidFill>
          <a:ln w="12700">
            <a:solidFill>
              <a:srgbClr val="E09F3E"/>
            </a:solidFill>
            <a:prstDash val="solid"/>
          </a:ln>
        </p:spPr>
      </p:sp>
      <p:sp>
        <p:nvSpPr>
          <p:cNvPr id="17" name="Text 15"/>
          <p:cNvSpPr txBox="1"/>
          <p:nvPr/>
        </p:nvSpPr>
        <p:spPr>
          <a:xfrm>
            <a:off x="3230880" y="4855464"/>
            <a:ext cx="548640" cy="146304"/>
          </a:xfrm>
          <a:prstGeom prst="rect">
            <a:avLst/>
          </a:prstGeom>
          <a:noFill/>
          <a:ln/>
        </p:spPr>
        <p:txBody>
          <a:bodyPr wrap="square" lIns="0" tIns="0" rIns="0" bIns="0" rtlCol="0" anchor="ctr"/>
          <a:lstStyle/>
          <a:p>
            <a:pPr algn="ctr" indent="0" marL="0">
              <a:buNone/>
            </a:pPr>
            <a:r>
              <a:rPr lang="en-US" sz="700" b="1" dirty="0">
                <a:solidFill>
                  <a:srgbClr val="E09F3E"/>
                </a:solidFill>
              </a:rPr>
              <a:t>W6 · now</a:t>
            </a:r>
            <a:endParaRPr lang="en-US" sz="700" dirty="0"/>
          </a:p>
        </p:txBody>
      </p:sp>
      <p:sp>
        <p:nvSpPr>
          <p:cNvPr id="18" name="Shape 16"/>
          <p:cNvSpPr/>
          <p:nvPr/>
        </p:nvSpPr>
        <p:spPr>
          <a:xfrm>
            <a:off x="3886200" y="4718304"/>
            <a:ext cx="109728" cy="109728"/>
          </a:xfrm>
          <a:prstGeom prst="ellipse">
            <a:avLst/>
          </a:prstGeom>
          <a:solidFill>
            <a:srgbClr val="0E4D5C"/>
          </a:solidFill>
          <a:ln w="12700">
            <a:solidFill>
              <a:srgbClr val="0E4D5C"/>
            </a:solidFill>
            <a:prstDash val="solid"/>
          </a:ln>
        </p:spPr>
      </p:sp>
      <p:sp>
        <p:nvSpPr>
          <p:cNvPr id="19" name="Text 17"/>
          <p:cNvSpPr txBox="1"/>
          <p:nvPr/>
        </p:nvSpPr>
        <p:spPr>
          <a:xfrm>
            <a:off x="366674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W7</a:t>
            </a:r>
            <a:endParaRPr lang="en-US" sz="700" dirty="0"/>
          </a:p>
        </p:txBody>
      </p:sp>
      <p:sp>
        <p:nvSpPr>
          <p:cNvPr id="20" name="Text 18"/>
          <p:cNvSpPr txBox="1"/>
          <p:nvPr/>
        </p:nvSpPr>
        <p:spPr>
          <a:xfrm>
            <a:off x="3392424"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SRS</a:t>
            </a:r>
            <a:endParaRPr lang="en-US" sz="700" dirty="0"/>
          </a:p>
        </p:txBody>
      </p:sp>
      <p:sp>
        <p:nvSpPr>
          <p:cNvPr id="21" name="Shape 19"/>
          <p:cNvSpPr/>
          <p:nvPr/>
        </p:nvSpPr>
        <p:spPr>
          <a:xfrm>
            <a:off x="4344924" y="4741164"/>
            <a:ext cx="64008" cy="64008"/>
          </a:xfrm>
          <a:prstGeom prst="ellipse">
            <a:avLst/>
          </a:prstGeom>
          <a:solidFill>
            <a:srgbClr val="C9D9D8"/>
          </a:solidFill>
          <a:ln w="12700">
            <a:solidFill>
              <a:srgbClr val="C9D9D8"/>
            </a:solidFill>
            <a:prstDash val="solid"/>
          </a:ln>
        </p:spPr>
      </p:sp>
      <p:sp>
        <p:nvSpPr>
          <p:cNvPr id="22" name="Text 20"/>
          <p:cNvSpPr txBox="1"/>
          <p:nvPr/>
        </p:nvSpPr>
        <p:spPr>
          <a:xfrm>
            <a:off x="410260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W8</a:t>
            </a:r>
            <a:endParaRPr lang="en-US" sz="700" dirty="0"/>
          </a:p>
        </p:txBody>
      </p:sp>
      <p:sp>
        <p:nvSpPr>
          <p:cNvPr id="23" name="Shape 21"/>
          <p:cNvSpPr/>
          <p:nvPr/>
        </p:nvSpPr>
        <p:spPr>
          <a:xfrm>
            <a:off x="4780788" y="4741164"/>
            <a:ext cx="64008" cy="64008"/>
          </a:xfrm>
          <a:prstGeom prst="ellipse">
            <a:avLst/>
          </a:prstGeom>
          <a:solidFill>
            <a:srgbClr val="C9D9D8"/>
          </a:solidFill>
          <a:ln w="12700">
            <a:solidFill>
              <a:srgbClr val="C9D9D8"/>
            </a:solidFill>
            <a:prstDash val="solid"/>
          </a:ln>
        </p:spPr>
      </p:sp>
      <p:sp>
        <p:nvSpPr>
          <p:cNvPr id="24" name="Text 22"/>
          <p:cNvSpPr txBox="1"/>
          <p:nvPr/>
        </p:nvSpPr>
        <p:spPr>
          <a:xfrm>
            <a:off x="453847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W9</a:t>
            </a:r>
            <a:endParaRPr lang="en-US" sz="700" dirty="0"/>
          </a:p>
        </p:txBody>
      </p:sp>
      <p:sp>
        <p:nvSpPr>
          <p:cNvPr id="25" name="Shape 23"/>
          <p:cNvSpPr/>
          <p:nvPr/>
        </p:nvSpPr>
        <p:spPr>
          <a:xfrm>
            <a:off x="5216652" y="4741164"/>
            <a:ext cx="64008" cy="64008"/>
          </a:xfrm>
          <a:prstGeom prst="ellipse">
            <a:avLst/>
          </a:prstGeom>
          <a:solidFill>
            <a:srgbClr val="C9D9D8"/>
          </a:solidFill>
          <a:ln w="12700">
            <a:solidFill>
              <a:srgbClr val="C9D9D8"/>
            </a:solidFill>
            <a:prstDash val="solid"/>
          </a:ln>
        </p:spPr>
      </p:sp>
      <p:sp>
        <p:nvSpPr>
          <p:cNvPr id="26" name="Text 24"/>
          <p:cNvSpPr txBox="1"/>
          <p:nvPr/>
        </p:nvSpPr>
        <p:spPr>
          <a:xfrm>
            <a:off x="497433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W10</a:t>
            </a:r>
            <a:endParaRPr lang="en-US" sz="700" dirty="0"/>
          </a:p>
        </p:txBody>
      </p:sp>
      <p:sp>
        <p:nvSpPr>
          <p:cNvPr id="27" name="Shape 25"/>
          <p:cNvSpPr/>
          <p:nvPr/>
        </p:nvSpPr>
        <p:spPr>
          <a:xfrm>
            <a:off x="5629656" y="4718304"/>
            <a:ext cx="109728" cy="109728"/>
          </a:xfrm>
          <a:prstGeom prst="ellipse">
            <a:avLst/>
          </a:prstGeom>
          <a:solidFill>
            <a:srgbClr val="0E4D5C"/>
          </a:solidFill>
          <a:ln w="12700">
            <a:solidFill>
              <a:srgbClr val="0E4D5C"/>
            </a:solidFill>
            <a:prstDash val="solid"/>
          </a:ln>
        </p:spPr>
      </p:sp>
      <p:sp>
        <p:nvSpPr>
          <p:cNvPr id="28" name="Text 26"/>
          <p:cNvSpPr txBox="1"/>
          <p:nvPr/>
        </p:nvSpPr>
        <p:spPr>
          <a:xfrm>
            <a:off x="541020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W11</a:t>
            </a:r>
            <a:endParaRPr lang="en-US" sz="700" dirty="0"/>
          </a:p>
        </p:txBody>
      </p:sp>
      <p:sp>
        <p:nvSpPr>
          <p:cNvPr id="29" name="Text 27"/>
          <p:cNvSpPr txBox="1"/>
          <p:nvPr/>
        </p:nvSpPr>
        <p:spPr>
          <a:xfrm>
            <a:off x="513588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Design</a:t>
            </a:r>
            <a:endParaRPr lang="en-US" sz="700" dirty="0"/>
          </a:p>
        </p:txBody>
      </p:sp>
      <p:sp>
        <p:nvSpPr>
          <p:cNvPr id="30" name="Shape 28"/>
          <p:cNvSpPr/>
          <p:nvPr/>
        </p:nvSpPr>
        <p:spPr>
          <a:xfrm>
            <a:off x="6088380" y="4741164"/>
            <a:ext cx="64008" cy="64008"/>
          </a:xfrm>
          <a:prstGeom prst="ellipse">
            <a:avLst/>
          </a:prstGeom>
          <a:solidFill>
            <a:srgbClr val="C9D9D8"/>
          </a:solidFill>
          <a:ln w="12700">
            <a:solidFill>
              <a:srgbClr val="C9D9D8"/>
            </a:solidFill>
            <a:prstDash val="solid"/>
          </a:ln>
        </p:spPr>
      </p:sp>
      <p:sp>
        <p:nvSpPr>
          <p:cNvPr id="31" name="Text 29"/>
          <p:cNvSpPr txBox="1"/>
          <p:nvPr/>
        </p:nvSpPr>
        <p:spPr>
          <a:xfrm>
            <a:off x="584606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W12</a:t>
            </a:r>
            <a:endParaRPr lang="en-US" sz="700" dirty="0"/>
          </a:p>
        </p:txBody>
      </p:sp>
      <p:sp>
        <p:nvSpPr>
          <p:cNvPr id="32" name="Shape 30"/>
          <p:cNvSpPr/>
          <p:nvPr/>
        </p:nvSpPr>
        <p:spPr>
          <a:xfrm>
            <a:off x="6524244" y="4741164"/>
            <a:ext cx="64008" cy="64008"/>
          </a:xfrm>
          <a:prstGeom prst="ellipse">
            <a:avLst/>
          </a:prstGeom>
          <a:solidFill>
            <a:srgbClr val="C9D9D8"/>
          </a:solidFill>
          <a:ln w="12700">
            <a:solidFill>
              <a:srgbClr val="C9D9D8"/>
            </a:solidFill>
            <a:prstDash val="solid"/>
          </a:ln>
        </p:spPr>
      </p:sp>
      <p:sp>
        <p:nvSpPr>
          <p:cNvPr id="33" name="Text 31"/>
          <p:cNvSpPr txBox="1"/>
          <p:nvPr/>
        </p:nvSpPr>
        <p:spPr>
          <a:xfrm>
            <a:off x="628192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W13</a:t>
            </a:r>
            <a:endParaRPr lang="en-US" sz="700" dirty="0"/>
          </a:p>
        </p:txBody>
      </p:sp>
      <p:sp>
        <p:nvSpPr>
          <p:cNvPr id="34" name="Shape 32"/>
          <p:cNvSpPr/>
          <p:nvPr/>
        </p:nvSpPr>
        <p:spPr>
          <a:xfrm>
            <a:off x="6960108" y="4741164"/>
            <a:ext cx="64008" cy="64008"/>
          </a:xfrm>
          <a:prstGeom prst="ellipse">
            <a:avLst/>
          </a:prstGeom>
          <a:solidFill>
            <a:srgbClr val="C9D9D8"/>
          </a:solidFill>
          <a:ln w="12700">
            <a:solidFill>
              <a:srgbClr val="C9D9D8"/>
            </a:solidFill>
            <a:prstDash val="solid"/>
          </a:ln>
        </p:spPr>
      </p:sp>
      <p:sp>
        <p:nvSpPr>
          <p:cNvPr id="35" name="Text 33"/>
          <p:cNvSpPr txBox="1"/>
          <p:nvPr/>
        </p:nvSpPr>
        <p:spPr>
          <a:xfrm>
            <a:off x="671779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W14</a:t>
            </a:r>
            <a:endParaRPr lang="en-US" sz="700" dirty="0"/>
          </a:p>
        </p:txBody>
      </p:sp>
      <p:sp>
        <p:nvSpPr>
          <p:cNvPr id="36" name="Shape 34"/>
          <p:cNvSpPr/>
          <p:nvPr/>
        </p:nvSpPr>
        <p:spPr>
          <a:xfrm>
            <a:off x="7395972" y="4741164"/>
            <a:ext cx="64008" cy="64008"/>
          </a:xfrm>
          <a:prstGeom prst="ellipse">
            <a:avLst/>
          </a:prstGeom>
          <a:solidFill>
            <a:srgbClr val="C9D9D8"/>
          </a:solidFill>
          <a:ln w="12700">
            <a:solidFill>
              <a:srgbClr val="C9D9D8"/>
            </a:solidFill>
            <a:prstDash val="solid"/>
          </a:ln>
        </p:spPr>
      </p:sp>
      <p:sp>
        <p:nvSpPr>
          <p:cNvPr id="37" name="Text 35"/>
          <p:cNvSpPr txBox="1"/>
          <p:nvPr/>
        </p:nvSpPr>
        <p:spPr>
          <a:xfrm>
            <a:off x="715365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W15</a:t>
            </a:r>
            <a:endParaRPr lang="en-US" sz="700" dirty="0"/>
          </a:p>
        </p:txBody>
      </p:sp>
      <p:sp>
        <p:nvSpPr>
          <p:cNvPr id="38" name="Shape 36"/>
          <p:cNvSpPr/>
          <p:nvPr/>
        </p:nvSpPr>
        <p:spPr>
          <a:xfrm>
            <a:off x="7808976" y="4718304"/>
            <a:ext cx="109728" cy="109728"/>
          </a:xfrm>
          <a:prstGeom prst="ellipse">
            <a:avLst/>
          </a:prstGeom>
          <a:solidFill>
            <a:srgbClr val="0E4D5C"/>
          </a:solidFill>
          <a:ln w="12700">
            <a:solidFill>
              <a:srgbClr val="0E4D5C"/>
            </a:solidFill>
            <a:prstDash val="solid"/>
          </a:ln>
        </p:spPr>
      </p:sp>
      <p:sp>
        <p:nvSpPr>
          <p:cNvPr id="39" name="Text 37"/>
          <p:cNvSpPr txBox="1"/>
          <p:nvPr/>
        </p:nvSpPr>
        <p:spPr>
          <a:xfrm>
            <a:off x="758952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W16</a:t>
            </a:r>
            <a:endParaRPr lang="en-US" sz="700" dirty="0"/>
          </a:p>
        </p:txBody>
      </p:sp>
      <p:sp>
        <p:nvSpPr>
          <p:cNvPr id="40" name="Text 38"/>
          <p:cNvSpPr txBox="1"/>
          <p:nvPr/>
        </p:nvSpPr>
        <p:spPr>
          <a:xfrm>
            <a:off x="731520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Launch</a:t>
            </a:r>
            <a:endParaRPr lang="en-US" sz="700" dirty="0"/>
          </a:p>
        </p:txBody>
      </p:sp>
      <p:sp>
        <p:nvSpPr>
          <p:cNvPr id="41" name="Text 39"/>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100" kern="0" dirty="0">
                <a:solidFill>
                  <a:srgbClr val="1B7F79"/>
                </a:solidFill>
              </a:rPr>
              <a:t>2 · EXPERIMENTAL PROGRESS — DELIVERABLES</a:t>
            </a:r>
            <a:endParaRPr lang="en-US" sz="1000" dirty="0"/>
          </a:p>
        </p:txBody>
      </p:sp>
      <p:sp>
        <p:nvSpPr>
          <p:cNvPr id="42" name="Text 4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0E4D5C"/>
                </a:solidFill>
              </a:rPr>
              <a:t>Assignment 1 – SRS (ISO/IEC/IEEE 29148): status</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3291840"/>
                <a:gridCol w="2377440"/>
                <a:gridCol w="1371600"/>
                <a:gridCol w="1188720"/>
              </a:tblGrid>
              <a:tr h="301752">
                <a:tc>
                  <a:txBody>
                    <a:bodyPr/>
                    <a:lstStyle/>
                    <a:p>
                      <a:pPr indent="0" marL="0">
                        <a:buNone/>
                      </a:pPr>
                      <a:r>
                        <a:rPr lang="en-US" sz="1100" b="1" dirty="0">
                          <a:solidFill>
                            <a:srgbClr val="FFFFFF"/>
                          </a:solidFill>
                        </a:rPr>
                        <a:t>SRS section</a:t>
                      </a:r>
                      <a:endParaRPr lang="en-US" sz="11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0E4D5C"/>
                    </a:solidFill>
                  </a:tcPr>
                </a:tc>
                <a:tc>
                  <a:txBody>
                    <a:bodyPr/>
                    <a:lstStyle/>
                    <a:p>
                      <a:pPr indent="0" marL="0">
                        <a:buNone/>
                      </a:pPr>
                      <a:r>
                        <a:rPr lang="en-US" sz="1100" b="1" dirty="0">
                          <a:solidFill>
                            <a:srgbClr val="FFFFFF"/>
                          </a:solidFill>
                        </a:rPr>
                        <a:t>Source document</a:t>
                      </a:r>
                      <a:endParaRPr lang="en-US" sz="11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0E4D5C"/>
                    </a:solidFill>
                  </a:tcPr>
                </a:tc>
                <a:tc>
                  <a:txBody>
                    <a:bodyPr/>
                    <a:lstStyle/>
                    <a:p>
                      <a:pPr indent="0" marL="0">
                        <a:buNone/>
                      </a:pPr>
                      <a:r>
                        <a:rPr lang="en-US" sz="1100" b="1" dirty="0">
                          <a:solidFill>
                            <a:srgbClr val="FFFFFF"/>
                          </a:solidFill>
                        </a:rPr>
                        <a:t>Owner</a:t>
                      </a:r>
                      <a:endParaRPr lang="en-US" sz="11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0E4D5C"/>
                    </a:solidFill>
                  </a:tcPr>
                </a:tc>
                <a:tc>
                  <a:txBody>
                    <a:bodyPr/>
                    <a:lstStyle/>
                    <a:p>
                      <a:pPr indent="0" marL="0">
                        <a:buNone/>
                      </a:pPr>
                      <a:r>
                        <a:rPr lang="en-US" sz="1100" b="1" dirty="0">
                          <a:solidFill>
                            <a:srgbClr val="FFFFFF"/>
                          </a:solidFill>
                        </a:rPr>
                        <a:t>Status</a:t>
                      </a:r>
                      <a:endParaRPr lang="en-US" sz="110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0E4D5C"/>
                    </a:solidFill>
                  </a:tcPr>
                </a:tc>
              </a:tr>
              <a:tr h="301752">
                <a:tc>
                  <a:txBody>
                    <a:bodyPr/>
                    <a:lstStyle/>
                    <a:p>
                      <a:pPr indent="0" marL="0">
                        <a:buNone/>
                      </a:pPr>
                      <a:r>
                        <a:rPr lang="en-US" sz="1050" dirty="0">
                          <a:solidFill>
                            <a:srgbClr val="1F2A30"/>
                          </a:solidFill>
                        </a:rPr>
                        <a:t>1 Introduction · 2 References</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rPr>
                        <a:t>SRS.md (v0.3, review #19 fixed)</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rPr>
                        <a:t>Alfonso</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b="1" dirty="0">
                          <a:solidFill>
                            <a:srgbClr val="1B7F79"/>
                          </a:solidFill>
                        </a:rPr>
                        <a:t>Done</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F2A30"/>
                          </a:solidFill>
                        </a:rPr>
                        <a:t>Stakeholders, user characteristics</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rPr>
                        <a:t>stakeholders.md, elicitation_plan.md</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rPr>
                        <a:t>Yasmine</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b="1" dirty="0">
                          <a:solidFill>
                            <a:srgbClr val="E09F3E"/>
                          </a:solidFill>
                        </a:rPr>
                        <a:t>In review</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F2A30"/>
                          </a:solidFill>
                        </a:rPr>
                        <a:t>Use case model (diagram + briefs)</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rPr>
                        <a:t>use_case_model.md (v0.2, review #16 fixed)</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rPr>
                        <a:t>Borja</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b="1" dirty="0">
                          <a:solidFill>
                            <a:srgbClr val="1B7F79"/>
                          </a:solidFill>
                        </a:rPr>
                        <a:t>Done</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F2A30"/>
                          </a:solidFill>
                        </a:rPr>
                        <a:t>3.1.3 Software interfaces (IR-01…10)</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rPr>
                        <a:t>external_interfaces.md</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rPr>
                        <a:t>Haifa</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b="1" dirty="0">
                          <a:solidFill>
                            <a:srgbClr val="E09F3E"/>
                          </a:solidFill>
                        </a:rPr>
                        <a:t>In review</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F2A30"/>
                          </a:solidFill>
                        </a:rPr>
                        <a:t>3.2.1 UC1 fully dressed + FR-01…17</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rPr>
                        <a:t>SRS.md</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rPr>
                        <a:t>Alfonso</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b="1" dirty="0">
                          <a:solidFill>
                            <a:srgbClr val="E09F3E"/>
                          </a:solidFill>
                        </a:rPr>
                        <a:t>Draft</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F2A30"/>
                          </a:solidFill>
                        </a:rPr>
                        <a:t>3.4/3.8 Quality attributes (NFR-01…10)</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rPr>
                        <a:t>nfrs.md, quality_goals.md</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rPr>
                        <a:t>Josué</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b="1" dirty="0">
                          <a:solidFill>
                            <a:srgbClr val="E09F3E"/>
                          </a:solidFill>
                        </a:rPr>
                        <a:t>Draft</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F2A30"/>
                          </a:solidFill>
                        </a:rPr>
                        <a:t>3.10 Business rules (BR-01…14) + glossary</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rPr>
                        <a:t>glossary.md</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rPr>
                        <a:t>Avni</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b="1" dirty="0">
                          <a:solidFill>
                            <a:srgbClr val="E09F3E"/>
                          </a:solidFill>
                        </a:rPr>
                        <a:t>In review</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F2A30"/>
                          </a:solidFill>
                        </a:rPr>
                        <a:t>UI prototype (5 use cases)</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rPr>
                        <a:t>docs/design/prototype/</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rPr>
                        <a:t>Haifa, Yasmine</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b="1" dirty="0">
                          <a:solidFill>
                            <a:srgbClr val="E09F3E"/>
                          </a:solidFill>
                        </a:rPr>
                        <a:t>Draft</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F2A30"/>
                          </a:solidFill>
                        </a:rPr>
                        <a:t>3.2.2–3.2.5 UC2–UC5, 3.5 data, 4 verification</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rPr>
                        <a:t>—</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rPr>
                        <a:t>Team (W07)</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050" b="1" dirty="0">
                          <a:solidFill>
                            <a:srgbClr val="5F6B70"/>
                          </a:solidFill>
                        </a:rPr>
                        <a:t>To do</a:t>
                      </a:r>
                      <a:endParaRPr lang="en-US" sz="1050" dirty="0"/>
                    </a:p>
                  </a:txBody>
                  <a:tcPr marL="91440" marR="91440" marT="45720" marB="45720" anchor="ctr">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274320" y="4681728"/>
            <a:ext cx="1005840" cy="182880"/>
          </a:xfrm>
          <a:prstGeom prst="rect">
            <a:avLst/>
          </a:prstGeom>
          <a:noFill/>
          <a:ln/>
        </p:spPr>
        <p:txBody>
          <a:bodyPr wrap="square" lIns="0" tIns="0" rIns="0" bIns="0" rtlCol="0" anchor="ctr"/>
          <a:lstStyle/>
          <a:p>
            <a:pPr indent="0" marL="0">
              <a:buNone/>
            </a:pPr>
            <a:r>
              <a:rPr lang="en-US" sz="800" b="1" dirty="0">
                <a:solidFill>
                  <a:srgbClr val="5F6B70"/>
                </a:solidFill>
              </a:rPr>
              <a:t>Course timeline</a:t>
            </a:r>
            <a:endParaRPr lang="en-US" sz="800" dirty="0"/>
          </a:p>
        </p:txBody>
      </p:sp>
      <p:sp>
        <p:nvSpPr>
          <p:cNvPr id="3" name="Shape 1"/>
          <p:cNvSpPr/>
          <p:nvPr/>
        </p:nvSpPr>
        <p:spPr>
          <a:xfrm>
            <a:off x="1325880" y="4773168"/>
            <a:ext cx="6537960" cy="0"/>
          </a:xfrm>
          <a:prstGeom prst="line">
            <a:avLst/>
          </a:prstGeom>
          <a:noFill/>
          <a:ln w="19050">
            <a:solidFill>
              <a:srgbClr val="C9D9D8"/>
            </a:solidFill>
            <a:prstDash val="solid"/>
          </a:ln>
        </p:spPr>
      </p:sp>
      <p:sp>
        <p:nvSpPr>
          <p:cNvPr id="4" name="Shape 2"/>
          <p:cNvSpPr/>
          <p:nvPr/>
        </p:nvSpPr>
        <p:spPr>
          <a:xfrm>
            <a:off x="1325880" y="4773168"/>
            <a:ext cx="2179320" cy="0"/>
          </a:xfrm>
          <a:prstGeom prst="line">
            <a:avLst/>
          </a:prstGeom>
          <a:noFill/>
          <a:ln w="31750">
            <a:solidFill>
              <a:srgbClr val="1B7F79"/>
            </a:solidFill>
            <a:prstDash val="solid"/>
          </a:ln>
        </p:spPr>
      </p:sp>
      <p:sp>
        <p:nvSpPr>
          <p:cNvPr id="5" name="Shape 3"/>
          <p:cNvSpPr/>
          <p:nvPr/>
        </p:nvSpPr>
        <p:spPr>
          <a:xfrm>
            <a:off x="1293876" y="4741164"/>
            <a:ext cx="64008" cy="64008"/>
          </a:xfrm>
          <a:prstGeom prst="ellipse">
            <a:avLst/>
          </a:prstGeom>
          <a:solidFill>
            <a:srgbClr val="1B7F79"/>
          </a:solidFill>
          <a:ln w="12700">
            <a:solidFill>
              <a:srgbClr val="1B7F79"/>
            </a:solidFill>
            <a:prstDash val="solid"/>
          </a:ln>
        </p:spPr>
      </p:sp>
      <p:sp>
        <p:nvSpPr>
          <p:cNvPr id="6" name="Text 4"/>
          <p:cNvSpPr txBox="1"/>
          <p:nvPr/>
        </p:nvSpPr>
        <p:spPr>
          <a:xfrm>
            <a:off x="105156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a:t>
            </a:r>
            <a:endParaRPr lang="en-US" sz="700" dirty="0"/>
          </a:p>
        </p:txBody>
      </p:sp>
      <p:sp>
        <p:nvSpPr>
          <p:cNvPr id="7" name="Shape 5"/>
          <p:cNvSpPr/>
          <p:nvPr/>
        </p:nvSpPr>
        <p:spPr>
          <a:xfrm>
            <a:off x="1729740" y="4741164"/>
            <a:ext cx="64008" cy="64008"/>
          </a:xfrm>
          <a:prstGeom prst="ellipse">
            <a:avLst/>
          </a:prstGeom>
          <a:solidFill>
            <a:srgbClr val="1B7F79"/>
          </a:solidFill>
          <a:ln w="12700">
            <a:solidFill>
              <a:srgbClr val="1B7F79"/>
            </a:solidFill>
            <a:prstDash val="solid"/>
          </a:ln>
        </p:spPr>
      </p:sp>
      <p:sp>
        <p:nvSpPr>
          <p:cNvPr id="8" name="Text 6"/>
          <p:cNvSpPr txBox="1"/>
          <p:nvPr/>
        </p:nvSpPr>
        <p:spPr>
          <a:xfrm>
            <a:off x="148742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W2</a:t>
            </a:r>
            <a:endParaRPr lang="en-US" sz="700" dirty="0"/>
          </a:p>
        </p:txBody>
      </p:sp>
      <p:sp>
        <p:nvSpPr>
          <p:cNvPr id="9" name="Shape 7"/>
          <p:cNvSpPr/>
          <p:nvPr/>
        </p:nvSpPr>
        <p:spPr>
          <a:xfrm>
            <a:off x="2165604" y="4741164"/>
            <a:ext cx="64008" cy="64008"/>
          </a:xfrm>
          <a:prstGeom prst="ellipse">
            <a:avLst/>
          </a:prstGeom>
          <a:solidFill>
            <a:srgbClr val="1B7F79"/>
          </a:solidFill>
          <a:ln w="12700">
            <a:solidFill>
              <a:srgbClr val="1B7F79"/>
            </a:solidFill>
            <a:prstDash val="solid"/>
          </a:ln>
        </p:spPr>
      </p:sp>
      <p:sp>
        <p:nvSpPr>
          <p:cNvPr id="10" name="Text 8"/>
          <p:cNvSpPr txBox="1"/>
          <p:nvPr/>
        </p:nvSpPr>
        <p:spPr>
          <a:xfrm>
            <a:off x="192328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W3</a:t>
            </a:r>
            <a:endParaRPr lang="en-US" sz="700" dirty="0"/>
          </a:p>
        </p:txBody>
      </p:sp>
      <p:sp>
        <p:nvSpPr>
          <p:cNvPr id="11" name="Shape 9"/>
          <p:cNvSpPr/>
          <p:nvPr/>
        </p:nvSpPr>
        <p:spPr>
          <a:xfrm>
            <a:off x="2578608" y="4718304"/>
            <a:ext cx="109728" cy="109728"/>
          </a:xfrm>
          <a:prstGeom prst="ellipse">
            <a:avLst/>
          </a:prstGeom>
          <a:solidFill>
            <a:srgbClr val="1B7F79"/>
          </a:solidFill>
          <a:ln w="12700">
            <a:solidFill>
              <a:srgbClr val="1B7F79"/>
            </a:solidFill>
            <a:prstDash val="solid"/>
          </a:ln>
        </p:spPr>
      </p:sp>
      <p:sp>
        <p:nvSpPr>
          <p:cNvPr id="12" name="Text 10"/>
          <p:cNvSpPr txBox="1"/>
          <p:nvPr/>
        </p:nvSpPr>
        <p:spPr>
          <a:xfrm>
            <a:off x="235915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W4</a:t>
            </a:r>
            <a:endParaRPr lang="en-US" sz="700" dirty="0"/>
          </a:p>
        </p:txBody>
      </p:sp>
      <p:sp>
        <p:nvSpPr>
          <p:cNvPr id="13" name="Text 11"/>
          <p:cNvSpPr txBox="1"/>
          <p:nvPr/>
        </p:nvSpPr>
        <p:spPr>
          <a:xfrm>
            <a:off x="2084832"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Process models</a:t>
            </a:r>
            <a:endParaRPr lang="en-US" sz="700" dirty="0"/>
          </a:p>
        </p:txBody>
      </p:sp>
      <p:sp>
        <p:nvSpPr>
          <p:cNvPr id="14" name="Shape 12"/>
          <p:cNvSpPr/>
          <p:nvPr/>
        </p:nvSpPr>
        <p:spPr>
          <a:xfrm>
            <a:off x="3037332" y="4741164"/>
            <a:ext cx="64008" cy="64008"/>
          </a:xfrm>
          <a:prstGeom prst="ellipse">
            <a:avLst/>
          </a:prstGeom>
          <a:solidFill>
            <a:srgbClr val="1B7F79"/>
          </a:solidFill>
          <a:ln w="12700">
            <a:solidFill>
              <a:srgbClr val="1B7F79"/>
            </a:solidFill>
            <a:prstDash val="solid"/>
          </a:ln>
        </p:spPr>
      </p:sp>
      <p:sp>
        <p:nvSpPr>
          <p:cNvPr id="15" name="Text 13"/>
          <p:cNvSpPr txBox="1"/>
          <p:nvPr/>
        </p:nvSpPr>
        <p:spPr>
          <a:xfrm>
            <a:off x="279501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W5</a:t>
            </a:r>
            <a:endParaRPr lang="en-US" sz="700" dirty="0"/>
          </a:p>
        </p:txBody>
      </p:sp>
      <p:sp>
        <p:nvSpPr>
          <p:cNvPr id="16" name="Shape 14"/>
          <p:cNvSpPr/>
          <p:nvPr/>
        </p:nvSpPr>
        <p:spPr>
          <a:xfrm>
            <a:off x="3427476" y="4695444"/>
            <a:ext cx="155448" cy="155448"/>
          </a:xfrm>
          <a:prstGeom prst="ellipse">
            <a:avLst/>
          </a:prstGeom>
          <a:solidFill>
            <a:srgbClr val="E09F3E"/>
          </a:solidFill>
          <a:ln w="12700">
            <a:solidFill>
              <a:srgbClr val="E09F3E"/>
            </a:solidFill>
            <a:prstDash val="solid"/>
          </a:ln>
        </p:spPr>
      </p:sp>
      <p:sp>
        <p:nvSpPr>
          <p:cNvPr id="17" name="Text 15"/>
          <p:cNvSpPr txBox="1"/>
          <p:nvPr/>
        </p:nvSpPr>
        <p:spPr>
          <a:xfrm>
            <a:off x="3230880" y="4855464"/>
            <a:ext cx="548640" cy="146304"/>
          </a:xfrm>
          <a:prstGeom prst="rect">
            <a:avLst/>
          </a:prstGeom>
          <a:noFill/>
          <a:ln/>
        </p:spPr>
        <p:txBody>
          <a:bodyPr wrap="square" lIns="0" tIns="0" rIns="0" bIns="0" rtlCol="0" anchor="ctr"/>
          <a:lstStyle/>
          <a:p>
            <a:pPr algn="ctr" indent="0" marL="0">
              <a:buNone/>
            </a:pPr>
            <a:r>
              <a:rPr lang="en-US" sz="700" b="1" dirty="0">
                <a:solidFill>
                  <a:srgbClr val="E09F3E"/>
                </a:solidFill>
              </a:rPr>
              <a:t>W6 · now</a:t>
            </a:r>
            <a:endParaRPr lang="en-US" sz="700" dirty="0"/>
          </a:p>
        </p:txBody>
      </p:sp>
      <p:sp>
        <p:nvSpPr>
          <p:cNvPr id="18" name="Shape 16"/>
          <p:cNvSpPr/>
          <p:nvPr/>
        </p:nvSpPr>
        <p:spPr>
          <a:xfrm>
            <a:off x="3886200" y="4718304"/>
            <a:ext cx="109728" cy="109728"/>
          </a:xfrm>
          <a:prstGeom prst="ellipse">
            <a:avLst/>
          </a:prstGeom>
          <a:solidFill>
            <a:srgbClr val="0E4D5C"/>
          </a:solidFill>
          <a:ln w="12700">
            <a:solidFill>
              <a:srgbClr val="0E4D5C"/>
            </a:solidFill>
            <a:prstDash val="solid"/>
          </a:ln>
        </p:spPr>
      </p:sp>
      <p:sp>
        <p:nvSpPr>
          <p:cNvPr id="19" name="Text 17"/>
          <p:cNvSpPr txBox="1"/>
          <p:nvPr/>
        </p:nvSpPr>
        <p:spPr>
          <a:xfrm>
            <a:off x="366674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W7</a:t>
            </a:r>
            <a:endParaRPr lang="en-US" sz="700" dirty="0"/>
          </a:p>
        </p:txBody>
      </p:sp>
      <p:sp>
        <p:nvSpPr>
          <p:cNvPr id="20" name="Text 18"/>
          <p:cNvSpPr txBox="1"/>
          <p:nvPr/>
        </p:nvSpPr>
        <p:spPr>
          <a:xfrm>
            <a:off x="3392424"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SRS</a:t>
            </a:r>
            <a:endParaRPr lang="en-US" sz="700" dirty="0"/>
          </a:p>
        </p:txBody>
      </p:sp>
      <p:sp>
        <p:nvSpPr>
          <p:cNvPr id="21" name="Shape 19"/>
          <p:cNvSpPr/>
          <p:nvPr/>
        </p:nvSpPr>
        <p:spPr>
          <a:xfrm>
            <a:off x="4344924" y="4741164"/>
            <a:ext cx="64008" cy="64008"/>
          </a:xfrm>
          <a:prstGeom prst="ellipse">
            <a:avLst/>
          </a:prstGeom>
          <a:solidFill>
            <a:srgbClr val="C9D9D8"/>
          </a:solidFill>
          <a:ln w="12700">
            <a:solidFill>
              <a:srgbClr val="C9D9D8"/>
            </a:solidFill>
            <a:prstDash val="solid"/>
          </a:ln>
        </p:spPr>
      </p:sp>
      <p:sp>
        <p:nvSpPr>
          <p:cNvPr id="22" name="Text 20"/>
          <p:cNvSpPr txBox="1"/>
          <p:nvPr/>
        </p:nvSpPr>
        <p:spPr>
          <a:xfrm>
            <a:off x="410260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W8</a:t>
            </a:r>
            <a:endParaRPr lang="en-US" sz="700" dirty="0"/>
          </a:p>
        </p:txBody>
      </p:sp>
      <p:sp>
        <p:nvSpPr>
          <p:cNvPr id="23" name="Shape 21"/>
          <p:cNvSpPr/>
          <p:nvPr/>
        </p:nvSpPr>
        <p:spPr>
          <a:xfrm>
            <a:off x="4780788" y="4741164"/>
            <a:ext cx="64008" cy="64008"/>
          </a:xfrm>
          <a:prstGeom prst="ellipse">
            <a:avLst/>
          </a:prstGeom>
          <a:solidFill>
            <a:srgbClr val="C9D9D8"/>
          </a:solidFill>
          <a:ln w="12700">
            <a:solidFill>
              <a:srgbClr val="C9D9D8"/>
            </a:solidFill>
            <a:prstDash val="solid"/>
          </a:ln>
        </p:spPr>
      </p:sp>
      <p:sp>
        <p:nvSpPr>
          <p:cNvPr id="24" name="Text 22"/>
          <p:cNvSpPr txBox="1"/>
          <p:nvPr/>
        </p:nvSpPr>
        <p:spPr>
          <a:xfrm>
            <a:off x="453847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W9</a:t>
            </a:r>
            <a:endParaRPr lang="en-US" sz="700" dirty="0"/>
          </a:p>
        </p:txBody>
      </p:sp>
      <p:sp>
        <p:nvSpPr>
          <p:cNvPr id="25" name="Shape 23"/>
          <p:cNvSpPr/>
          <p:nvPr/>
        </p:nvSpPr>
        <p:spPr>
          <a:xfrm>
            <a:off x="5216652" y="4741164"/>
            <a:ext cx="64008" cy="64008"/>
          </a:xfrm>
          <a:prstGeom prst="ellipse">
            <a:avLst/>
          </a:prstGeom>
          <a:solidFill>
            <a:srgbClr val="C9D9D8"/>
          </a:solidFill>
          <a:ln w="12700">
            <a:solidFill>
              <a:srgbClr val="C9D9D8"/>
            </a:solidFill>
            <a:prstDash val="solid"/>
          </a:ln>
        </p:spPr>
      </p:sp>
      <p:sp>
        <p:nvSpPr>
          <p:cNvPr id="26" name="Text 24"/>
          <p:cNvSpPr txBox="1"/>
          <p:nvPr/>
        </p:nvSpPr>
        <p:spPr>
          <a:xfrm>
            <a:off x="497433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W10</a:t>
            </a:r>
            <a:endParaRPr lang="en-US" sz="700" dirty="0"/>
          </a:p>
        </p:txBody>
      </p:sp>
      <p:sp>
        <p:nvSpPr>
          <p:cNvPr id="27" name="Shape 25"/>
          <p:cNvSpPr/>
          <p:nvPr/>
        </p:nvSpPr>
        <p:spPr>
          <a:xfrm>
            <a:off x="5629656" y="4718304"/>
            <a:ext cx="109728" cy="109728"/>
          </a:xfrm>
          <a:prstGeom prst="ellipse">
            <a:avLst/>
          </a:prstGeom>
          <a:solidFill>
            <a:srgbClr val="0E4D5C"/>
          </a:solidFill>
          <a:ln w="12700">
            <a:solidFill>
              <a:srgbClr val="0E4D5C"/>
            </a:solidFill>
            <a:prstDash val="solid"/>
          </a:ln>
        </p:spPr>
      </p:sp>
      <p:sp>
        <p:nvSpPr>
          <p:cNvPr id="28" name="Text 26"/>
          <p:cNvSpPr txBox="1"/>
          <p:nvPr/>
        </p:nvSpPr>
        <p:spPr>
          <a:xfrm>
            <a:off x="541020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W11</a:t>
            </a:r>
            <a:endParaRPr lang="en-US" sz="700" dirty="0"/>
          </a:p>
        </p:txBody>
      </p:sp>
      <p:sp>
        <p:nvSpPr>
          <p:cNvPr id="29" name="Text 27"/>
          <p:cNvSpPr txBox="1"/>
          <p:nvPr/>
        </p:nvSpPr>
        <p:spPr>
          <a:xfrm>
            <a:off x="513588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Design</a:t>
            </a:r>
            <a:endParaRPr lang="en-US" sz="700" dirty="0"/>
          </a:p>
        </p:txBody>
      </p:sp>
      <p:sp>
        <p:nvSpPr>
          <p:cNvPr id="30" name="Shape 28"/>
          <p:cNvSpPr/>
          <p:nvPr/>
        </p:nvSpPr>
        <p:spPr>
          <a:xfrm>
            <a:off x="6088380" y="4741164"/>
            <a:ext cx="64008" cy="64008"/>
          </a:xfrm>
          <a:prstGeom prst="ellipse">
            <a:avLst/>
          </a:prstGeom>
          <a:solidFill>
            <a:srgbClr val="C9D9D8"/>
          </a:solidFill>
          <a:ln w="12700">
            <a:solidFill>
              <a:srgbClr val="C9D9D8"/>
            </a:solidFill>
            <a:prstDash val="solid"/>
          </a:ln>
        </p:spPr>
      </p:sp>
      <p:sp>
        <p:nvSpPr>
          <p:cNvPr id="31" name="Text 29"/>
          <p:cNvSpPr txBox="1"/>
          <p:nvPr/>
        </p:nvSpPr>
        <p:spPr>
          <a:xfrm>
            <a:off x="584606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W12</a:t>
            </a:r>
            <a:endParaRPr lang="en-US" sz="700" dirty="0"/>
          </a:p>
        </p:txBody>
      </p:sp>
      <p:sp>
        <p:nvSpPr>
          <p:cNvPr id="32" name="Shape 30"/>
          <p:cNvSpPr/>
          <p:nvPr/>
        </p:nvSpPr>
        <p:spPr>
          <a:xfrm>
            <a:off x="6524244" y="4741164"/>
            <a:ext cx="64008" cy="64008"/>
          </a:xfrm>
          <a:prstGeom prst="ellipse">
            <a:avLst/>
          </a:prstGeom>
          <a:solidFill>
            <a:srgbClr val="C9D9D8"/>
          </a:solidFill>
          <a:ln w="12700">
            <a:solidFill>
              <a:srgbClr val="C9D9D8"/>
            </a:solidFill>
            <a:prstDash val="solid"/>
          </a:ln>
        </p:spPr>
      </p:sp>
      <p:sp>
        <p:nvSpPr>
          <p:cNvPr id="33" name="Text 31"/>
          <p:cNvSpPr txBox="1"/>
          <p:nvPr/>
        </p:nvSpPr>
        <p:spPr>
          <a:xfrm>
            <a:off x="628192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W13</a:t>
            </a:r>
            <a:endParaRPr lang="en-US" sz="700" dirty="0"/>
          </a:p>
        </p:txBody>
      </p:sp>
      <p:sp>
        <p:nvSpPr>
          <p:cNvPr id="34" name="Shape 32"/>
          <p:cNvSpPr/>
          <p:nvPr/>
        </p:nvSpPr>
        <p:spPr>
          <a:xfrm>
            <a:off x="6960108" y="4741164"/>
            <a:ext cx="64008" cy="64008"/>
          </a:xfrm>
          <a:prstGeom prst="ellipse">
            <a:avLst/>
          </a:prstGeom>
          <a:solidFill>
            <a:srgbClr val="C9D9D8"/>
          </a:solidFill>
          <a:ln w="12700">
            <a:solidFill>
              <a:srgbClr val="C9D9D8"/>
            </a:solidFill>
            <a:prstDash val="solid"/>
          </a:ln>
        </p:spPr>
      </p:sp>
      <p:sp>
        <p:nvSpPr>
          <p:cNvPr id="35" name="Text 33"/>
          <p:cNvSpPr txBox="1"/>
          <p:nvPr/>
        </p:nvSpPr>
        <p:spPr>
          <a:xfrm>
            <a:off x="671779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W14</a:t>
            </a:r>
            <a:endParaRPr lang="en-US" sz="700" dirty="0"/>
          </a:p>
        </p:txBody>
      </p:sp>
      <p:sp>
        <p:nvSpPr>
          <p:cNvPr id="36" name="Shape 34"/>
          <p:cNvSpPr/>
          <p:nvPr/>
        </p:nvSpPr>
        <p:spPr>
          <a:xfrm>
            <a:off x="7395972" y="4741164"/>
            <a:ext cx="64008" cy="64008"/>
          </a:xfrm>
          <a:prstGeom prst="ellipse">
            <a:avLst/>
          </a:prstGeom>
          <a:solidFill>
            <a:srgbClr val="C9D9D8"/>
          </a:solidFill>
          <a:ln w="12700">
            <a:solidFill>
              <a:srgbClr val="C9D9D8"/>
            </a:solidFill>
            <a:prstDash val="solid"/>
          </a:ln>
        </p:spPr>
      </p:sp>
      <p:sp>
        <p:nvSpPr>
          <p:cNvPr id="37" name="Text 35"/>
          <p:cNvSpPr txBox="1"/>
          <p:nvPr/>
        </p:nvSpPr>
        <p:spPr>
          <a:xfrm>
            <a:off x="715365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W15</a:t>
            </a:r>
            <a:endParaRPr lang="en-US" sz="700" dirty="0"/>
          </a:p>
        </p:txBody>
      </p:sp>
      <p:sp>
        <p:nvSpPr>
          <p:cNvPr id="38" name="Shape 36"/>
          <p:cNvSpPr/>
          <p:nvPr/>
        </p:nvSpPr>
        <p:spPr>
          <a:xfrm>
            <a:off x="7808976" y="4718304"/>
            <a:ext cx="109728" cy="109728"/>
          </a:xfrm>
          <a:prstGeom prst="ellipse">
            <a:avLst/>
          </a:prstGeom>
          <a:solidFill>
            <a:srgbClr val="0E4D5C"/>
          </a:solidFill>
          <a:ln w="12700">
            <a:solidFill>
              <a:srgbClr val="0E4D5C"/>
            </a:solidFill>
            <a:prstDash val="solid"/>
          </a:ln>
        </p:spPr>
      </p:sp>
      <p:sp>
        <p:nvSpPr>
          <p:cNvPr id="39" name="Text 37"/>
          <p:cNvSpPr txBox="1"/>
          <p:nvPr/>
        </p:nvSpPr>
        <p:spPr>
          <a:xfrm>
            <a:off x="758952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W16</a:t>
            </a:r>
            <a:endParaRPr lang="en-US" sz="700" dirty="0"/>
          </a:p>
        </p:txBody>
      </p:sp>
      <p:sp>
        <p:nvSpPr>
          <p:cNvPr id="40" name="Text 38"/>
          <p:cNvSpPr txBox="1"/>
          <p:nvPr/>
        </p:nvSpPr>
        <p:spPr>
          <a:xfrm>
            <a:off x="731520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Launch</a:t>
            </a:r>
            <a:endParaRPr lang="en-US" sz="700" dirty="0"/>
          </a:p>
        </p:txBody>
      </p:sp>
      <p:sp>
        <p:nvSpPr>
          <p:cNvPr id="41" name="Text 39"/>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100" kern="0" dirty="0">
                <a:solidFill>
                  <a:srgbClr val="1B7F79"/>
                </a:solidFill>
              </a:rPr>
              <a:t>2 · EXPERIMENTAL PROGRESS — DELIVERABLES</a:t>
            </a:r>
            <a:endParaRPr lang="en-US" sz="1000" dirty="0"/>
          </a:p>
        </p:txBody>
      </p:sp>
      <p:sp>
        <p:nvSpPr>
          <p:cNvPr id="42" name="Text 4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0E4D5C"/>
                </a:solidFill>
              </a:rPr>
              <a:t>Remaining work for Assignment 1 (SRS v1.0, W07)</a:t>
            </a:r>
            <a:endParaRPr lang="en-US" sz="2800" dirty="0"/>
          </a:p>
        </p:txBody>
      </p:sp>
      <p:sp>
        <p:nvSpPr>
          <p:cNvPr id="43" name="Shape 41"/>
          <p:cNvSpPr/>
          <p:nvPr/>
        </p:nvSpPr>
        <p:spPr>
          <a:xfrm>
            <a:off x="457200" y="1143000"/>
            <a:ext cx="4023360" cy="731520"/>
          </a:xfrm>
          <a:prstGeom prst="roundRect">
            <a:avLst>
              <a:gd name="adj" fmla="val 10000"/>
            </a:avLst>
          </a:prstGeom>
          <a:solidFill>
            <a:srgbClr val="EAF2F2"/>
          </a:solidFill>
          <a:ln w="12700">
            <a:solidFill>
              <a:srgbClr val="EAF2F2"/>
            </a:solidFill>
            <a:prstDash val="solid"/>
          </a:ln>
        </p:spPr>
      </p:sp>
      <p:sp>
        <p:nvSpPr>
          <p:cNvPr id="44" name="Text 42"/>
          <p:cNvSpPr txBox="1"/>
          <p:nvPr/>
        </p:nvSpPr>
        <p:spPr>
          <a:xfrm>
            <a:off x="640080" y="1143000"/>
            <a:ext cx="3657600" cy="731520"/>
          </a:xfrm>
          <a:prstGeom prst="rect">
            <a:avLst/>
          </a:prstGeom>
          <a:noFill/>
          <a:ln/>
        </p:spPr>
        <p:txBody>
          <a:bodyPr wrap="square" lIns="0" tIns="0" rIns="0" bIns="0" rtlCol="0" anchor="ctr"/>
          <a:lstStyle/>
          <a:p>
            <a:pPr indent="0" marL="0">
              <a:buNone/>
            </a:pPr>
            <a:r>
              <a:rPr lang="en-US" sz="1400" b="1" dirty="0">
                <a:solidFill>
                  <a:srgbClr val="0E4D5C"/>
                </a:solidFill>
              </a:rPr>
              <a:t>Alfonso</a:t>
            </a:r>
            <a:endParaRPr lang="en-US" sz="1400" dirty="0"/>
          </a:p>
          <a:p>
            <a:pPr indent="0" marL="0">
              <a:buNone/>
            </a:pPr>
            <a:r>
              <a:rPr lang="en-US" sz="1200" dirty="0">
                <a:solidFill>
                  <a:srgbClr val="1F2A30"/>
                </a:solidFill>
              </a:rPr>
              <a:t>UC5 Return Rental; integrate all parts into SRS v1.0</a:t>
            </a:r>
            <a:endParaRPr lang="en-US" sz="1400" dirty="0"/>
          </a:p>
        </p:txBody>
      </p:sp>
      <p:sp>
        <p:nvSpPr>
          <p:cNvPr id="45" name="Shape 43"/>
          <p:cNvSpPr/>
          <p:nvPr/>
        </p:nvSpPr>
        <p:spPr>
          <a:xfrm>
            <a:off x="4663440" y="1143000"/>
            <a:ext cx="4023360" cy="731520"/>
          </a:xfrm>
          <a:prstGeom prst="roundRect">
            <a:avLst>
              <a:gd name="adj" fmla="val 10000"/>
            </a:avLst>
          </a:prstGeom>
          <a:solidFill>
            <a:srgbClr val="EAF2F2"/>
          </a:solidFill>
          <a:ln w="12700">
            <a:solidFill>
              <a:srgbClr val="EAF2F2"/>
            </a:solidFill>
            <a:prstDash val="solid"/>
          </a:ln>
        </p:spPr>
      </p:sp>
      <p:sp>
        <p:nvSpPr>
          <p:cNvPr id="46" name="Text 44"/>
          <p:cNvSpPr txBox="1"/>
          <p:nvPr/>
        </p:nvSpPr>
        <p:spPr>
          <a:xfrm>
            <a:off x="4846320" y="1143000"/>
            <a:ext cx="3657600" cy="731520"/>
          </a:xfrm>
          <a:prstGeom prst="rect">
            <a:avLst/>
          </a:prstGeom>
          <a:noFill/>
          <a:ln/>
        </p:spPr>
        <p:txBody>
          <a:bodyPr wrap="square" lIns="0" tIns="0" rIns="0" bIns="0" rtlCol="0" anchor="ctr"/>
          <a:lstStyle/>
          <a:p>
            <a:pPr indent="0" marL="0">
              <a:buNone/>
            </a:pPr>
            <a:r>
              <a:rPr lang="en-US" sz="1400" b="1" dirty="0">
                <a:solidFill>
                  <a:srgbClr val="0E4D5C"/>
                </a:solidFill>
              </a:rPr>
              <a:t>Borja</a:t>
            </a:r>
            <a:endParaRPr lang="en-US" sz="1400" dirty="0"/>
          </a:p>
          <a:p>
            <a:pPr indent="0" marL="0">
              <a:buNone/>
            </a:pPr>
            <a:r>
              <a:rPr lang="en-US" sz="1200" dirty="0">
                <a:solidFill>
                  <a:srgbClr val="1F2A30"/>
                </a:solidFill>
              </a:rPr>
              <a:t>System sequence diagram for UC1; first domain model</a:t>
            </a:r>
            <a:endParaRPr lang="en-US" sz="1400" dirty="0"/>
          </a:p>
        </p:txBody>
      </p:sp>
      <p:sp>
        <p:nvSpPr>
          <p:cNvPr id="47" name="Shape 45"/>
          <p:cNvSpPr/>
          <p:nvPr/>
        </p:nvSpPr>
        <p:spPr>
          <a:xfrm>
            <a:off x="457200" y="1984248"/>
            <a:ext cx="4023360" cy="731520"/>
          </a:xfrm>
          <a:prstGeom prst="roundRect">
            <a:avLst>
              <a:gd name="adj" fmla="val 10000"/>
            </a:avLst>
          </a:prstGeom>
          <a:solidFill>
            <a:srgbClr val="EAF2F2"/>
          </a:solidFill>
          <a:ln w="12700">
            <a:solidFill>
              <a:srgbClr val="EAF2F2"/>
            </a:solidFill>
            <a:prstDash val="solid"/>
          </a:ln>
        </p:spPr>
      </p:sp>
      <p:sp>
        <p:nvSpPr>
          <p:cNvPr id="48" name="Text 46"/>
          <p:cNvSpPr txBox="1"/>
          <p:nvPr/>
        </p:nvSpPr>
        <p:spPr>
          <a:xfrm>
            <a:off x="640080" y="1984248"/>
            <a:ext cx="3657600" cy="731520"/>
          </a:xfrm>
          <a:prstGeom prst="rect">
            <a:avLst/>
          </a:prstGeom>
          <a:noFill/>
          <a:ln/>
        </p:spPr>
        <p:txBody>
          <a:bodyPr wrap="square" lIns="0" tIns="0" rIns="0" bIns="0" rtlCol="0" anchor="ctr"/>
          <a:lstStyle/>
          <a:p>
            <a:pPr indent="0" marL="0">
              <a:buNone/>
            </a:pPr>
            <a:r>
              <a:rPr lang="en-US" sz="1400" b="1" dirty="0">
                <a:solidFill>
                  <a:srgbClr val="0E4D5C"/>
                </a:solidFill>
              </a:rPr>
              <a:t>Josué</a:t>
            </a:r>
            <a:endParaRPr lang="en-US" sz="1400" dirty="0"/>
          </a:p>
          <a:p>
            <a:pPr indent="0" marL="0">
              <a:buNone/>
            </a:pPr>
            <a:r>
              <a:rPr lang="en-US" sz="1200" dirty="0">
                <a:solidFill>
                  <a:srgbClr val="1F2A30"/>
                </a:solidFill>
              </a:rPr>
              <a:t>Verification method per requirement; traceability for UC2–UC5</a:t>
            </a:r>
            <a:endParaRPr lang="en-US" sz="1400" dirty="0"/>
          </a:p>
        </p:txBody>
      </p:sp>
      <p:sp>
        <p:nvSpPr>
          <p:cNvPr id="49" name="Shape 47"/>
          <p:cNvSpPr/>
          <p:nvPr/>
        </p:nvSpPr>
        <p:spPr>
          <a:xfrm>
            <a:off x="4663440" y="1984248"/>
            <a:ext cx="4023360" cy="731520"/>
          </a:xfrm>
          <a:prstGeom prst="roundRect">
            <a:avLst>
              <a:gd name="adj" fmla="val 10000"/>
            </a:avLst>
          </a:prstGeom>
          <a:solidFill>
            <a:srgbClr val="EAF2F2"/>
          </a:solidFill>
          <a:ln w="12700">
            <a:solidFill>
              <a:srgbClr val="EAF2F2"/>
            </a:solidFill>
            <a:prstDash val="solid"/>
          </a:ln>
        </p:spPr>
      </p:sp>
      <p:sp>
        <p:nvSpPr>
          <p:cNvPr id="50" name="Text 48"/>
          <p:cNvSpPr txBox="1"/>
          <p:nvPr/>
        </p:nvSpPr>
        <p:spPr>
          <a:xfrm>
            <a:off x="4846320" y="1984248"/>
            <a:ext cx="3657600" cy="731520"/>
          </a:xfrm>
          <a:prstGeom prst="rect">
            <a:avLst/>
          </a:prstGeom>
          <a:noFill/>
          <a:ln/>
        </p:spPr>
        <p:txBody>
          <a:bodyPr wrap="square" lIns="0" tIns="0" rIns="0" bIns="0" rtlCol="0" anchor="ctr"/>
          <a:lstStyle/>
          <a:p>
            <a:pPr indent="0" marL="0">
              <a:buNone/>
            </a:pPr>
            <a:r>
              <a:rPr lang="en-US" sz="1400" b="1" dirty="0">
                <a:solidFill>
                  <a:srgbClr val="0E4D5C"/>
                </a:solidFill>
              </a:rPr>
              <a:t>Yasmine</a:t>
            </a:r>
            <a:endParaRPr lang="en-US" sz="1400" dirty="0"/>
          </a:p>
          <a:p>
            <a:pPr indent="0" marL="0">
              <a:buNone/>
            </a:pPr>
            <a:r>
              <a:rPr lang="en-US" sz="1200" dirty="0">
                <a:solidFill>
                  <a:srgbClr val="1F2A30"/>
                </a:solidFill>
              </a:rPr>
              <a:t>UC2 Handle Returns fully dressed; usability requirements</a:t>
            </a:r>
            <a:endParaRPr lang="en-US" sz="1400" dirty="0"/>
          </a:p>
        </p:txBody>
      </p:sp>
      <p:sp>
        <p:nvSpPr>
          <p:cNvPr id="51" name="Shape 49"/>
          <p:cNvSpPr/>
          <p:nvPr/>
        </p:nvSpPr>
        <p:spPr>
          <a:xfrm>
            <a:off x="457200" y="2825496"/>
            <a:ext cx="4023360" cy="731520"/>
          </a:xfrm>
          <a:prstGeom prst="roundRect">
            <a:avLst>
              <a:gd name="adj" fmla="val 10000"/>
            </a:avLst>
          </a:prstGeom>
          <a:solidFill>
            <a:srgbClr val="EAF2F2"/>
          </a:solidFill>
          <a:ln w="12700">
            <a:solidFill>
              <a:srgbClr val="EAF2F2"/>
            </a:solidFill>
            <a:prstDash val="solid"/>
          </a:ln>
        </p:spPr>
      </p:sp>
      <p:sp>
        <p:nvSpPr>
          <p:cNvPr id="52" name="Text 50"/>
          <p:cNvSpPr txBox="1"/>
          <p:nvPr/>
        </p:nvSpPr>
        <p:spPr>
          <a:xfrm>
            <a:off x="640080" y="2825496"/>
            <a:ext cx="3657600" cy="731520"/>
          </a:xfrm>
          <a:prstGeom prst="rect">
            <a:avLst/>
          </a:prstGeom>
          <a:noFill/>
          <a:ln/>
        </p:spPr>
        <p:txBody>
          <a:bodyPr wrap="square" lIns="0" tIns="0" rIns="0" bIns="0" rtlCol="0" anchor="ctr"/>
          <a:lstStyle/>
          <a:p>
            <a:pPr indent="0" marL="0">
              <a:buNone/>
            </a:pPr>
            <a:r>
              <a:rPr lang="en-US" sz="1400" b="1" dirty="0">
                <a:solidFill>
                  <a:srgbClr val="0E4D5C"/>
                </a:solidFill>
              </a:rPr>
              <a:t>Haifa</a:t>
            </a:r>
            <a:endParaRPr lang="en-US" sz="1400" dirty="0"/>
          </a:p>
          <a:p>
            <a:pPr indent="0" marL="0">
              <a:buNone/>
            </a:pPr>
            <a:r>
              <a:rPr lang="en-US" sz="1200" dirty="0">
                <a:solidFill>
                  <a:srgbClr val="1F2A30"/>
                </a:solidFill>
              </a:rPr>
              <a:t>Prototype fixes after review; hardware interfaces and design constraints</a:t>
            </a:r>
            <a:endParaRPr lang="en-US" sz="1400" dirty="0"/>
          </a:p>
        </p:txBody>
      </p:sp>
      <p:sp>
        <p:nvSpPr>
          <p:cNvPr id="53" name="Shape 51"/>
          <p:cNvSpPr/>
          <p:nvPr/>
        </p:nvSpPr>
        <p:spPr>
          <a:xfrm>
            <a:off x="4663440" y="2825496"/>
            <a:ext cx="4023360" cy="731520"/>
          </a:xfrm>
          <a:prstGeom prst="roundRect">
            <a:avLst>
              <a:gd name="adj" fmla="val 10000"/>
            </a:avLst>
          </a:prstGeom>
          <a:solidFill>
            <a:srgbClr val="EAF2F2"/>
          </a:solidFill>
          <a:ln w="12700">
            <a:solidFill>
              <a:srgbClr val="EAF2F2"/>
            </a:solidFill>
            <a:prstDash val="solid"/>
          </a:ln>
        </p:spPr>
      </p:sp>
      <p:sp>
        <p:nvSpPr>
          <p:cNvPr id="54" name="Text 52"/>
          <p:cNvSpPr txBox="1"/>
          <p:nvPr/>
        </p:nvSpPr>
        <p:spPr>
          <a:xfrm>
            <a:off x="4846320" y="2825496"/>
            <a:ext cx="3657600" cy="731520"/>
          </a:xfrm>
          <a:prstGeom prst="rect">
            <a:avLst/>
          </a:prstGeom>
          <a:noFill/>
          <a:ln/>
        </p:spPr>
        <p:txBody>
          <a:bodyPr wrap="square" lIns="0" tIns="0" rIns="0" bIns="0" rtlCol="0" anchor="ctr"/>
          <a:lstStyle/>
          <a:p>
            <a:pPr indent="0" marL="0">
              <a:buNone/>
            </a:pPr>
            <a:r>
              <a:rPr lang="en-US" sz="1400" b="1" dirty="0">
                <a:solidFill>
                  <a:srgbClr val="0E4D5C"/>
                </a:solidFill>
              </a:rPr>
              <a:t>Avni</a:t>
            </a:r>
            <a:endParaRPr lang="en-US" sz="1400" dirty="0"/>
          </a:p>
          <a:p>
            <a:pPr indent="0" marL="0">
              <a:buNone/>
            </a:pPr>
            <a:r>
              <a:rPr lang="en-US" sz="1200" dirty="0">
                <a:solidFill>
                  <a:srgbClr val="1F2A30"/>
                </a:solidFill>
              </a:rPr>
              <a:t>UC3 Process Rental and UC4 Start Up; acceptance criteria for UC1</a:t>
            </a:r>
            <a:endParaRPr lang="en-US" sz="1400" dirty="0"/>
          </a:p>
        </p:txBody>
      </p:sp>
      <p:sp>
        <p:nvSpPr>
          <p:cNvPr id="55" name="Text 53"/>
          <p:cNvSpPr txBox="1"/>
          <p:nvPr/>
        </p:nvSpPr>
        <p:spPr>
          <a:xfrm>
            <a:off x="457200" y="3794760"/>
            <a:ext cx="8229600" cy="365760"/>
          </a:xfrm>
          <a:prstGeom prst="rect">
            <a:avLst/>
          </a:prstGeom>
          <a:noFill/>
          <a:ln/>
        </p:spPr>
        <p:txBody>
          <a:bodyPr wrap="square" lIns="0" tIns="0" rIns="0" bIns="0" rtlCol="0" anchor="ctr"/>
          <a:lstStyle/>
          <a:p>
            <a:pPr indent="0" marL="0">
              <a:buNone/>
            </a:pPr>
            <a:r>
              <a:rPr lang="en-US" sz="1300" b="1" dirty="0">
                <a:solidFill>
                  <a:srgbClr val="0E4D5C"/>
                </a:solidFill>
              </a:rPr>
              <a:t>Flow: </a:t>
            </a:r>
            <a:pPr indent="0" marL="0">
              <a:buNone/>
            </a:pPr>
            <a:r>
              <a:rPr lang="en-US" sz="1300" dirty="0">
                <a:solidFill>
                  <a:srgbClr val="1F2A30"/>
                </a:solidFill>
              </a:rPr>
              <a:t>draft → review in a GitHub Issue → fix → new SRS version → SRS v1.0 at the W07 milestone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274320" y="4681728"/>
            <a:ext cx="1005840" cy="182880"/>
          </a:xfrm>
          <a:prstGeom prst="rect">
            <a:avLst/>
          </a:prstGeom>
          <a:noFill/>
          <a:ln/>
        </p:spPr>
        <p:txBody>
          <a:bodyPr wrap="square" lIns="0" tIns="0" rIns="0" bIns="0" rtlCol="0" anchor="ctr"/>
          <a:lstStyle/>
          <a:p>
            <a:pPr indent="0" marL="0">
              <a:buNone/>
            </a:pPr>
            <a:r>
              <a:rPr lang="en-US" sz="800" b="1" dirty="0">
                <a:solidFill>
                  <a:srgbClr val="5F6B70"/>
                </a:solidFill>
              </a:rPr>
              <a:t>Course timeline</a:t>
            </a:r>
            <a:endParaRPr lang="en-US" sz="800" dirty="0"/>
          </a:p>
        </p:txBody>
      </p:sp>
      <p:sp>
        <p:nvSpPr>
          <p:cNvPr id="3" name="Shape 1"/>
          <p:cNvSpPr/>
          <p:nvPr/>
        </p:nvSpPr>
        <p:spPr>
          <a:xfrm>
            <a:off x="1325880" y="4773168"/>
            <a:ext cx="6537960" cy="0"/>
          </a:xfrm>
          <a:prstGeom prst="line">
            <a:avLst/>
          </a:prstGeom>
          <a:noFill/>
          <a:ln w="19050">
            <a:solidFill>
              <a:srgbClr val="C9D9D8"/>
            </a:solidFill>
            <a:prstDash val="solid"/>
          </a:ln>
        </p:spPr>
      </p:sp>
      <p:sp>
        <p:nvSpPr>
          <p:cNvPr id="4" name="Shape 2"/>
          <p:cNvSpPr/>
          <p:nvPr/>
        </p:nvSpPr>
        <p:spPr>
          <a:xfrm>
            <a:off x="1325880" y="4773168"/>
            <a:ext cx="2179320" cy="0"/>
          </a:xfrm>
          <a:prstGeom prst="line">
            <a:avLst/>
          </a:prstGeom>
          <a:noFill/>
          <a:ln w="31750">
            <a:solidFill>
              <a:srgbClr val="1B7F79"/>
            </a:solidFill>
            <a:prstDash val="solid"/>
          </a:ln>
        </p:spPr>
      </p:sp>
      <p:sp>
        <p:nvSpPr>
          <p:cNvPr id="5" name="Shape 3"/>
          <p:cNvSpPr/>
          <p:nvPr/>
        </p:nvSpPr>
        <p:spPr>
          <a:xfrm>
            <a:off x="1293876" y="4741164"/>
            <a:ext cx="64008" cy="64008"/>
          </a:xfrm>
          <a:prstGeom prst="ellipse">
            <a:avLst/>
          </a:prstGeom>
          <a:solidFill>
            <a:srgbClr val="1B7F79"/>
          </a:solidFill>
          <a:ln w="12700">
            <a:solidFill>
              <a:srgbClr val="1B7F79"/>
            </a:solidFill>
            <a:prstDash val="solid"/>
          </a:ln>
        </p:spPr>
      </p:sp>
      <p:sp>
        <p:nvSpPr>
          <p:cNvPr id="6" name="Text 4"/>
          <p:cNvSpPr txBox="1"/>
          <p:nvPr/>
        </p:nvSpPr>
        <p:spPr>
          <a:xfrm>
            <a:off x="105156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a:t>
            </a:r>
            <a:endParaRPr lang="en-US" sz="700" dirty="0"/>
          </a:p>
        </p:txBody>
      </p:sp>
      <p:sp>
        <p:nvSpPr>
          <p:cNvPr id="7" name="Shape 5"/>
          <p:cNvSpPr/>
          <p:nvPr/>
        </p:nvSpPr>
        <p:spPr>
          <a:xfrm>
            <a:off x="1729740" y="4741164"/>
            <a:ext cx="64008" cy="64008"/>
          </a:xfrm>
          <a:prstGeom prst="ellipse">
            <a:avLst/>
          </a:prstGeom>
          <a:solidFill>
            <a:srgbClr val="1B7F79"/>
          </a:solidFill>
          <a:ln w="12700">
            <a:solidFill>
              <a:srgbClr val="1B7F79"/>
            </a:solidFill>
            <a:prstDash val="solid"/>
          </a:ln>
        </p:spPr>
      </p:sp>
      <p:sp>
        <p:nvSpPr>
          <p:cNvPr id="8" name="Text 6"/>
          <p:cNvSpPr txBox="1"/>
          <p:nvPr/>
        </p:nvSpPr>
        <p:spPr>
          <a:xfrm>
            <a:off x="148742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W2</a:t>
            </a:r>
            <a:endParaRPr lang="en-US" sz="700" dirty="0"/>
          </a:p>
        </p:txBody>
      </p:sp>
      <p:sp>
        <p:nvSpPr>
          <p:cNvPr id="9" name="Shape 7"/>
          <p:cNvSpPr/>
          <p:nvPr/>
        </p:nvSpPr>
        <p:spPr>
          <a:xfrm>
            <a:off x="2165604" y="4741164"/>
            <a:ext cx="64008" cy="64008"/>
          </a:xfrm>
          <a:prstGeom prst="ellipse">
            <a:avLst/>
          </a:prstGeom>
          <a:solidFill>
            <a:srgbClr val="1B7F79"/>
          </a:solidFill>
          <a:ln w="12700">
            <a:solidFill>
              <a:srgbClr val="1B7F79"/>
            </a:solidFill>
            <a:prstDash val="solid"/>
          </a:ln>
        </p:spPr>
      </p:sp>
      <p:sp>
        <p:nvSpPr>
          <p:cNvPr id="10" name="Text 8"/>
          <p:cNvSpPr txBox="1"/>
          <p:nvPr/>
        </p:nvSpPr>
        <p:spPr>
          <a:xfrm>
            <a:off x="192328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W3</a:t>
            </a:r>
            <a:endParaRPr lang="en-US" sz="700" dirty="0"/>
          </a:p>
        </p:txBody>
      </p:sp>
      <p:sp>
        <p:nvSpPr>
          <p:cNvPr id="11" name="Shape 9"/>
          <p:cNvSpPr/>
          <p:nvPr/>
        </p:nvSpPr>
        <p:spPr>
          <a:xfrm>
            <a:off x="2578608" y="4718304"/>
            <a:ext cx="109728" cy="109728"/>
          </a:xfrm>
          <a:prstGeom prst="ellipse">
            <a:avLst/>
          </a:prstGeom>
          <a:solidFill>
            <a:srgbClr val="1B7F79"/>
          </a:solidFill>
          <a:ln w="12700">
            <a:solidFill>
              <a:srgbClr val="1B7F79"/>
            </a:solidFill>
            <a:prstDash val="solid"/>
          </a:ln>
        </p:spPr>
      </p:sp>
      <p:sp>
        <p:nvSpPr>
          <p:cNvPr id="12" name="Text 10"/>
          <p:cNvSpPr txBox="1"/>
          <p:nvPr/>
        </p:nvSpPr>
        <p:spPr>
          <a:xfrm>
            <a:off x="235915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W4</a:t>
            </a:r>
            <a:endParaRPr lang="en-US" sz="700" dirty="0"/>
          </a:p>
        </p:txBody>
      </p:sp>
      <p:sp>
        <p:nvSpPr>
          <p:cNvPr id="13" name="Text 11"/>
          <p:cNvSpPr txBox="1"/>
          <p:nvPr/>
        </p:nvSpPr>
        <p:spPr>
          <a:xfrm>
            <a:off x="2084832"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Process models</a:t>
            </a:r>
            <a:endParaRPr lang="en-US" sz="700" dirty="0"/>
          </a:p>
        </p:txBody>
      </p:sp>
      <p:sp>
        <p:nvSpPr>
          <p:cNvPr id="14" name="Shape 12"/>
          <p:cNvSpPr/>
          <p:nvPr/>
        </p:nvSpPr>
        <p:spPr>
          <a:xfrm>
            <a:off x="3037332" y="4741164"/>
            <a:ext cx="64008" cy="64008"/>
          </a:xfrm>
          <a:prstGeom prst="ellipse">
            <a:avLst/>
          </a:prstGeom>
          <a:solidFill>
            <a:srgbClr val="1B7F79"/>
          </a:solidFill>
          <a:ln w="12700">
            <a:solidFill>
              <a:srgbClr val="1B7F79"/>
            </a:solidFill>
            <a:prstDash val="solid"/>
          </a:ln>
        </p:spPr>
      </p:sp>
      <p:sp>
        <p:nvSpPr>
          <p:cNvPr id="15" name="Text 13"/>
          <p:cNvSpPr txBox="1"/>
          <p:nvPr/>
        </p:nvSpPr>
        <p:spPr>
          <a:xfrm>
            <a:off x="279501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W5</a:t>
            </a:r>
            <a:endParaRPr lang="en-US" sz="700" dirty="0"/>
          </a:p>
        </p:txBody>
      </p:sp>
      <p:sp>
        <p:nvSpPr>
          <p:cNvPr id="16" name="Shape 14"/>
          <p:cNvSpPr/>
          <p:nvPr/>
        </p:nvSpPr>
        <p:spPr>
          <a:xfrm>
            <a:off x="3427476" y="4695444"/>
            <a:ext cx="155448" cy="155448"/>
          </a:xfrm>
          <a:prstGeom prst="ellipse">
            <a:avLst/>
          </a:prstGeom>
          <a:solidFill>
            <a:srgbClr val="E09F3E"/>
          </a:solidFill>
          <a:ln w="12700">
            <a:solidFill>
              <a:srgbClr val="E09F3E"/>
            </a:solidFill>
            <a:prstDash val="solid"/>
          </a:ln>
        </p:spPr>
      </p:sp>
      <p:sp>
        <p:nvSpPr>
          <p:cNvPr id="17" name="Text 15"/>
          <p:cNvSpPr txBox="1"/>
          <p:nvPr/>
        </p:nvSpPr>
        <p:spPr>
          <a:xfrm>
            <a:off x="3230880" y="4855464"/>
            <a:ext cx="548640" cy="146304"/>
          </a:xfrm>
          <a:prstGeom prst="rect">
            <a:avLst/>
          </a:prstGeom>
          <a:noFill/>
          <a:ln/>
        </p:spPr>
        <p:txBody>
          <a:bodyPr wrap="square" lIns="0" tIns="0" rIns="0" bIns="0" rtlCol="0" anchor="ctr"/>
          <a:lstStyle/>
          <a:p>
            <a:pPr algn="ctr" indent="0" marL="0">
              <a:buNone/>
            </a:pPr>
            <a:r>
              <a:rPr lang="en-US" sz="700" b="1" dirty="0">
                <a:solidFill>
                  <a:srgbClr val="E09F3E"/>
                </a:solidFill>
              </a:rPr>
              <a:t>W6 · now</a:t>
            </a:r>
            <a:endParaRPr lang="en-US" sz="700" dirty="0"/>
          </a:p>
        </p:txBody>
      </p:sp>
      <p:sp>
        <p:nvSpPr>
          <p:cNvPr id="18" name="Shape 16"/>
          <p:cNvSpPr/>
          <p:nvPr/>
        </p:nvSpPr>
        <p:spPr>
          <a:xfrm>
            <a:off x="3886200" y="4718304"/>
            <a:ext cx="109728" cy="109728"/>
          </a:xfrm>
          <a:prstGeom prst="ellipse">
            <a:avLst/>
          </a:prstGeom>
          <a:solidFill>
            <a:srgbClr val="0E4D5C"/>
          </a:solidFill>
          <a:ln w="12700">
            <a:solidFill>
              <a:srgbClr val="0E4D5C"/>
            </a:solidFill>
            <a:prstDash val="solid"/>
          </a:ln>
        </p:spPr>
      </p:sp>
      <p:sp>
        <p:nvSpPr>
          <p:cNvPr id="19" name="Text 17"/>
          <p:cNvSpPr txBox="1"/>
          <p:nvPr/>
        </p:nvSpPr>
        <p:spPr>
          <a:xfrm>
            <a:off x="366674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W7</a:t>
            </a:r>
            <a:endParaRPr lang="en-US" sz="700" dirty="0"/>
          </a:p>
        </p:txBody>
      </p:sp>
      <p:sp>
        <p:nvSpPr>
          <p:cNvPr id="20" name="Text 18"/>
          <p:cNvSpPr txBox="1"/>
          <p:nvPr/>
        </p:nvSpPr>
        <p:spPr>
          <a:xfrm>
            <a:off x="3392424"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SRS</a:t>
            </a:r>
            <a:endParaRPr lang="en-US" sz="700" dirty="0"/>
          </a:p>
        </p:txBody>
      </p:sp>
      <p:sp>
        <p:nvSpPr>
          <p:cNvPr id="21" name="Shape 19"/>
          <p:cNvSpPr/>
          <p:nvPr/>
        </p:nvSpPr>
        <p:spPr>
          <a:xfrm>
            <a:off x="4344924" y="4741164"/>
            <a:ext cx="64008" cy="64008"/>
          </a:xfrm>
          <a:prstGeom prst="ellipse">
            <a:avLst/>
          </a:prstGeom>
          <a:solidFill>
            <a:srgbClr val="C9D9D8"/>
          </a:solidFill>
          <a:ln w="12700">
            <a:solidFill>
              <a:srgbClr val="C9D9D8"/>
            </a:solidFill>
            <a:prstDash val="solid"/>
          </a:ln>
        </p:spPr>
      </p:sp>
      <p:sp>
        <p:nvSpPr>
          <p:cNvPr id="22" name="Text 20"/>
          <p:cNvSpPr txBox="1"/>
          <p:nvPr/>
        </p:nvSpPr>
        <p:spPr>
          <a:xfrm>
            <a:off x="410260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W8</a:t>
            </a:r>
            <a:endParaRPr lang="en-US" sz="700" dirty="0"/>
          </a:p>
        </p:txBody>
      </p:sp>
      <p:sp>
        <p:nvSpPr>
          <p:cNvPr id="23" name="Shape 21"/>
          <p:cNvSpPr/>
          <p:nvPr/>
        </p:nvSpPr>
        <p:spPr>
          <a:xfrm>
            <a:off x="4780788" y="4741164"/>
            <a:ext cx="64008" cy="64008"/>
          </a:xfrm>
          <a:prstGeom prst="ellipse">
            <a:avLst/>
          </a:prstGeom>
          <a:solidFill>
            <a:srgbClr val="C9D9D8"/>
          </a:solidFill>
          <a:ln w="12700">
            <a:solidFill>
              <a:srgbClr val="C9D9D8"/>
            </a:solidFill>
            <a:prstDash val="solid"/>
          </a:ln>
        </p:spPr>
      </p:sp>
      <p:sp>
        <p:nvSpPr>
          <p:cNvPr id="24" name="Text 22"/>
          <p:cNvSpPr txBox="1"/>
          <p:nvPr/>
        </p:nvSpPr>
        <p:spPr>
          <a:xfrm>
            <a:off x="453847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W9</a:t>
            </a:r>
            <a:endParaRPr lang="en-US" sz="700" dirty="0"/>
          </a:p>
        </p:txBody>
      </p:sp>
      <p:sp>
        <p:nvSpPr>
          <p:cNvPr id="25" name="Shape 23"/>
          <p:cNvSpPr/>
          <p:nvPr/>
        </p:nvSpPr>
        <p:spPr>
          <a:xfrm>
            <a:off x="5216652" y="4741164"/>
            <a:ext cx="64008" cy="64008"/>
          </a:xfrm>
          <a:prstGeom prst="ellipse">
            <a:avLst/>
          </a:prstGeom>
          <a:solidFill>
            <a:srgbClr val="C9D9D8"/>
          </a:solidFill>
          <a:ln w="12700">
            <a:solidFill>
              <a:srgbClr val="C9D9D8"/>
            </a:solidFill>
            <a:prstDash val="solid"/>
          </a:ln>
        </p:spPr>
      </p:sp>
      <p:sp>
        <p:nvSpPr>
          <p:cNvPr id="26" name="Text 24"/>
          <p:cNvSpPr txBox="1"/>
          <p:nvPr/>
        </p:nvSpPr>
        <p:spPr>
          <a:xfrm>
            <a:off x="497433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W10</a:t>
            </a:r>
            <a:endParaRPr lang="en-US" sz="700" dirty="0"/>
          </a:p>
        </p:txBody>
      </p:sp>
      <p:sp>
        <p:nvSpPr>
          <p:cNvPr id="27" name="Shape 25"/>
          <p:cNvSpPr/>
          <p:nvPr/>
        </p:nvSpPr>
        <p:spPr>
          <a:xfrm>
            <a:off x="5629656" y="4718304"/>
            <a:ext cx="109728" cy="109728"/>
          </a:xfrm>
          <a:prstGeom prst="ellipse">
            <a:avLst/>
          </a:prstGeom>
          <a:solidFill>
            <a:srgbClr val="0E4D5C"/>
          </a:solidFill>
          <a:ln w="12700">
            <a:solidFill>
              <a:srgbClr val="0E4D5C"/>
            </a:solidFill>
            <a:prstDash val="solid"/>
          </a:ln>
        </p:spPr>
      </p:sp>
      <p:sp>
        <p:nvSpPr>
          <p:cNvPr id="28" name="Text 26"/>
          <p:cNvSpPr txBox="1"/>
          <p:nvPr/>
        </p:nvSpPr>
        <p:spPr>
          <a:xfrm>
            <a:off x="541020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W11</a:t>
            </a:r>
            <a:endParaRPr lang="en-US" sz="700" dirty="0"/>
          </a:p>
        </p:txBody>
      </p:sp>
      <p:sp>
        <p:nvSpPr>
          <p:cNvPr id="29" name="Text 27"/>
          <p:cNvSpPr txBox="1"/>
          <p:nvPr/>
        </p:nvSpPr>
        <p:spPr>
          <a:xfrm>
            <a:off x="513588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Design</a:t>
            </a:r>
            <a:endParaRPr lang="en-US" sz="700" dirty="0"/>
          </a:p>
        </p:txBody>
      </p:sp>
      <p:sp>
        <p:nvSpPr>
          <p:cNvPr id="30" name="Shape 28"/>
          <p:cNvSpPr/>
          <p:nvPr/>
        </p:nvSpPr>
        <p:spPr>
          <a:xfrm>
            <a:off x="6088380" y="4741164"/>
            <a:ext cx="64008" cy="64008"/>
          </a:xfrm>
          <a:prstGeom prst="ellipse">
            <a:avLst/>
          </a:prstGeom>
          <a:solidFill>
            <a:srgbClr val="C9D9D8"/>
          </a:solidFill>
          <a:ln w="12700">
            <a:solidFill>
              <a:srgbClr val="C9D9D8"/>
            </a:solidFill>
            <a:prstDash val="solid"/>
          </a:ln>
        </p:spPr>
      </p:sp>
      <p:sp>
        <p:nvSpPr>
          <p:cNvPr id="31" name="Text 29"/>
          <p:cNvSpPr txBox="1"/>
          <p:nvPr/>
        </p:nvSpPr>
        <p:spPr>
          <a:xfrm>
            <a:off x="584606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W12</a:t>
            </a:r>
            <a:endParaRPr lang="en-US" sz="700" dirty="0"/>
          </a:p>
        </p:txBody>
      </p:sp>
      <p:sp>
        <p:nvSpPr>
          <p:cNvPr id="32" name="Shape 30"/>
          <p:cNvSpPr/>
          <p:nvPr/>
        </p:nvSpPr>
        <p:spPr>
          <a:xfrm>
            <a:off x="6524244" y="4741164"/>
            <a:ext cx="64008" cy="64008"/>
          </a:xfrm>
          <a:prstGeom prst="ellipse">
            <a:avLst/>
          </a:prstGeom>
          <a:solidFill>
            <a:srgbClr val="C9D9D8"/>
          </a:solidFill>
          <a:ln w="12700">
            <a:solidFill>
              <a:srgbClr val="C9D9D8"/>
            </a:solidFill>
            <a:prstDash val="solid"/>
          </a:ln>
        </p:spPr>
      </p:sp>
      <p:sp>
        <p:nvSpPr>
          <p:cNvPr id="33" name="Text 31"/>
          <p:cNvSpPr txBox="1"/>
          <p:nvPr/>
        </p:nvSpPr>
        <p:spPr>
          <a:xfrm>
            <a:off x="628192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W13</a:t>
            </a:r>
            <a:endParaRPr lang="en-US" sz="700" dirty="0"/>
          </a:p>
        </p:txBody>
      </p:sp>
      <p:sp>
        <p:nvSpPr>
          <p:cNvPr id="34" name="Shape 32"/>
          <p:cNvSpPr/>
          <p:nvPr/>
        </p:nvSpPr>
        <p:spPr>
          <a:xfrm>
            <a:off x="6960108" y="4741164"/>
            <a:ext cx="64008" cy="64008"/>
          </a:xfrm>
          <a:prstGeom prst="ellipse">
            <a:avLst/>
          </a:prstGeom>
          <a:solidFill>
            <a:srgbClr val="C9D9D8"/>
          </a:solidFill>
          <a:ln w="12700">
            <a:solidFill>
              <a:srgbClr val="C9D9D8"/>
            </a:solidFill>
            <a:prstDash val="solid"/>
          </a:ln>
        </p:spPr>
      </p:sp>
      <p:sp>
        <p:nvSpPr>
          <p:cNvPr id="35" name="Text 33"/>
          <p:cNvSpPr txBox="1"/>
          <p:nvPr/>
        </p:nvSpPr>
        <p:spPr>
          <a:xfrm>
            <a:off x="671779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W14</a:t>
            </a:r>
            <a:endParaRPr lang="en-US" sz="700" dirty="0"/>
          </a:p>
        </p:txBody>
      </p:sp>
      <p:sp>
        <p:nvSpPr>
          <p:cNvPr id="36" name="Shape 34"/>
          <p:cNvSpPr/>
          <p:nvPr/>
        </p:nvSpPr>
        <p:spPr>
          <a:xfrm>
            <a:off x="7395972" y="4741164"/>
            <a:ext cx="64008" cy="64008"/>
          </a:xfrm>
          <a:prstGeom prst="ellipse">
            <a:avLst/>
          </a:prstGeom>
          <a:solidFill>
            <a:srgbClr val="C9D9D8"/>
          </a:solidFill>
          <a:ln w="12700">
            <a:solidFill>
              <a:srgbClr val="C9D9D8"/>
            </a:solidFill>
            <a:prstDash val="solid"/>
          </a:ln>
        </p:spPr>
      </p:sp>
      <p:sp>
        <p:nvSpPr>
          <p:cNvPr id="37" name="Text 35"/>
          <p:cNvSpPr txBox="1"/>
          <p:nvPr/>
        </p:nvSpPr>
        <p:spPr>
          <a:xfrm>
            <a:off x="715365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W15</a:t>
            </a:r>
            <a:endParaRPr lang="en-US" sz="700" dirty="0"/>
          </a:p>
        </p:txBody>
      </p:sp>
      <p:sp>
        <p:nvSpPr>
          <p:cNvPr id="38" name="Shape 36"/>
          <p:cNvSpPr/>
          <p:nvPr/>
        </p:nvSpPr>
        <p:spPr>
          <a:xfrm>
            <a:off x="7808976" y="4718304"/>
            <a:ext cx="109728" cy="109728"/>
          </a:xfrm>
          <a:prstGeom prst="ellipse">
            <a:avLst/>
          </a:prstGeom>
          <a:solidFill>
            <a:srgbClr val="0E4D5C"/>
          </a:solidFill>
          <a:ln w="12700">
            <a:solidFill>
              <a:srgbClr val="0E4D5C"/>
            </a:solidFill>
            <a:prstDash val="solid"/>
          </a:ln>
        </p:spPr>
      </p:sp>
      <p:sp>
        <p:nvSpPr>
          <p:cNvPr id="39" name="Text 37"/>
          <p:cNvSpPr txBox="1"/>
          <p:nvPr/>
        </p:nvSpPr>
        <p:spPr>
          <a:xfrm>
            <a:off x="758952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W16</a:t>
            </a:r>
            <a:endParaRPr lang="en-US" sz="700" dirty="0"/>
          </a:p>
        </p:txBody>
      </p:sp>
      <p:sp>
        <p:nvSpPr>
          <p:cNvPr id="40" name="Text 38"/>
          <p:cNvSpPr txBox="1"/>
          <p:nvPr/>
        </p:nvSpPr>
        <p:spPr>
          <a:xfrm>
            <a:off x="731520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Launch</a:t>
            </a:r>
            <a:endParaRPr lang="en-US" sz="700" dirty="0"/>
          </a:p>
        </p:txBody>
      </p:sp>
      <p:sp>
        <p:nvSpPr>
          <p:cNvPr id="41" name="Text 39"/>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100" kern="0" dirty="0">
                <a:solidFill>
                  <a:srgbClr val="1B7F79"/>
                </a:solidFill>
              </a:rPr>
              <a:t>3 · PROJECT PROGRESS — TEAM COLLABORATION AND MANAGEMENT</a:t>
            </a:r>
            <a:endParaRPr lang="en-US" sz="1000" dirty="0"/>
          </a:p>
        </p:txBody>
      </p:sp>
      <p:sp>
        <p:nvSpPr>
          <p:cNvPr id="42" name="Text 4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0E4D5C"/>
                </a:solidFill>
              </a:rPr>
              <a:t>Roles, reviews and way of working</a:t>
            </a:r>
            <a:endParaRPr lang="en-US" sz="2800" dirty="0"/>
          </a:p>
        </p:txBody>
      </p:sp>
      <p:sp>
        <p:nvSpPr>
          <p:cNvPr id="43" name="Shape 41"/>
          <p:cNvSpPr/>
          <p:nvPr/>
        </p:nvSpPr>
        <p:spPr>
          <a:xfrm>
            <a:off x="457200" y="1143000"/>
            <a:ext cx="2651760" cy="868680"/>
          </a:xfrm>
          <a:prstGeom prst="roundRect">
            <a:avLst>
              <a:gd name="adj" fmla="val 8421"/>
            </a:avLst>
          </a:prstGeom>
          <a:solidFill>
            <a:srgbClr val="EAF2F2"/>
          </a:solidFill>
          <a:ln w="12700">
            <a:solidFill>
              <a:srgbClr val="EAF2F2"/>
            </a:solidFill>
            <a:prstDash val="solid"/>
          </a:ln>
        </p:spPr>
      </p:sp>
      <p:sp>
        <p:nvSpPr>
          <p:cNvPr id="44" name="Shape 42"/>
          <p:cNvSpPr/>
          <p:nvPr/>
        </p:nvSpPr>
        <p:spPr>
          <a:xfrm>
            <a:off x="594360" y="1344168"/>
            <a:ext cx="457200" cy="457200"/>
          </a:xfrm>
          <a:prstGeom prst="ellipse">
            <a:avLst/>
          </a:prstGeom>
          <a:solidFill>
            <a:srgbClr val="1B7F79"/>
          </a:solidFill>
          <a:ln w="12700">
            <a:solidFill>
              <a:srgbClr val="1B7F79"/>
            </a:solidFill>
            <a:prstDash val="solid"/>
          </a:ln>
        </p:spPr>
      </p:sp>
      <p:sp>
        <p:nvSpPr>
          <p:cNvPr id="45" name="Text 43"/>
          <p:cNvSpPr txBox="1"/>
          <p:nvPr/>
        </p:nvSpPr>
        <p:spPr>
          <a:xfrm>
            <a:off x="594360" y="134416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AP</a:t>
            </a:r>
            <a:endParaRPr lang="en-US" sz="1200" dirty="0"/>
          </a:p>
        </p:txBody>
      </p:sp>
      <p:sp>
        <p:nvSpPr>
          <p:cNvPr id="46" name="Text 44"/>
          <p:cNvSpPr txBox="1"/>
          <p:nvPr/>
        </p:nvSpPr>
        <p:spPr>
          <a:xfrm>
            <a:off x="1188720" y="1143000"/>
            <a:ext cx="1874520" cy="868680"/>
          </a:xfrm>
          <a:prstGeom prst="rect">
            <a:avLst/>
          </a:prstGeom>
          <a:noFill/>
          <a:ln/>
        </p:spPr>
        <p:txBody>
          <a:bodyPr wrap="square" lIns="0" tIns="0" rIns="0" bIns="0" rtlCol="0" anchor="ctr"/>
          <a:lstStyle/>
          <a:p>
            <a:pPr indent="0" marL="0">
              <a:buNone/>
            </a:pPr>
            <a:r>
              <a:rPr lang="en-US" sz="1300" b="1" dirty="0">
                <a:solidFill>
                  <a:srgbClr val="0E4D5C"/>
                </a:solidFill>
              </a:rPr>
              <a:t>Alfonso</a:t>
            </a:r>
            <a:endParaRPr lang="en-US" sz="1300" dirty="0"/>
          </a:p>
          <a:p>
            <a:pPr indent="0" marL="0">
              <a:buNone/>
            </a:pPr>
            <a:r>
              <a:rPr lang="en-US" sz="1100" dirty="0">
                <a:solidFill>
                  <a:srgbClr val="1F2A30"/>
                </a:solidFill>
              </a:rPr>
              <a:t>Project lead · Requirements</a:t>
            </a:r>
            <a:endParaRPr lang="en-US" sz="1300" dirty="0"/>
          </a:p>
          <a:p>
            <a:pPr indent="0" marL="0">
              <a:buNone/>
            </a:pPr>
            <a:r>
              <a:rPr lang="en-US" sz="1000" i="1" dirty="0">
                <a:solidFill>
                  <a:srgbClr val="E09F3E"/>
                </a:solidFill>
              </a:rPr>
              <a:t>reviews Borja</a:t>
            </a:r>
            <a:endParaRPr lang="en-US" sz="1300" dirty="0"/>
          </a:p>
        </p:txBody>
      </p:sp>
      <p:sp>
        <p:nvSpPr>
          <p:cNvPr id="47" name="Shape 45"/>
          <p:cNvSpPr/>
          <p:nvPr/>
        </p:nvSpPr>
        <p:spPr>
          <a:xfrm>
            <a:off x="3264408" y="1143000"/>
            <a:ext cx="2651760" cy="868680"/>
          </a:xfrm>
          <a:prstGeom prst="roundRect">
            <a:avLst>
              <a:gd name="adj" fmla="val 8421"/>
            </a:avLst>
          </a:prstGeom>
          <a:solidFill>
            <a:srgbClr val="EAF2F2"/>
          </a:solidFill>
          <a:ln w="12700">
            <a:solidFill>
              <a:srgbClr val="EAF2F2"/>
            </a:solidFill>
            <a:prstDash val="solid"/>
          </a:ln>
        </p:spPr>
      </p:sp>
      <p:sp>
        <p:nvSpPr>
          <p:cNvPr id="48" name="Shape 46"/>
          <p:cNvSpPr/>
          <p:nvPr/>
        </p:nvSpPr>
        <p:spPr>
          <a:xfrm>
            <a:off x="3401568" y="1344168"/>
            <a:ext cx="457200" cy="457200"/>
          </a:xfrm>
          <a:prstGeom prst="ellipse">
            <a:avLst/>
          </a:prstGeom>
          <a:solidFill>
            <a:srgbClr val="1B7F79"/>
          </a:solidFill>
          <a:ln w="12700">
            <a:solidFill>
              <a:srgbClr val="1B7F79"/>
            </a:solidFill>
            <a:prstDash val="solid"/>
          </a:ln>
        </p:spPr>
      </p:sp>
      <p:sp>
        <p:nvSpPr>
          <p:cNvPr id="49" name="Text 47"/>
          <p:cNvSpPr txBox="1"/>
          <p:nvPr/>
        </p:nvSpPr>
        <p:spPr>
          <a:xfrm>
            <a:off x="3401568" y="134416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BN</a:t>
            </a:r>
            <a:endParaRPr lang="en-US" sz="1200" dirty="0"/>
          </a:p>
        </p:txBody>
      </p:sp>
      <p:sp>
        <p:nvSpPr>
          <p:cNvPr id="50" name="Text 48"/>
          <p:cNvSpPr txBox="1"/>
          <p:nvPr/>
        </p:nvSpPr>
        <p:spPr>
          <a:xfrm>
            <a:off x="3995928" y="1143000"/>
            <a:ext cx="1874520" cy="868680"/>
          </a:xfrm>
          <a:prstGeom prst="rect">
            <a:avLst/>
          </a:prstGeom>
          <a:noFill/>
          <a:ln/>
        </p:spPr>
        <p:txBody>
          <a:bodyPr wrap="square" lIns="0" tIns="0" rIns="0" bIns="0" rtlCol="0" anchor="ctr"/>
          <a:lstStyle/>
          <a:p>
            <a:pPr indent="0" marL="0">
              <a:buNone/>
            </a:pPr>
            <a:r>
              <a:rPr lang="en-US" sz="1300" b="1" dirty="0">
                <a:solidFill>
                  <a:srgbClr val="0E4D5C"/>
                </a:solidFill>
              </a:rPr>
              <a:t>Borja</a:t>
            </a:r>
            <a:endParaRPr lang="en-US" sz="1300" dirty="0"/>
          </a:p>
          <a:p>
            <a:pPr indent="0" marL="0">
              <a:buNone/>
            </a:pPr>
            <a:r>
              <a:rPr lang="en-US" sz="1100" dirty="0">
                <a:solidFill>
                  <a:srgbClr val="1F2A30"/>
                </a:solidFill>
              </a:rPr>
              <a:t>UML modeler · Docs</a:t>
            </a:r>
            <a:endParaRPr lang="en-US" sz="1300" dirty="0"/>
          </a:p>
          <a:p>
            <a:pPr indent="0" marL="0">
              <a:buNone/>
            </a:pPr>
            <a:r>
              <a:rPr lang="en-US" sz="1000" i="1" dirty="0">
                <a:solidFill>
                  <a:srgbClr val="E09F3E"/>
                </a:solidFill>
              </a:rPr>
              <a:t>reviews Yasmine</a:t>
            </a:r>
            <a:endParaRPr lang="en-US" sz="1300" dirty="0"/>
          </a:p>
        </p:txBody>
      </p:sp>
      <p:sp>
        <p:nvSpPr>
          <p:cNvPr id="51" name="Shape 49"/>
          <p:cNvSpPr/>
          <p:nvPr/>
        </p:nvSpPr>
        <p:spPr>
          <a:xfrm>
            <a:off x="6071616" y="1143000"/>
            <a:ext cx="2651760" cy="868680"/>
          </a:xfrm>
          <a:prstGeom prst="roundRect">
            <a:avLst>
              <a:gd name="adj" fmla="val 8421"/>
            </a:avLst>
          </a:prstGeom>
          <a:solidFill>
            <a:srgbClr val="EAF2F2"/>
          </a:solidFill>
          <a:ln w="12700">
            <a:solidFill>
              <a:srgbClr val="EAF2F2"/>
            </a:solidFill>
            <a:prstDash val="solid"/>
          </a:ln>
        </p:spPr>
      </p:sp>
      <p:sp>
        <p:nvSpPr>
          <p:cNvPr id="52" name="Shape 50"/>
          <p:cNvSpPr/>
          <p:nvPr/>
        </p:nvSpPr>
        <p:spPr>
          <a:xfrm>
            <a:off x="6208776" y="1344168"/>
            <a:ext cx="457200" cy="457200"/>
          </a:xfrm>
          <a:prstGeom prst="ellipse">
            <a:avLst/>
          </a:prstGeom>
          <a:solidFill>
            <a:srgbClr val="1B7F79"/>
          </a:solidFill>
          <a:ln w="12700">
            <a:solidFill>
              <a:srgbClr val="1B7F79"/>
            </a:solidFill>
            <a:prstDash val="solid"/>
          </a:ln>
        </p:spPr>
      </p:sp>
      <p:sp>
        <p:nvSpPr>
          <p:cNvPr id="53" name="Text 51"/>
          <p:cNvSpPr txBox="1"/>
          <p:nvPr/>
        </p:nvSpPr>
        <p:spPr>
          <a:xfrm>
            <a:off x="6208776" y="134416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JR</a:t>
            </a:r>
            <a:endParaRPr lang="en-US" sz="1200" dirty="0"/>
          </a:p>
        </p:txBody>
      </p:sp>
      <p:sp>
        <p:nvSpPr>
          <p:cNvPr id="54" name="Text 52"/>
          <p:cNvSpPr txBox="1"/>
          <p:nvPr/>
        </p:nvSpPr>
        <p:spPr>
          <a:xfrm>
            <a:off x="6803136" y="1143000"/>
            <a:ext cx="1874520" cy="868680"/>
          </a:xfrm>
          <a:prstGeom prst="rect">
            <a:avLst/>
          </a:prstGeom>
          <a:noFill/>
          <a:ln/>
        </p:spPr>
        <p:txBody>
          <a:bodyPr wrap="square" lIns="0" tIns="0" rIns="0" bIns="0" rtlCol="0" anchor="ctr"/>
          <a:lstStyle/>
          <a:p>
            <a:pPr indent="0" marL="0">
              <a:buNone/>
            </a:pPr>
            <a:r>
              <a:rPr lang="en-US" sz="1300" b="1" dirty="0">
                <a:solidFill>
                  <a:srgbClr val="0E4D5C"/>
                </a:solidFill>
              </a:rPr>
              <a:t>Josué</a:t>
            </a:r>
            <a:endParaRPr lang="en-US" sz="1300" dirty="0"/>
          </a:p>
          <a:p>
            <a:pPr indent="0" marL="0">
              <a:buNone/>
            </a:pPr>
            <a:r>
              <a:rPr lang="en-US" sz="1100" dirty="0">
                <a:solidFill>
                  <a:srgbClr val="1F2A30"/>
                </a:solidFill>
              </a:rPr>
              <a:t>Quality · Traceability</a:t>
            </a:r>
            <a:endParaRPr lang="en-US" sz="1300" dirty="0"/>
          </a:p>
          <a:p>
            <a:pPr indent="0" marL="0">
              <a:buNone/>
            </a:pPr>
            <a:r>
              <a:rPr lang="en-US" sz="1000" i="1" dirty="0">
                <a:solidFill>
                  <a:srgbClr val="E09F3E"/>
                </a:solidFill>
              </a:rPr>
              <a:t>reviews Haifa</a:t>
            </a:r>
            <a:endParaRPr lang="en-US" sz="1300" dirty="0"/>
          </a:p>
        </p:txBody>
      </p:sp>
      <p:sp>
        <p:nvSpPr>
          <p:cNvPr id="55" name="Shape 53"/>
          <p:cNvSpPr/>
          <p:nvPr/>
        </p:nvSpPr>
        <p:spPr>
          <a:xfrm>
            <a:off x="457200" y="2148840"/>
            <a:ext cx="2651760" cy="868680"/>
          </a:xfrm>
          <a:prstGeom prst="roundRect">
            <a:avLst>
              <a:gd name="adj" fmla="val 8421"/>
            </a:avLst>
          </a:prstGeom>
          <a:solidFill>
            <a:srgbClr val="EAF2F2"/>
          </a:solidFill>
          <a:ln w="12700">
            <a:solidFill>
              <a:srgbClr val="EAF2F2"/>
            </a:solidFill>
            <a:prstDash val="solid"/>
          </a:ln>
        </p:spPr>
      </p:sp>
      <p:sp>
        <p:nvSpPr>
          <p:cNvPr id="56" name="Shape 54"/>
          <p:cNvSpPr/>
          <p:nvPr/>
        </p:nvSpPr>
        <p:spPr>
          <a:xfrm>
            <a:off x="594360" y="2350008"/>
            <a:ext cx="457200" cy="457200"/>
          </a:xfrm>
          <a:prstGeom prst="ellipse">
            <a:avLst/>
          </a:prstGeom>
          <a:solidFill>
            <a:srgbClr val="1B7F79"/>
          </a:solidFill>
          <a:ln w="12700">
            <a:solidFill>
              <a:srgbClr val="1B7F79"/>
            </a:solidFill>
            <a:prstDash val="solid"/>
          </a:ln>
        </p:spPr>
      </p:sp>
      <p:sp>
        <p:nvSpPr>
          <p:cNvPr id="57" name="Text 55"/>
          <p:cNvSpPr txBox="1"/>
          <p:nvPr/>
        </p:nvSpPr>
        <p:spPr>
          <a:xfrm>
            <a:off x="594360" y="235000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YC</a:t>
            </a:r>
            <a:endParaRPr lang="en-US" sz="1200" dirty="0"/>
          </a:p>
        </p:txBody>
      </p:sp>
      <p:sp>
        <p:nvSpPr>
          <p:cNvPr id="58" name="Text 56"/>
          <p:cNvSpPr txBox="1"/>
          <p:nvPr/>
        </p:nvSpPr>
        <p:spPr>
          <a:xfrm>
            <a:off x="1188720" y="2148840"/>
            <a:ext cx="1874520" cy="868680"/>
          </a:xfrm>
          <a:prstGeom prst="rect">
            <a:avLst/>
          </a:prstGeom>
          <a:noFill/>
          <a:ln/>
        </p:spPr>
        <p:txBody>
          <a:bodyPr wrap="square" lIns="0" tIns="0" rIns="0" bIns="0" rtlCol="0" anchor="ctr"/>
          <a:lstStyle/>
          <a:p>
            <a:pPr indent="0" marL="0">
              <a:buNone/>
            </a:pPr>
            <a:r>
              <a:rPr lang="en-US" sz="1300" b="1" dirty="0">
                <a:solidFill>
                  <a:srgbClr val="0E4D5C"/>
                </a:solidFill>
              </a:rPr>
              <a:t>Yasmine</a:t>
            </a:r>
            <a:endParaRPr lang="en-US" sz="1300" dirty="0"/>
          </a:p>
          <a:p>
            <a:pPr indent="0" marL="0">
              <a:buNone/>
            </a:pPr>
            <a:r>
              <a:rPr lang="en-US" sz="1100" dirty="0">
                <a:solidFill>
                  <a:srgbClr val="1F2A30"/>
                </a:solidFill>
              </a:rPr>
              <a:t>UI/UX · Front-end</a:t>
            </a:r>
            <a:endParaRPr lang="en-US" sz="1300" dirty="0"/>
          </a:p>
          <a:p>
            <a:pPr indent="0" marL="0">
              <a:buNone/>
            </a:pPr>
            <a:r>
              <a:rPr lang="en-US" sz="1000" i="1" dirty="0">
                <a:solidFill>
                  <a:srgbClr val="E09F3E"/>
                </a:solidFill>
              </a:rPr>
              <a:t>reviews Josué</a:t>
            </a:r>
            <a:endParaRPr lang="en-US" sz="1300" dirty="0"/>
          </a:p>
        </p:txBody>
      </p:sp>
      <p:sp>
        <p:nvSpPr>
          <p:cNvPr id="59" name="Shape 57"/>
          <p:cNvSpPr/>
          <p:nvPr/>
        </p:nvSpPr>
        <p:spPr>
          <a:xfrm>
            <a:off x="3264408" y="2148840"/>
            <a:ext cx="2651760" cy="868680"/>
          </a:xfrm>
          <a:prstGeom prst="roundRect">
            <a:avLst>
              <a:gd name="adj" fmla="val 8421"/>
            </a:avLst>
          </a:prstGeom>
          <a:solidFill>
            <a:srgbClr val="EAF2F2"/>
          </a:solidFill>
          <a:ln w="12700">
            <a:solidFill>
              <a:srgbClr val="EAF2F2"/>
            </a:solidFill>
            <a:prstDash val="solid"/>
          </a:ln>
        </p:spPr>
      </p:sp>
      <p:sp>
        <p:nvSpPr>
          <p:cNvPr id="60" name="Shape 58"/>
          <p:cNvSpPr/>
          <p:nvPr/>
        </p:nvSpPr>
        <p:spPr>
          <a:xfrm>
            <a:off x="3401568" y="2350008"/>
            <a:ext cx="457200" cy="457200"/>
          </a:xfrm>
          <a:prstGeom prst="ellipse">
            <a:avLst/>
          </a:prstGeom>
          <a:solidFill>
            <a:srgbClr val="1B7F79"/>
          </a:solidFill>
          <a:ln w="12700">
            <a:solidFill>
              <a:srgbClr val="1B7F79"/>
            </a:solidFill>
            <a:prstDash val="solid"/>
          </a:ln>
        </p:spPr>
      </p:sp>
      <p:sp>
        <p:nvSpPr>
          <p:cNvPr id="61" name="Text 59"/>
          <p:cNvSpPr txBox="1"/>
          <p:nvPr/>
        </p:nvSpPr>
        <p:spPr>
          <a:xfrm>
            <a:off x="3401568" y="235000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HC</a:t>
            </a:r>
            <a:endParaRPr lang="en-US" sz="1200" dirty="0"/>
          </a:p>
        </p:txBody>
      </p:sp>
      <p:sp>
        <p:nvSpPr>
          <p:cNvPr id="62" name="Text 60"/>
          <p:cNvSpPr txBox="1"/>
          <p:nvPr/>
        </p:nvSpPr>
        <p:spPr>
          <a:xfrm>
            <a:off x="3995928" y="2148840"/>
            <a:ext cx="1874520" cy="868680"/>
          </a:xfrm>
          <a:prstGeom prst="rect">
            <a:avLst/>
          </a:prstGeom>
          <a:noFill/>
          <a:ln/>
        </p:spPr>
        <p:txBody>
          <a:bodyPr wrap="square" lIns="0" tIns="0" rIns="0" bIns="0" rtlCol="0" anchor="ctr"/>
          <a:lstStyle/>
          <a:p>
            <a:pPr indent="0" marL="0">
              <a:buNone/>
            </a:pPr>
            <a:r>
              <a:rPr lang="en-US" sz="1300" b="1" dirty="0">
                <a:solidFill>
                  <a:srgbClr val="0E4D5C"/>
                </a:solidFill>
              </a:rPr>
              <a:t>Haifa</a:t>
            </a:r>
            <a:endParaRPr lang="en-US" sz="1300" dirty="0"/>
          </a:p>
          <a:p>
            <a:pPr indent="0" marL="0">
              <a:buNone/>
            </a:pPr>
            <a:r>
              <a:rPr lang="en-US" sz="1100" dirty="0">
                <a:solidFill>
                  <a:srgbClr val="1F2A30"/>
                </a:solidFill>
              </a:rPr>
              <a:t>Integration · Full-stack</a:t>
            </a:r>
            <a:endParaRPr lang="en-US" sz="1300" dirty="0"/>
          </a:p>
          <a:p>
            <a:pPr indent="0" marL="0">
              <a:buNone/>
            </a:pPr>
            <a:r>
              <a:rPr lang="en-US" sz="1000" i="1" dirty="0">
                <a:solidFill>
                  <a:srgbClr val="E09F3E"/>
                </a:solidFill>
              </a:rPr>
              <a:t>reviews Avni</a:t>
            </a:r>
            <a:endParaRPr lang="en-US" sz="1300" dirty="0"/>
          </a:p>
        </p:txBody>
      </p:sp>
      <p:sp>
        <p:nvSpPr>
          <p:cNvPr id="63" name="Shape 61"/>
          <p:cNvSpPr/>
          <p:nvPr/>
        </p:nvSpPr>
        <p:spPr>
          <a:xfrm>
            <a:off x="6071616" y="2148840"/>
            <a:ext cx="2651760" cy="868680"/>
          </a:xfrm>
          <a:prstGeom prst="roundRect">
            <a:avLst>
              <a:gd name="adj" fmla="val 8421"/>
            </a:avLst>
          </a:prstGeom>
          <a:solidFill>
            <a:srgbClr val="EAF2F2"/>
          </a:solidFill>
          <a:ln w="12700">
            <a:solidFill>
              <a:srgbClr val="EAF2F2"/>
            </a:solidFill>
            <a:prstDash val="solid"/>
          </a:ln>
        </p:spPr>
      </p:sp>
      <p:sp>
        <p:nvSpPr>
          <p:cNvPr id="64" name="Shape 62"/>
          <p:cNvSpPr/>
          <p:nvPr/>
        </p:nvSpPr>
        <p:spPr>
          <a:xfrm>
            <a:off x="6208776" y="2350008"/>
            <a:ext cx="457200" cy="457200"/>
          </a:xfrm>
          <a:prstGeom prst="ellipse">
            <a:avLst/>
          </a:prstGeom>
          <a:solidFill>
            <a:srgbClr val="1B7F79"/>
          </a:solidFill>
          <a:ln w="12700">
            <a:solidFill>
              <a:srgbClr val="1B7F79"/>
            </a:solidFill>
            <a:prstDash val="solid"/>
          </a:ln>
        </p:spPr>
      </p:sp>
      <p:sp>
        <p:nvSpPr>
          <p:cNvPr id="65" name="Text 63"/>
          <p:cNvSpPr txBox="1"/>
          <p:nvPr/>
        </p:nvSpPr>
        <p:spPr>
          <a:xfrm>
            <a:off x="6208776" y="235000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AO</a:t>
            </a:r>
            <a:endParaRPr lang="en-US" sz="1200" dirty="0"/>
          </a:p>
        </p:txBody>
      </p:sp>
      <p:sp>
        <p:nvSpPr>
          <p:cNvPr id="66" name="Text 64"/>
          <p:cNvSpPr txBox="1"/>
          <p:nvPr/>
        </p:nvSpPr>
        <p:spPr>
          <a:xfrm>
            <a:off x="6803136" y="2148840"/>
            <a:ext cx="1874520" cy="868680"/>
          </a:xfrm>
          <a:prstGeom prst="rect">
            <a:avLst/>
          </a:prstGeom>
          <a:noFill/>
          <a:ln/>
        </p:spPr>
        <p:txBody>
          <a:bodyPr wrap="square" lIns="0" tIns="0" rIns="0" bIns="0" rtlCol="0" anchor="ctr"/>
          <a:lstStyle/>
          <a:p>
            <a:pPr indent="0" marL="0">
              <a:buNone/>
            </a:pPr>
            <a:r>
              <a:rPr lang="en-US" sz="1300" b="1" dirty="0">
                <a:solidFill>
                  <a:srgbClr val="0E4D5C"/>
                </a:solidFill>
              </a:rPr>
              <a:t>Avni</a:t>
            </a:r>
            <a:endParaRPr lang="en-US" sz="1300" dirty="0"/>
          </a:p>
          <a:p>
            <a:pPr indent="0" marL="0">
              <a:buNone/>
            </a:pPr>
            <a:r>
              <a:rPr lang="en-US" sz="1100" dirty="0">
                <a:solidFill>
                  <a:srgbClr val="1F2A30"/>
                </a:solidFill>
              </a:rPr>
              <a:t>Developer · Testing</a:t>
            </a:r>
            <a:endParaRPr lang="en-US" sz="1300" dirty="0"/>
          </a:p>
          <a:p>
            <a:pPr indent="0" marL="0">
              <a:buNone/>
            </a:pPr>
            <a:r>
              <a:rPr lang="en-US" sz="1000" i="1" dirty="0">
                <a:solidFill>
                  <a:srgbClr val="E09F3E"/>
                </a:solidFill>
              </a:rPr>
              <a:t>reviews Alfonso</a:t>
            </a:r>
            <a:endParaRPr lang="en-US" sz="1300" dirty="0"/>
          </a:p>
        </p:txBody>
      </p:sp>
      <p:sp>
        <p:nvSpPr>
          <p:cNvPr id="67" name="Text 65"/>
          <p:cNvSpPr txBox="1"/>
          <p:nvPr/>
        </p:nvSpPr>
        <p:spPr>
          <a:xfrm>
            <a:off x="457200" y="3291840"/>
            <a:ext cx="8229600" cy="731520"/>
          </a:xfrm>
          <a:prstGeom prst="rect">
            <a:avLst/>
          </a:prstGeom>
          <a:noFill/>
          <a:ln/>
        </p:spPr>
        <p:txBody>
          <a:bodyPr wrap="square" lIns="0" tIns="0" rIns="0" bIns="0" rtlCol="0" anchor="ctr"/>
          <a:lstStyle/>
          <a:p>
            <a:pPr indent="0" marL="0">
              <a:buNone/>
            </a:pPr>
            <a:r>
              <a:rPr lang="en-US" sz="1200" b="1" dirty="0">
                <a:solidFill>
                  <a:srgbClr val="0E4D5C"/>
                </a:solidFill>
              </a:rPr>
              <a:t>GitHub: </a:t>
            </a:r>
            <a:pPr indent="0" marL="0">
              <a:buNone/>
            </a:pPr>
            <a:r>
              <a:rPr lang="en-US" sz="1200" dirty="0">
                <a:solidFill>
                  <a:srgbClr val="1F2A30"/>
                </a:solidFill>
              </a:rPr>
              <a:t>one document per commit (W&lt;week&gt; - summary; description), git pull --rebase, linear history; peer review with one Issue per document version and one comment per finding.</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3400" b="1" dirty="0">
                <a:solidFill>
                  <a:srgbClr val="FFFFFF"/>
                </a:solidFill>
              </a:rPr>
              <a:t>Conclusion</a:t>
            </a:r>
            <a:endParaRPr lang="en-US" sz="3400" dirty="0"/>
          </a:p>
        </p:txBody>
      </p:sp>
      <p:sp>
        <p:nvSpPr>
          <p:cNvPr id="3" name="Shape 1"/>
          <p:cNvSpPr/>
          <p:nvPr/>
        </p:nvSpPr>
        <p:spPr>
          <a:xfrm>
            <a:off x="548640" y="1325880"/>
            <a:ext cx="2514600" cy="1874520"/>
          </a:xfrm>
          <a:prstGeom prst="roundRect">
            <a:avLst>
              <a:gd name="adj" fmla="val 3902"/>
            </a:avLst>
          </a:prstGeom>
          <a:solidFill>
            <a:srgbClr val="15606F"/>
          </a:solidFill>
          <a:ln w="12700">
            <a:solidFill>
              <a:srgbClr val="15606F"/>
            </a:solidFill>
            <a:prstDash val="solid"/>
          </a:ln>
        </p:spPr>
      </p:sp>
      <p:sp>
        <p:nvSpPr>
          <p:cNvPr id="4" name="Shape 2"/>
          <p:cNvSpPr/>
          <p:nvPr/>
        </p:nvSpPr>
        <p:spPr>
          <a:xfrm>
            <a:off x="731520" y="1481328"/>
            <a:ext cx="457200" cy="457200"/>
          </a:xfrm>
          <a:prstGeom prst="ellipse">
            <a:avLst/>
          </a:prstGeom>
          <a:solidFill>
            <a:srgbClr val="E09F3E"/>
          </a:solidFill>
          <a:ln w="12700">
            <a:solidFill>
              <a:srgbClr val="E09F3E"/>
            </a:solidFill>
            <a:prstDash val="solid"/>
          </a:ln>
        </p:spPr>
      </p:sp>
      <p:sp>
        <p:nvSpPr>
          <p:cNvPr id="5" name="Text 3"/>
          <p:cNvSpPr txBox="1"/>
          <p:nvPr/>
        </p:nvSpPr>
        <p:spPr>
          <a:xfrm>
            <a:off x="731520" y="14813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6" name="Text 4"/>
          <p:cNvSpPr txBox="1"/>
          <p:nvPr/>
        </p:nvSpPr>
        <p:spPr>
          <a:xfrm>
            <a:off x="731520" y="2029968"/>
            <a:ext cx="2148840" cy="1097280"/>
          </a:xfrm>
          <a:prstGeom prst="rect">
            <a:avLst/>
          </a:prstGeom>
          <a:noFill/>
          <a:ln/>
        </p:spPr>
        <p:txBody>
          <a:bodyPr wrap="square" lIns="0" tIns="0" rIns="0" bIns="0" rtlCol="0" anchor="t"/>
          <a:lstStyle/>
          <a:p>
            <a:pPr indent="0" marL="0">
              <a:spcAft>
                <a:spcPts val="400"/>
              </a:spcAft>
              <a:buNone/>
            </a:pPr>
            <a:r>
              <a:rPr lang="en-US" sz="1500" b="1" dirty="0">
                <a:solidFill>
                  <a:srgbClr val="FFFFFF"/>
                </a:solidFill>
              </a:rPr>
              <a:t>Requirements specified</a:t>
            </a:r>
            <a:endParaRPr lang="en-US" sz="1500" dirty="0"/>
          </a:p>
          <a:p>
            <a:pPr indent="0" marL="0">
              <a:spcAft>
                <a:spcPts val="400"/>
              </a:spcAft>
              <a:buNone/>
            </a:pPr>
            <a:r>
              <a:rPr lang="en-US" sz="1200" dirty="0">
                <a:solidFill>
                  <a:srgbClr val="DCEBEA"/>
                </a:solidFill>
              </a:rPr>
              <a:t>SRS v0.3 with UC1 fully dressed and 51 identified requirements.</a:t>
            </a:r>
            <a:endParaRPr lang="en-US" sz="1500" dirty="0"/>
          </a:p>
        </p:txBody>
      </p:sp>
      <p:sp>
        <p:nvSpPr>
          <p:cNvPr id="7" name="Shape 5"/>
          <p:cNvSpPr/>
          <p:nvPr/>
        </p:nvSpPr>
        <p:spPr>
          <a:xfrm>
            <a:off x="3291840" y="1325880"/>
            <a:ext cx="2514600" cy="1874520"/>
          </a:xfrm>
          <a:prstGeom prst="roundRect">
            <a:avLst>
              <a:gd name="adj" fmla="val 3902"/>
            </a:avLst>
          </a:prstGeom>
          <a:solidFill>
            <a:srgbClr val="15606F"/>
          </a:solidFill>
          <a:ln w="12700">
            <a:solidFill>
              <a:srgbClr val="15606F"/>
            </a:solidFill>
            <a:prstDash val="solid"/>
          </a:ln>
        </p:spPr>
      </p:sp>
      <p:sp>
        <p:nvSpPr>
          <p:cNvPr id="8" name="Shape 6"/>
          <p:cNvSpPr/>
          <p:nvPr/>
        </p:nvSpPr>
        <p:spPr>
          <a:xfrm>
            <a:off x="3474720" y="1481328"/>
            <a:ext cx="457200" cy="457200"/>
          </a:xfrm>
          <a:prstGeom prst="ellipse">
            <a:avLst/>
          </a:prstGeom>
          <a:solidFill>
            <a:srgbClr val="E09F3E"/>
          </a:solidFill>
          <a:ln w="12700">
            <a:solidFill>
              <a:srgbClr val="E09F3E"/>
            </a:solidFill>
            <a:prstDash val="solid"/>
          </a:ln>
        </p:spPr>
      </p:sp>
      <p:sp>
        <p:nvSpPr>
          <p:cNvPr id="9" name="Text 7"/>
          <p:cNvSpPr txBox="1"/>
          <p:nvPr/>
        </p:nvSpPr>
        <p:spPr>
          <a:xfrm>
            <a:off x="3474720" y="14813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0" name="Text 8"/>
          <p:cNvSpPr txBox="1"/>
          <p:nvPr/>
        </p:nvSpPr>
        <p:spPr>
          <a:xfrm>
            <a:off x="3474720" y="2029968"/>
            <a:ext cx="2148840" cy="1097280"/>
          </a:xfrm>
          <a:prstGeom prst="rect">
            <a:avLst/>
          </a:prstGeom>
          <a:noFill/>
          <a:ln/>
        </p:spPr>
        <p:txBody>
          <a:bodyPr wrap="square" lIns="0" tIns="0" rIns="0" bIns="0" rtlCol="0" anchor="t"/>
          <a:lstStyle/>
          <a:p>
            <a:pPr indent="0" marL="0">
              <a:spcAft>
                <a:spcPts val="400"/>
              </a:spcAft>
              <a:buNone/>
            </a:pPr>
            <a:r>
              <a:rPr lang="en-US" sz="1500" b="1" dirty="0">
                <a:solidFill>
                  <a:srgbClr val="FFFFFF"/>
                </a:solidFill>
              </a:rPr>
              <a:t>Scope corrected</a:t>
            </a:r>
            <a:endParaRPr lang="en-US" sz="1500" dirty="0"/>
          </a:p>
          <a:p>
            <a:pPr indent="0" marL="0">
              <a:spcAft>
                <a:spcPts val="400"/>
              </a:spcAft>
              <a:buNone/>
            </a:pPr>
            <a:r>
              <a:rPr lang="en-US" sz="1200" dirty="0">
                <a:solidFill>
                  <a:srgbClr val="DCEBEA"/>
                </a:solidFill>
              </a:rPr>
              <a:t>Analysis found 3 gaps: actors, payment methods and UC5.</a:t>
            </a:r>
            <a:endParaRPr lang="en-US" sz="1500" dirty="0"/>
          </a:p>
        </p:txBody>
      </p:sp>
      <p:sp>
        <p:nvSpPr>
          <p:cNvPr id="11" name="Shape 9"/>
          <p:cNvSpPr/>
          <p:nvPr/>
        </p:nvSpPr>
        <p:spPr>
          <a:xfrm>
            <a:off x="6035040" y="1325880"/>
            <a:ext cx="2514600" cy="1874520"/>
          </a:xfrm>
          <a:prstGeom prst="roundRect">
            <a:avLst>
              <a:gd name="adj" fmla="val 3902"/>
            </a:avLst>
          </a:prstGeom>
          <a:solidFill>
            <a:srgbClr val="15606F"/>
          </a:solidFill>
          <a:ln w="12700">
            <a:solidFill>
              <a:srgbClr val="15606F"/>
            </a:solidFill>
            <a:prstDash val="solid"/>
          </a:ln>
        </p:spPr>
      </p:sp>
      <p:sp>
        <p:nvSpPr>
          <p:cNvPr id="12" name="Shape 10"/>
          <p:cNvSpPr/>
          <p:nvPr/>
        </p:nvSpPr>
        <p:spPr>
          <a:xfrm>
            <a:off x="6217920" y="1481328"/>
            <a:ext cx="457200" cy="457200"/>
          </a:xfrm>
          <a:prstGeom prst="ellipse">
            <a:avLst/>
          </a:prstGeom>
          <a:solidFill>
            <a:srgbClr val="E09F3E"/>
          </a:solidFill>
          <a:ln w="12700">
            <a:solidFill>
              <a:srgbClr val="E09F3E"/>
            </a:solidFill>
            <a:prstDash val="solid"/>
          </a:ln>
        </p:spPr>
      </p:sp>
      <p:sp>
        <p:nvSpPr>
          <p:cNvPr id="13" name="Text 11"/>
          <p:cNvSpPr txBox="1"/>
          <p:nvPr/>
        </p:nvSpPr>
        <p:spPr>
          <a:xfrm>
            <a:off x="6217920" y="14813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4" name="Text 12"/>
          <p:cNvSpPr txBox="1"/>
          <p:nvPr/>
        </p:nvSpPr>
        <p:spPr>
          <a:xfrm>
            <a:off x="6217920" y="2029968"/>
            <a:ext cx="2148840" cy="1097280"/>
          </a:xfrm>
          <a:prstGeom prst="rect">
            <a:avLst/>
          </a:prstGeom>
          <a:noFill/>
          <a:ln/>
        </p:spPr>
        <p:txBody>
          <a:bodyPr wrap="square" lIns="0" tIns="0" rIns="0" bIns="0" rtlCol="0" anchor="t"/>
          <a:lstStyle/>
          <a:p>
            <a:pPr indent="0" marL="0">
              <a:spcAft>
                <a:spcPts val="400"/>
              </a:spcAft>
              <a:buNone/>
            </a:pPr>
            <a:r>
              <a:rPr lang="en-US" sz="1500" b="1" dirty="0">
                <a:solidFill>
                  <a:srgbClr val="FFFFFF"/>
                </a:solidFill>
              </a:rPr>
              <a:t>Traceable</a:t>
            </a:r>
            <a:endParaRPr lang="en-US" sz="1500" dirty="0"/>
          </a:p>
          <a:p>
            <a:pPr indent="0" marL="0">
              <a:spcAft>
                <a:spcPts val="400"/>
              </a:spcAft>
              <a:buNone/>
            </a:pPr>
            <a:r>
              <a:rPr lang="en-US" sz="1200" dirty="0">
                <a:solidFill>
                  <a:srgbClr val="DCEBEA"/>
                </a:solidFill>
              </a:rPr>
              <a:t>Every FR linked to its use case, business rules and interfaces.</a:t>
            </a:r>
            <a:endParaRPr lang="en-US" sz="1500" dirty="0"/>
          </a:p>
        </p:txBody>
      </p:sp>
      <p:sp>
        <p:nvSpPr>
          <p:cNvPr id="15" name="Text 13"/>
          <p:cNvSpPr txBox="1"/>
          <p:nvPr/>
        </p:nvSpPr>
        <p:spPr>
          <a:xfrm>
            <a:off x="548640" y="3474720"/>
            <a:ext cx="8046720" cy="548640"/>
          </a:xfrm>
          <a:prstGeom prst="rect">
            <a:avLst/>
          </a:prstGeom>
          <a:noFill/>
          <a:ln/>
        </p:spPr>
        <p:txBody>
          <a:bodyPr wrap="square" lIns="0" tIns="0" rIns="0" bIns="0" rtlCol="0" anchor="ctr"/>
          <a:lstStyle/>
          <a:p>
            <a:pPr indent="0" marL="0">
              <a:buNone/>
            </a:pPr>
            <a:r>
              <a:rPr lang="en-US" sz="1400" b="1" dirty="0">
                <a:solidFill>
                  <a:srgbClr val="E09F3E"/>
                </a:solidFill>
              </a:rPr>
              <a:t>Next week (W07): </a:t>
            </a:r>
            <a:pPr indent="0" marL="0">
              <a:buNone/>
            </a:pPr>
            <a:r>
              <a:rPr lang="en-US" sz="1400" dirty="0">
                <a:solidFill>
                  <a:srgbClr val="FFFFFF"/>
                </a:solidFill>
              </a:rPr>
              <a:t>UC2–UC5 fully dressed, UI prototype, sequence diagram and domain model → SRS v1.0.</a:t>
            </a:r>
            <a:endParaRPr lang="en-US" sz="1400" dirty="0"/>
          </a:p>
        </p:txBody>
      </p:sp>
      <p:sp>
        <p:nvSpPr>
          <p:cNvPr id="16" name="Text 14"/>
          <p:cNvSpPr txBox="1"/>
          <p:nvPr/>
        </p:nvSpPr>
        <p:spPr>
          <a:xfrm>
            <a:off x="548640" y="4251960"/>
            <a:ext cx="8046720" cy="365760"/>
          </a:xfrm>
          <a:prstGeom prst="rect">
            <a:avLst/>
          </a:prstGeom>
          <a:noFill/>
          <a:ln/>
        </p:spPr>
        <p:txBody>
          <a:bodyPr wrap="square" lIns="0" tIns="0" rIns="0" bIns="0" rtlCol="0" anchor="ctr"/>
          <a:lstStyle/>
          <a:p>
            <a:pPr indent="0" marL="0">
              <a:buNone/>
            </a:pPr>
            <a:r>
              <a:rPr lang="en-US" sz="1600" b="1" dirty="0">
                <a:solidFill>
                  <a:srgbClr val="CFE3E1"/>
                </a:solidFill>
              </a:rPr>
              <a:t>Thank you · Questions?</a:t>
            </a:r>
            <a:endParaRPr lang="en-US" sz="1600" dirty="0"/>
          </a:p>
        </p:txBody>
      </p:sp>
    </p:spTree>
  </p:cSld>
  <p:clrMapOvr>
    <a:masterClrMapping/>
  </p:clrMapOvr>
</p:sld>
</file>

<file path=ppt/theme/theme1.xml><?xml version="1.0" encoding="utf-8"?>
<a:theme xmlns:a="http://schemas.openxmlformats.org/drawingml/2006/main" name="NewEra">
  <a:themeElements>
    <a:clrScheme name="NewEra">
      <a:dk1>
        <a:srgbClr val="1F2A30"/>
      </a:dk1>
      <a:lt1>
        <a:srgbClr val="FFFFFF"/>
      </a:lt1>
      <a:dk2>
        <a:srgbClr val="0E4D5C"/>
      </a:dk2>
      <a:lt2>
        <a:srgbClr val="EAF2F2"/>
      </a:lt2>
      <a:accent1>
        <a:srgbClr val="0E4D5C"/>
      </a:accent1>
      <a:accent2>
        <a:srgbClr val="1B7F79"/>
      </a:accent2>
      <a:accent3>
        <a:srgbClr val="E09F3E"/>
      </a:accent3>
      <a:accent4>
        <a:srgbClr val="5B8E7D"/>
      </a:accent4>
      <a:accent5>
        <a:srgbClr val="34495E"/>
      </a:accent5>
      <a:accent6>
        <a:srgbClr val="9BB8B6"/>
      </a:accent6>
      <a:hlink>
        <a:srgbClr val="1B7F79"/>
      </a:hlink>
      <a:folHlink>
        <a:srgbClr val="5B8E7D"/>
      </a:folHlink>
    </a:clrScheme>
    <a:fontScheme name="NewEr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NewEra POS — Weekly Report W06</dc:title>
  <dc:subject>PptxGenJS Presentation</dc:subject>
  <dc:creator>Team D</dc:creator>
  <cp:lastModifiedBy>Team D</cp:lastModifiedBy>
  <cp:revision>1</cp:revision>
  <dcterms:created xsi:type="dcterms:W3CDTF">2026-10-21T10:31:18Z</dcterms:created>
  <dcterms:modified xsi:type="dcterms:W3CDTF">2026-10-21T10:31:18Z</dcterms:modified>
</cp:coreProperties>
</file>