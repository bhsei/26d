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(max 10 min): 1) Technical progress – system development; 2) Experimental progress – deliverables; 3) Team collaboration and management (max 2 min). This week is the SRS milestone: we show the complete SRS v1.0 and the first design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SRS v1.0 follows ISO/IEC/IEEE 29148. 132 requirements: 59 FR, 19 NFR, 14 IR, 18 DR, 8 DC and 14 BR (defined in the glossary). 71 extensions across the five use cases. 5 acceptance criteria for UC1 in Given/When/Then.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use case uses the same fully dressed format as UC1: prologue, stakeholders and interests, pre- and postconditions, failure guarantees, two-column main scenario, extensions, special requirements, technology variations and open issues. The FRs of each use case have their own ID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UC5 is the use case added during the W06 analysis. The item status links UC3 and UC5: an item is only rented when it is Available, and the return decides whether it goes back to Available or to Under maintenance. The refund example uses example values; the real deposit and late fee are still open questions (SRS §5.3).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principle for all use cases: an external failure never stops the store and never breaks a business rule. The review decided one behaviour for the Payment Service: retry or use another tender, applied the same way in IR-02, FR-11, FR-37, UC1, UC3 and AC-05. NFR-19 fixes the timeouts.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Non-functional requirements are grouped by ISO 25010 characteristic. Data requirements come from Borja's domain model. Design constraints are the input for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 gives a verification method to every requirement range. The acceptance criteria are written in Given/When/Then and are the base of the acceptance tests in increment 3. Traceability matrix (requirements_conventions.md) covers FR-01 to FR-59.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of increment 2. The SSD of UC1 (Borja, assets/ssd_uc1.puml) shows the system as a black box: four system operations from the Cashier to NewEra POS, the loop of enterItem, and the three tenders of makePayment, with the retry of the card payment decided in review #23. On the right, the postconditions of the operation contracts (Josué): the state changes each operation causes in the domain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domain model (Borja, assets/domain_model.puml) has 23 conceptual classes for UC1 to UC5. This slide shows the 14 classes that UC1 uses, with the same names, attributes and multiplicities: every transaction is recorded in one cashier session; a sale contains one or more sale line items; each line records the sale of one product description; a transaction is paid by payments of three kinds and reported by an accounting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step of the architecture process: identify the drivers. Five use cases are functional drivers; 16 quality scenarios rated (importance, difficulty); 8 constraints. The priority drivers will decide the architecture style in W08–W09 (decisions AD-01 to AD-10 in architecture.md, Haifa).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documents are in the repository, one commit per document, reviewed in GitHub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internal reviews of v0.9: Borja reviewed sections 1–3.2 (#23, 20 findings) and Haifa sections 3.3–5 (#24, 8 findings). Every finding was answered and fixed by its owner before v1.0.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to 2 minutes. The lessons are what we change from W08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D  ·  WEEKLY REPORT W07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NewEra POS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3"/>
                </a:solidFill>
              </a:rPr>
              <a:t>Progress Report · Milestone: Assignment 1 – SRS v1.0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A4AD"/>
                </a:solidFill>
              </a:rPr>
              <a:t>Increment 1 closed: five use cases fully dressed, 132 requirements, reviewed and baselined as SRS v1.0. Increment 2 (design) has started.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A4AD"/>
                </a:solidFill>
              </a:rPr>
              <a:t>Team D · Software Engineering · Beihang University (BUAA) · github.com/bhsei/26D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080760" y="502920"/>
            <a:ext cx="2514600" cy="4023360"/>
          </a:xfrm>
          <a:custGeom>
            <a:avLst/>
            <a:gdLst/>
            <a:ahLst/>
            <a:cxnLst/>
            <a:rect l="l" t="t" r="r" b="b"/>
            <a:pathLst>
              <a:path w="2514600" h="4023360">
                <a:moveTo>
                  <a:pt x="0" y="0"/>
                </a:moveTo>
                <a:lnTo>
                  <a:pt x="2514600" y="0"/>
                </a:lnTo>
                <a:lnTo>
                  <a:pt x="2514600" y="3968496"/>
                </a:lnTo>
                <a:lnTo>
                  <a:pt x="2440641" y="4023360"/>
                </a:lnTo>
                <a:lnTo>
                  <a:pt x="2366682" y="3968496"/>
                </a:lnTo>
                <a:lnTo>
                  <a:pt x="2292724" y="4023360"/>
                </a:lnTo>
                <a:lnTo>
                  <a:pt x="2218765" y="3968496"/>
                </a:lnTo>
                <a:lnTo>
                  <a:pt x="2144806" y="4023360"/>
                </a:lnTo>
                <a:lnTo>
                  <a:pt x="2070847" y="3968496"/>
                </a:lnTo>
                <a:lnTo>
                  <a:pt x="1996888" y="4023360"/>
                </a:lnTo>
                <a:lnTo>
                  <a:pt x="1922929" y="3968496"/>
                </a:lnTo>
                <a:lnTo>
                  <a:pt x="1848971" y="4023360"/>
                </a:lnTo>
                <a:lnTo>
                  <a:pt x="1775012" y="3968496"/>
                </a:lnTo>
                <a:lnTo>
                  <a:pt x="1701053" y="4023360"/>
                </a:lnTo>
                <a:lnTo>
                  <a:pt x="1627094" y="3968496"/>
                </a:lnTo>
                <a:lnTo>
                  <a:pt x="1553135" y="4023360"/>
                </a:lnTo>
                <a:lnTo>
                  <a:pt x="1479176" y="3968496"/>
                </a:lnTo>
                <a:lnTo>
                  <a:pt x="1405218" y="4023360"/>
                </a:lnTo>
                <a:lnTo>
                  <a:pt x="1331259" y="3968496"/>
                </a:lnTo>
                <a:lnTo>
                  <a:pt x="1257300" y="4023360"/>
                </a:lnTo>
                <a:lnTo>
                  <a:pt x="1183341" y="3968496"/>
                </a:lnTo>
                <a:lnTo>
                  <a:pt x="1109382" y="4023360"/>
                </a:lnTo>
                <a:lnTo>
                  <a:pt x="1035424" y="3968496"/>
                </a:lnTo>
                <a:lnTo>
                  <a:pt x="961465" y="4023360"/>
                </a:lnTo>
                <a:lnTo>
                  <a:pt x="887506" y="3968496"/>
                </a:lnTo>
                <a:lnTo>
                  <a:pt x="813547" y="4023360"/>
                </a:lnTo>
                <a:lnTo>
                  <a:pt x="739588" y="3968496"/>
                </a:lnTo>
                <a:lnTo>
                  <a:pt x="665629" y="4023360"/>
                </a:lnTo>
                <a:lnTo>
                  <a:pt x="591671" y="3968496"/>
                </a:lnTo>
                <a:lnTo>
                  <a:pt x="517712" y="4023360"/>
                </a:lnTo>
                <a:lnTo>
                  <a:pt x="443753" y="3968496"/>
                </a:lnTo>
                <a:lnTo>
                  <a:pt x="369794" y="4023360"/>
                </a:lnTo>
                <a:lnTo>
                  <a:pt x="295835" y="3968496"/>
                </a:lnTo>
                <a:lnTo>
                  <a:pt x="221876" y="4023360"/>
                </a:lnTo>
                <a:lnTo>
                  <a:pt x="147918" y="3968496"/>
                </a:lnTo>
                <a:lnTo>
                  <a:pt x="73959" y="4023360"/>
                </a:lnTo>
                <a:lnTo>
                  <a:pt x="0" y="396849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63640" y="685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NEWERA POS · REG 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8869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OCT 2026 · W07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263640" y="1161288"/>
            <a:ext cx="2148840" cy="0"/>
          </a:xfrm>
          <a:prstGeom prst="line">
            <a:avLst/>
          </a:prstGeom>
          <a:noFill/>
          <a:ln w="9525">
            <a:solidFill>
              <a:srgbClr val="9EA4AD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309360" y="12801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CASES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2801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5179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543800" y="15179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755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1755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9933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NFR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19933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2311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468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4688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706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27066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29443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63640" y="3246120"/>
            <a:ext cx="2148840" cy="0"/>
          </a:xfrm>
          <a:prstGeom prst="line">
            <a:avLst/>
          </a:prstGeom>
          <a:noFill/>
          <a:ln w="9525">
            <a:solidFill>
              <a:srgbClr val="9EA4AD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6309360" y="3319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REQS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3291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63016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 v1.0 · APPROVED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400800" y="3904488"/>
            <a:ext cx="62484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2" name="Shape 30"/>
          <p:cNvSpPr/>
          <p:nvPr/>
        </p:nvSpPr>
        <p:spPr>
          <a:xfrm>
            <a:off x="6494526" y="3904488"/>
            <a:ext cx="31242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3" name="Shape 31"/>
          <p:cNvSpPr/>
          <p:nvPr/>
        </p:nvSpPr>
        <p:spPr>
          <a:xfrm>
            <a:off x="6619494" y="3904488"/>
            <a:ext cx="31242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4" name="Shape 32"/>
          <p:cNvSpPr/>
          <p:nvPr/>
        </p:nvSpPr>
        <p:spPr>
          <a:xfrm>
            <a:off x="6713220" y="3904488"/>
            <a:ext cx="31242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5" name="Shape 33"/>
          <p:cNvSpPr/>
          <p:nvPr/>
        </p:nvSpPr>
        <p:spPr>
          <a:xfrm>
            <a:off x="6775704" y="3904488"/>
            <a:ext cx="62484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6" name="Shape 34"/>
          <p:cNvSpPr/>
          <p:nvPr/>
        </p:nvSpPr>
        <p:spPr>
          <a:xfrm>
            <a:off x="6931914" y="3904488"/>
            <a:ext cx="31242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7" name="Shape 35"/>
          <p:cNvSpPr/>
          <p:nvPr/>
        </p:nvSpPr>
        <p:spPr>
          <a:xfrm>
            <a:off x="6994398" y="3904488"/>
            <a:ext cx="62484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8" name="Shape 36"/>
          <p:cNvSpPr/>
          <p:nvPr/>
        </p:nvSpPr>
        <p:spPr>
          <a:xfrm>
            <a:off x="7088124" y="3904488"/>
            <a:ext cx="93726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9" name="Shape 37"/>
          <p:cNvSpPr/>
          <p:nvPr/>
        </p:nvSpPr>
        <p:spPr>
          <a:xfrm>
            <a:off x="7213092" y="3904488"/>
            <a:ext cx="31242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40" name="Shape 38"/>
          <p:cNvSpPr/>
          <p:nvPr/>
        </p:nvSpPr>
        <p:spPr>
          <a:xfrm>
            <a:off x="7306818" y="3904488"/>
            <a:ext cx="31242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41" name="Shape 39"/>
          <p:cNvSpPr/>
          <p:nvPr/>
        </p:nvSpPr>
        <p:spPr>
          <a:xfrm>
            <a:off x="7400544" y="3904488"/>
            <a:ext cx="93726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42" name="Shape 40"/>
          <p:cNvSpPr/>
          <p:nvPr/>
        </p:nvSpPr>
        <p:spPr>
          <a:xfrm>
            <a:off x="7525512" y="3904488"/>
            <a:ext cx="62484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43" name="Shape 41"/>
          <p:cNvSpPr/>
          <p:nvPr/>
        </p:nvSpPr>
        <p:spPr>
          <a:xfrm>
            <a:off x="7619238" y="3904488"/>
            <a:ext cx="31242" cy="3657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44" name="Shape 42"/>
          <p:cNvSpPr/>
          <p:nvPr/>
        </p:nvSpPr>
        <p:spPr>
          <a:xfrm>
            <a:off x="7744206" y="3904488"/>
            <a:ext cx="62484" cy="365760"/>
          </a:xfrm>
          <a:prstGeom prst="rect">
            <a:avLst/>
          </a:prstGeom>
          <a:solidFill>
            <a:srgbClr val="16181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SYSTEM DEVELOPMENT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SRS v1.0 at a glance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02/14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" y="960120"/>
            <a:ext cx="1920240" cy="1051560"/>
          </a:xfrm>
          <a:custGeom>
            <a:avLst/>
            <a:gdLst/>
            <a:ahLst/>
            <a:cxnLst/>
            <a:rect l="l" t="t" r="r" b="b"/>
            <a:pathLst>
              <a:path w="1920240" h="1051560">
                <a:moveTo>
                  <a:pt x="0" y="0"/>
                </a:moveTo>
                <a:lnTo>
                  <a:pt x="1920240" y="0"/>
                </a:lnTo>
                <a:lnTo>
                  <a:pt x="1920240" y="996696"/>
                </a:lnTo>
                <a:lnTo>
                  <a:pt x="1846385" y="1051560"/>
                </a:lnTo>
                <a:lnTo>
                  <a:pt x="1772529" y="996696"/>
                </a:lnTo>
                <a:lnTo>
                  <a:pt x="1698674" y="1051560"/>
                </a:lnTo>
                <a:lnTo>
                  <a:pt x="1624818" y="996696"/>
                </a:lnTo>
                <a:lnTo>
                  <a:pt x="1550963" y="1051560"/>
                </a:lnTo>
                <a:lnTo>
                  <a:pt x="1477108" y="996696"/>
                </a:lnTo>
                <a:lnTo>
                  <a:pt x="1403252" y="1051560"/>
                </a:lnTo>
                <a:lnTo>
                  <a:pt x="1329397" y="996696"/>
                </a:lnTo>
                <a:lnTo>
                  <a:pt x="1255542" y="1051560"/>
                </a:lnTo>
                <a:lnTo>
                  <a:pt x="1181686" y="996696"/>
                </a:lnTo>
                <a:lnTo>
                  <a:pt x="1107831" y="1051560"/>
                </a:lnTo>
                <a:lnTo>
                  <a:pt x="1033975" y="996696"/>
                </a:lnTo>
                <a:lnTo>
                  <a:pt x="960120" y="1051560"/>
                </a:lnTo>
                <a:lnTo>
                  <a:pt x="886265" y="996696"/>
                </a:lnTo>
                <a:lnTo>
                  <a:pt x="812409" y="1051560"/>
                </a:lnTo>
                <a:lnTo>
                  <a:pt x="738554" y="996696"/>
                </a:lnTo>
                <a:lnTo>
                  <a:pt x="664698" y="1051560"/>
                </a:lnTo>
                <a:lnTo>
                  <a:pt x="590843" y="996696"/>
                </a:lnTo>
                <a:lnTo>
                  <a:pt x="516988" y="1051560"/>
                </a:lnTo>
                <a:lnTo>
                  <a:pt x="443132" y="996696"/>
                </a:lnTo>
                <a:lnTo>
                  <a:pt x="369277" y="1051560"/>
                </a:lnTo>
                <a:lnTo>
                  <a:pt x="295422" y="996696"/>
                </a:lnTo>
                <a:lnTo>
                  <a:pt x="221566" y="1051560"/>
                </a:lnTo>
                <a:lnTo>
                  <a:pt x="147711" y="996696"/>
                </a:lnTo>
                <a:lnTo>
                  <a:pt x="73855" y="1051560"/>
                </a:lnTo>
                <a:lnTo>
                  <a:pt x="0" y="99669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48640" y="1024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17B"/>
                </a:solidFill>
              </a:rPr>
              <a:t>use cases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17B"/>
                </a:solidFill>
              </a:rPr>
              <a:t>fully dressed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514600" y="960120"/>
            <a:ext cx="1920240" cy="1051560"/>
          </a:xfrm>
          <a:custGeom>
            <a:avLst/>
            <a:gdLst/>
            <a:ahLst/>
            <a:cxnLst/>
            <a:rect l="l" t="t" r="r" b="b"/>
            <a:pathLst>
              <a:path w="1920240" h="1051560">
                <a:moveTo>
                  <a:pt x="0" y="0"/>
                </a:moveTo>
                <a:lnTo>
                  <a:pt x="1920240" y="0"/>
                </a:lnTo>
                <a:lnTo>
                  <a:pt x="1920240" y="996696"/>
                </a:lnTo>
                <a:lnTo>
                  <a:pt x="1846385" y="1051560"/>
                </a:lnTo>
                <a:lnTo>
                  <a:pt x="1772529" y="996696"/>
                </a:lnTo>
                <a:lnTo>
                  <a:pt x="1698674" y="1051560"/>
                </a:lnTo>
                <a:lnTo>
                  <a:pt x="1624818" y="996696"/>
                </a:lnTo>
                <a:lnTo>
                  <a:pt x="1550963" y="1051560"/>
                </a:lnTo>
                <a:lnTo>
                  <a:pt x="1477108" y="996696"/>
                </a:lnTo>
                <a:lnTo>
                  <a:pt x="1403252" y="1051560"/>
                </a:lnTo>
                <a:lnTo>
                  <a:pt x="1329397" y="996696"/>
                </a:lnTo>
                <a:lnTo>
                  <a:pt x="1255542" y="1051560"/>
                </a:lnTo>
                <a:lnTo>
                  <a:pt x="1181686" y="996696"/>
                </a:lnTo>
                <a:lnTo>
                  <a:pt x="1107831" y="1051560"/>
                </a:lnTo>
                <a:lnTo>
                  <a:pt x="1033975" y="996696"/>
                </a:lnTo>
                <a:lnTo>
                  <a:pt x="960120" y="1051560"/>
                </a:lnTo>
                <a:lnTo>
                  <a:pt x="886265" y="996696"/>
                </a:lnTo>
                <a:lnTo>
                  <a:pt x="812409" y="1051560"/>
                </a:lnTo>
                <a:lnTo>
                  <a:pt x="738554" y="996696"/>
                </a:lnTo>
                <a:lnTo>
                  <a:pt x="664698" y="1051560"/>
                </a:lnTo>
                <a:lnTo>
                  <a:pt x="590843" y="996696"/>
                </a:lnTo>
                <a:lnTo>
                  <a:pt x="516988" y="1051560"/>
                </a:lnTo>
                <a:lnTo>
                  <a:pt x="443132" y="996696"/>
                </a:lnTo>
                <a:lnTo>
                  <a:pt x="369277" y="1051560"/>
                </a:lnTo>
                <a:lnTo>
                  <a:pt x="295422" y="996696"/>
                </a:lnTo>
                <a:lnTo>
                  <a:pt x="221566" y="1051560"/>
                </a:lnTo>
                <a:lnTo>
                  <a:pt x="147711" y="996696"/>
                </a:lnTo>
                <a:lnTo>
                  <a:pt x="73855" y="1051560"/>
                </a:lnTo>
                <a:lnTo>
                  <a:pt x="0" y="99669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2651760" y="1024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3200" dirty="0"/>
          </a:p>
        </p:txBody>
      </p:sp>
      <p:sp>
        <p:nvSpPr>
          <p:cNvPr id="31" name="Text 28"/>
          <p:cNvSpPr txBox="1"/>
          <p:nvPr/>
        </p:nvSpPr>
        <p:spPr>
          <a:xfrm>
            <a:off x="265176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17B"/>
                </a:solidFill>
              </a:rPr>
              <a:t>extensions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17B"/>
                </a:solidFill>
              </a:rPr>
              <a:t>alternative flows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617720" y="960120"/>
            <a:ext cx="1920240" cy="105156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4754880" y="1024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132</a:t>
            </a:r>
            <a:endParaRPr lang="en-US" sz="3200" dirty="0"/>
          </a:p>
        </p:txBody>
      </p:sp>
      <p:sp>
        <p:nvSpPr>
          <p:cNvPr id="34" name="Text 31"/>
          <p:cNvSpPr txBox="1"/>
          <p:nvPr/>
        </p:nvSpPr>
        <p:spPr>
          <a:xfrm>
            <a:off x="475488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CDD3"/>
                </a:solidFill>
              </a:rPr>
              <a:t>requirements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CDD3"/>
                </a:solidFill>
              </a:rPr>
              <a:t>unique ID + priority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720840" y="960120"/>
            <a:ext cx="1920240" cy="1051560"/>
          </a:xfrm>
          <a:custGeom>
            <a:avLst/>
            <a:gdLst/>
            <a:ahLst/>
            <a:cxnLst/>
            <a:rect l="l" t="t" r="r" b="b"/>
            <a:pathLst>
              <a:path w="1920240" h="1051560">
                <a:moveTo>
                  <a:pt x="0" y="0"/>
                </a:moveTo>
                <a:lnTo>
                  <a:pt x="1920240" y="0"/>
                </a:lnTo>
                <a:lnTo>
                  <a:pt x="1920240" y="996696"/>
                </a:lnTo>
                <a:lnTo>
                  <a:pt x="1846385" y="1051560"/>
                </a:lnTo>
                <a:lnTo>
                  <a:pt x="1772529" y="996696"/>
                </a:lnTo>
                <a:lnTo>
                  <a:pt x="1698674" y="1051560"/>
                </a:lnTo>
                <a:lnTo>
                  <a:pt x="1624818" y="996696"/>
                </a:lnTo>
                <a:lnTo>
                  <a:pt x="1550963" y="1051560"/>
                </a:lnTo>
                <a:lnTo>
                  <a:pt x="1477108" y="996696"/>
                </a:lnTo>
                <a:lnTo>
                  <a:pt x="1403252" y="1051560"/>
                </a:lnTo>
                <a:lnTo>
                  <a:pt x="1329397" y="996696"/>
                </a:lnTo>
                <a:lnTo>
                  <a:pt x="1255542" y="1051560"/>
                </a:lnTo>
                <a:lnTo>
                  <a:pt x="1181686" y="996696"/>
                </a:lnTo>
                <a:lnTo>
                  <a:pt x="1107831" y="1051560"/>
                </a:lnTo>
                <a:lnTo>
                  <a:pt x="1033975" y="996696"/>
                </a:lnTo>
                <a:lnTo>
                  <a:pt x="960120" y="1051560"/>
                </a:lnTo>
                <a:lnTo>
                  <a:pt x="886265" y="996696"/>
                </a:lnTo>
                <a:lnTo>
                  <a:pt x="812409" y="1051560"/>
                </a:lnTo>
                <a:lnTo>
                  <a:pt x="738554" y="996696"/>
                </a:lnTo>
                <a:lnTo>
                  <a:pt x="664698" y="1051560"/>
                </a:lnTo>
                <a:lnTo>
                  <a:pt x="590843" y="996696"/>
                </a:lnTo>
                <a:lnTo>
                  <a:pt x="516988" y="1051560"/>
                </a:lnTo>
                <a:lnTo>
                  <a:pt x="443132" y="996696"/>
                </a:lnTo>
                <a:lnTo>
                  <a:pt x="369277" y="1051560"/>
                </a:lnTo>
                <a:lnTo>
                  <a:pt x="295422" y="996696"/>
                </a:lnTo>
                <a:lnTo>
                  <a:pt x="221566" y="1051560"/>
                </a:lnTo>
                <a:lnTo>
                  <a:pt x="147711" y="996696"/>
                </a:lnTo>
                <a:lnTo>
                  <a:pt x="73855" y="1051560"/>
                </a:lnTo>
                <a:lnTo>
                  <a:pt x="0" y="99669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858000" y="1024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200" dirty="0"/>
          </a:p>
        </p:txBody>
      </p:sp>
      <p:sp>
        <p:nvSpPr>
          <p:cNvPr id="37" name="Text 34"/>
          <p:cNvSpPr txBox="1"/>
          <p:nvPr/>
        </p:nvSpPr>
        <p:spPr>
          <a:xfrm>
            <a:off x="6858000" y="153619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17B"/>
                </a:solidFill>
              </a:rPr>
              <a:t>acceptance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17B"/>
                </a:solidFill>
              </a:rPr>
              <a:t>criteria (UC1)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11480" y="2212848"/>
            <a:ext cx="12801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6D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920" y="2286000"/>
            <a:ext cx="502920" cy="219456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051560" y="2249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2578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Functional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810512" y="2212848"/>
            <a:ext cx="12801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6D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901952" y="2286000"/>
            <a:ext cx="502920" cy="219456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NFR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2450592" y="2249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800" dirty="0"/>
          </a:p>
        </p:txBody>
      </p:sp>
      <p:sp>
        <p:nvSpPr>
          <p:cNvPr id="45" name="Text 42"/>
          <p:cNvSpPr txBox="1"/>
          <p:nvPr/>
        </p:nvSpPr>
        <p:spPr>
          <a:xfrm>
            <a:off x="1901952" y="2578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Non-functional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3209544" y="2212848"/>
            <a:ext cx="12801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6D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300984" y="2286000"/>
            <a:ext cx="502920" cy="219456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IR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3849624" y="2249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3300984" y="2578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Interface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4608576" y="2212848"/>
            <a:ext cx="12801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6D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700016" y="2286000"/>
            <a:ext cx="502920" cy="219456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5248656" y="2249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4700016" y="2578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Data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6007608" y="2212848"/>
            <a:ext cx="12801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6DB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099048" y="2286000"/>
            <a:ext cx="502920" cy="219456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DC</a:t>
            </a:r>
            <a:endParaRPr lang="en-US" sz="900" dirty="0"/>
          </a:p>
        </p:txBody>
      </p:sp>
      <p:sp>
        <p:nvSpPr>
          <p:cNvPr id="56" name="Text 53"/>
          <p:cNvSpPr txBox="1"/>
          <p:nvPr/>
        </p:nvSpPr>
        <p:spPr>
          <a:xfrm>
            <a:off x="6647688" y="2249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800" dirty="0"/>
          </a:p>
        </p:txBody>
      </p:sp>
      <p:sp>
        <p:nvSpPr>
          <p:cNvPr id="57" name="Text 54"/>
          <p:cNvSpPr txBox="1"/>
          <p:nvPr/>
        </p:nvSpPr>
        <p:spPr>
          <a:xfrm>
            <a:off x="6099048" y="2578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Design constraint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7406640" y="2212848"/>
            <a:ext cx="1280160" cy="64008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3D6DB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498080" y="2286000"/>
            <a:ext cx="502920" cy="219456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BR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8046720" y="224942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  <p:sp>
        <p:nvSpPr>
          <p:cNvPr id="61" name="Text 58"/>
          <p:cNvSpPr txBox="1"/>
          <p:nvPr/>
        </p:nvSpPr>
        <p:spPr>
          <a:xfrm>
            <a:off x="7498080" y="257860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Business rule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411480" y="2926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2E"/>
                </a:solidFill>
              </a:rPr>
              <a:t>New in W07: </a:t>
            </a:r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DR (data) and DC (design constraint) requirement types, NFR-13 to NFR-19, FR-18 to FR-59.</a:t>
            </a:r>
            <a:endParaRPr lang="en-US" sz="900" dirty="0"/>
          </a:p>
        </p:txBody>
      </p:sp>
      <p:sp>
        <p:nvSpPr>
          <p:cNvPr id="63" name="Text 60"/>
          <p:cNvSpPr txBox="1"/>
          <p:nvPr/>
        </p:nvSpPr>
        <p:spPr>
          <a:xfrm>
            <a:off x="411480" y="3246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2F36"/>
                </a:solidFill>
              </a:rPr>
              <a:t>Structure: ISO/IEC/IEEE 29148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411480" y="3474720"/>
            <a:ext cx="1252728" cy="868680"/>
          </a:xfrm>
          <a:custGeom>
            <a:avLst/>
            <a:gdLst/>
            <a:ahLst/>
            <a:cxnLst/>
            <a:rect l="l" t="t" r="r" b="b"/>
            <a:pathLst>
              <a:path w="1252728" h="868680">
                <a:moveTo>
                  <a:pt x="0" y="0"/>
                </a:moveTo>
                <a:lnTo>
                  <a:pt x="1252728" y="0"/>
                </a:lnTo>
                <a:lnTo>
                  <a:pt x="1252728" y="813816"/>
                </a:lnTo>
                <a:lnTo>
                  <a:pt x="1183132" y="868680"/>
                </a:lnTo>
                <a:lnTo>
                  <a:pt x="1113536" y="813816"/>
                </a:lnTo>
                <a:lnTo>
                  <a:pt x="1043940" y="868680"/>
                </a:lnTo>
                <a:lnTo>
                  <a:pt x="974344" y="813816"/>
                </a:lnTo>
                <a:lnTo>
                  <a:pt x="904748" y="868680"/>
                </a:lnTo>
                <a:lnTo>
                  <a:pt x="835152" y="813816"/>
                </a:lnTo>
                <a:lnTo>
                  <a:pt x="765556" y="868680"/>
                </a:lnTo>
                <a:lnTo>
                  <a:pt x="695960" y="813816"/>
                </a:lnTo>
                <a:lnTo>
                  <a:pt x="626364" y="868680"/>
                </a:lnTo>
                <a:lnTo>
                  <a:pt x="556768" y="813816"/>
                </a:lnTo>
                <a:lnTo>
                  <a:pt x="487172" y="868680"/>
                </a:lnTo>
                <a:lnTo>
                  <a:pt x="417576" y="813816"/>
                </a:lnTo>
                <a:lnTo>
                  <a:pt x="347980" y="868680"/>
                </a:lnTo>
                <a:lnTo>
                  <a:pt x="278384" y="813816"/>
                </a:lnTo>
                <a:lnTo>
                  <a:pt x="208788" y="868680"/>
                </a:lnTo>
                <a:lnTo>
                  <a:pt x="139192" y="813816"/>
                </a:lnTo>
                <a:lnTo>
                  <a:pt x="69596" y="868680"/>
                </a:lnTo>
                <a:lnTo>
                  <a:pt x="0" y="81381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5" name="Text 62"/>
          <p:cNvSpPr txBox="1"/>
          <p:nvPr/>
        </p:nvSpPr>
        <p:spPr>
          <a:xfrm>
            <a:off x="502920" y="3529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1  Introduction</a:t>
            </a:r>
            <a:endParaRPr lang="en-US" sz="950" dirty="0"/>
          </a:p>
        </p:txBody>
      </p:sp>
      <p:sp>
        <p:nvSpPr>
          <p:cNvPr id="66" name="Text 63"/>
          <p:cNvSpPr txBox="1"/>
          <p:nvPr/>
        </p:nvSpPr>
        <p:spPr>
          <a:xfrm>
            <a:off x="502920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purpose, scope, goals, overview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1737360" y="3474720"/>
            <a:ext cx="1252728" cy="868680"/>
          </a:xfrm>
          <a:custGeom>
            <a:avLst/>
            <a:gdLst/>
            <a:ahLst/>
            <a:cxnLst/>
            <a:rect l="l" t="t" r="r" b="b"/>
            <a:pathLst>
              <a:path w="1252728" h="868680">
                <a:moveTo>
                  <a:pt x="0" y="0"/>
                </a:moveTo>
                <a:lnTo>
                  <a:pt x="1252728" y="0"/>
                </a:lnTo>
                <a:lnTo>
                  <a:pt x="1252728" y="813816"/>
                </a:lnTo>
                <a:lnTo>
                  <a:pt x="1183132" y="868680"/>
                </a:lnTo>
                <a:lnTo>
                  <a:pt x="1113536" y="813816"/>
                </a:lnTo>
                <a:lnTo>
                  <a:pt x="1043940" y="868680"/>
                </a:lnTo>
                <a:lnTo>
                  <a:pt x="974344" y="813816"/>
                </a:lnTo>
                <a:lnTo>
                  <a:pt x="904748" y="868680"/>
                </a:lnTo>
                <a:lnTo>
                  <a:pt x="835152" y="813816"/>
                </a:lnTo>
                <a:lnTo>
                  <a:pt x="765556" y="868680"/>
                </a:lnTo>
                <a:lnTo>
                  <a:pt x="695960" y="813816"/>
                </a:lnTo>
                <a:lnTo>
                  <a:pt x="626364" y="868680"/>
                </a:lnTo>
                <a:lnTo>
                  <a:pt x="556768" y="813816"/>
                </a:lnTo>
                <a:lnTo>
                  <a:pt x="487172" y="868680"/>
                </a:lnTo>
                <a:lnTo>
                  <a:pt x="417576" y="813816"/>
                </a:lnTo>
                <a:lnTo>
                  <a:pt x="347980" y="868680"/>
                </a:lnTo>
                <a:lnTo>
                  <a:pt x="278384" y="813816"/>
                </a:lnTo>
                <a:lnTo>
                  <a:pt x="208788" y="868680"/>
                </a:lnTo>
                <a:lnTo>
                  <a:pt x="139192" y="813816"/>
                </a:lnTo>
                <a:lnTo>
                  <a:pt x="69596" y="868680"/>
                </a:lnTo>
                <a:lnTo>
                  <a:pt x="0" y="81381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8" name="Text 65"/>
          <p:cNvSpPr txBox="1"/>
          <p:nvPr/>
        </p:nvSpPr>
        <p:spPr>
          <a:xfrm>
            <a:off x="1828800" y="3529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2  References</a:t>
            </a:r>
            <a:endParaRPr lang="en-US" sz="950" dirty="0"/>
          </a:p>
        </p:txBody>
      </p:sp>
      <p:sp>
        <p:nvSpPr>
          <p:cNvPr id="69" name="Text 66"/>
          <p:cNvSpPr txBox="1"/>
          <p:nvPr/>
        </p:nvSpPr>
        <p:spPr>
          <a:xfrm>
            <a:off x="1828800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standards, case, team docs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3063240" y="3474720"/>
            <a:ext cx="2670048" cy="868680"/>
          </a:xfrm>
          <a:prstGeom prst="rect">
            <a:avLst/>
          </a:prstGeom>
          <a:solidFill>
            <a:srgbClr val="FFF1B8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3154680" y="35295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3  Specific requirements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3154680" y="37673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interfaces · functions (UC1–UC5) · usability · performance · data · constraints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5806440" y="3474720"/>
            <a:ext cx="1527048" cy="868680"/>
          </a:xfrm>
          <a:custGeom>
            <a:avLst/>
            <a:gdLst/>
            <a:ahLst/>
            <a:cxnLst/>
            <a:rect l="l" t="t" r="r" b="b"/>
            <a:pathLst>
              <a:path w="1527048" h="868680">
                <a:moveTo>
                  <a:pt x="0" y="0"/>
                </a:moveTo>
                <a:lnTo>
                  <a:pt x="1527048" y="0"/>
                </a:lnTo>
                <a:lnTo>
                  <a:pt x="1527048" y="813816"/>
                </a:lnTo>
                <a:lnTo>
                  <a:pt x="1450696" y="868680"/>
                </a:lnTo>
                <a:lnTo>
                  <a:pt x="1374343" y="813816"/>
                </a:lnTo>
                <a:lnTo>
                  <a:pt x="1297991" y="868680"/>
                </a:lnTo>
                <a:lnTo>
                  <a:pt x="1221638" y="813816"/>
                </a:lnTo>
                <a:lnTo>
                  <a:pt x="1145286" y="868680"/>
                </a:lnTo>
                <a:lnTo>
                  <a:pt x="1068934" y="813816"/>
                </a:lnTo>
                <a:lnTo>
                  <a:pt x="992581" y="868680"/>
                </a:lnTo>
                <a:lnTo>
                  <a:pt x="916229" y="813816"/>
                </a:lnTo>
                <a:lnTo>
                  <a:pt x="839876" y="868680"/>
                </a:lnTo>
                <a:lnTo>
                  <a:pt x="763524" y="813816"/>
                </a:lnTo>
                <a:lnTo>
                  <a:pt x="687172" y="868680"/>
                </a:lnTo>
                <a:lnTo>
                  <a:pt x="610819" y="813816"/>
                </a:lnTo>
                <a:lnTo>
                  <a:pt x="534467" y="868680"/>
                </a:lnTo>
                <a:lnTo>
                  <a:pt x="458114" y="813816"/>
                </a:lnTo>
                <a:lnTo>
                  <a:pt x="381762" y="868680"/>
                </a:lnTo>
                <a:lnTo>
                  <a:pt x="305410" y="813816"/>
                </a:lnTo>
                <a:lnTo>
                  <a:pt x="229057" y="868680"/>
                </a:lnTo>
                <a:lnTo>
                  <a:pt x="152705" y="813816"/>
                </a:lnTo>
                <a:lnTo>
                  <a:pt x="76352" y="868680"/>
                </a:lnTo>
                <a:lnTo>
                  <a:pt x="0" y="81381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4" name="Text 71"/>
          <p:cNvSpPr txBox="1"/>
          <p:nvPr/>
        </p:nvSpPr>
        <p:spPr>
          <a:xfrm>
            <a:off x="5897880" y="35295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4  Verification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5897880" y="37673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method for every requirement + acceptance criteria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7406640" y="3474720"/>
            <a:ext cx="1252728" cy="868680"/>
          </a:xfrm>
          <a:custGeom>
            <a:avLst/>
            <a:gdLst/>
            <a:ahLst/>
            <a:cxnLst/>
            <a:rect l="l" t="t" r="r" b="b"/>
            <a:pathLst>
              <a:path w="1252728" h="868680">
                <a:moveTo>
                  <a:pt x="0" y="0"/>
                </a:moveTo>
                <a:lnTo>
                  <a:pt x="1252728" y="0"/>
                </a:lnTo>
                <a:lnTo>
                  <a:pt x="1252728" y="813816"/>
                </a:lnTo>
                <a:lnTo>
                  <a:pt x="1183132" y="868680"/>
                </a:lnTo>
                <a:lnTo>
                  <a:pt x="1113536" y="813816"/>
                </a:lnTo>
                <a:lnTo>
                  <a:pt x="1043940" y="868680"/>
                </a:lnTo>
                <a:lnTo>
                  <a:pt x="974344" y="813816"/>
                </a:lnTo>
                <a:lnTo>
                  <a:pt x="904748" y="868680"/>
                </a:lnTo>
                <a:lnTo>
                  <a:pt x="835152" y="813816"/>
                </a:lnTo>
                <a:lnTo>
                  <a:pt x="765556" y="868680"/>
                </a:lnTo>
                <a:lnTo>
                  <a:pt x="695960" y="813816"/>
                </a:lnTo>
                <a:lnTo>
                  <a:pt x="626364" y="868680"/>
                </a:lnTo>
                <a:lnTo>
                  <a:pt x="556768" y="813816"/>
                </a:lnTo>
                <a:lnTo>
                  <a:pt x="487172" y="868680"/>
                </a:lnTo>
                <a:lnTo>
                  <a:pt x="417576" y="813816"/>
                </a:lnTo>
                <a:lnTo>
                  <a:pt x="347980" y="868680"/>
                </a:lnTo>
                <a:lnTo>
                  <a:pt x="278384" y="813816"/>
                </a:lnTo>
                <a:lnTo>
                  <a:pt x="208788" y="868680"/>
                </a:lnTo>
                <a:lnTo>
                  <a:pt x="139192" y="813816"/>
                </a:lnTo>
                <a:lnTo>
                  <a:pt x="69596" y="868680"/>
                </a:lnTo>
                <a:lnTo>
                  <a:pt x="0" y="81381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7" name="Text 74"/>
          <p:cNvSpPr txBox="1"/>
          <p:nvPr/>
        </p:nvSpPr>
        <p:spPr>
          <a:xfrm>
            <a:off x="7498080" y="3529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5  Appendices</a:t>
            </a:r>
            <a:endParaRPr lang="en-US" sz="950" dirty="0"/>
          </a:p>
        </p:txBody>
      </p:sp>
      <p:sp>
        <p:nvSpPr>
          <p:cNvPr id="78" name="Text 75"/>
          <p:cNvSpPr txBox="1"/>
          <p:nvPr/>
        </p:nvSpPr>
        <p:spPr>
          <a:xfrm>
            <a:off x="7498080" y="37673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glossary · traceability · open questions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SYSTEM DEVELOPMENT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Five use cases, fully dressed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03/14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" y="960120"/>
            <a:ext cx="1572768" cy="2743200"/>
          </a:xfrm>
          <a:custGeom>
            <a:avLst/>
            <a:gdLst/>
            <a:ahLst/>
            <a:cxnLst/>
            <a:rect l="l" t="t" r="r" b="b"/>
            <a:pathLst>
              <a:path w="1572768" h="2743200">
                <a:moveTo>
                  <a:pt x="0" y="0"/>
                </a:moveTo>
                <a:lnTo>
                  <a:pt x="1572768" y="0"/>
                </a:lnTo>
                <a:lnTo>
                  <a:pt x="1572768" y="2688336"/>
                </a:lnTo>
                <a:lnTo>
                  <a:pt x="1501279" y="2743200"/>
                </a:lnTo>
                <a:lnTo>
                  <a:pt x="1429789" y="2688336"/>
                </a:lnTo>
                <a:lnTo>
                  <a:pt x="1358300" y="2743200"/>
                </a:lnTo>
                <a:lnTo>
                  <a:pt x="1286810" y="2688336"/>
                </a:lnTo>
                <a:lnTo>
                  <a:pt x="1215321" y="2743200"/>
                </a:lnTo>
                <a:lnTo>
                  <a:pt x="1143831" y="2688336"/>
                </a:lnTo>
                <a:lnTo>
                  <a:pt x="1072342" y="2743200"/>
                </a:lnTo>
                <a:lnTo>
                  <a:pt x="1000852" y="2688336"/>
                </a:lnTo>
                <a:lnTo>
                  <a:pt x="929363" y="2743200"/>
                </a:lnTo>
                <a:lnTo>
                  <a:pt x="857873" y="2688336"/>
                </a:lnTo>
                <a:lnTo>
                  <a:pt x="786384" y="2743200"/>
                </a:lnTo>
                <a:lnTo>
                  <a:pt x="714895" y="2688336"/>
                </a:lnTo>
                <a:lnTo>
                  <a:pt x="643405" y="2743200"/>
                </a:lnTo>
                <a:lnTo>
                  <a:pt x="571916" y="2688336"/>
                </a:lnTo>
                <a:lnTo>
                  <a:pt x="500426" y="2743200"/>
                </a:lnTo>
                <a:lnTo>
                  <a:pt x="428937" y="2688336"/>
                </a:lnTo>
                <a:lnTo>
                  <a:pt x="357447" y="2743200"/>
                </a:lnTo>
                <a:lnTo>
                  <a:pt x="285958" y="2688336"/>
                </a:lnTo>
                <a:lnTo>
                  <a:pt x="214468" y="2743200"/>
                </a:lnTo>
                <a:lnTo>
                  <a:pt x="142979" y="2688336"/>
                </a:lnTo>
                <a:lnTo>
                  <a:pt x="71489" y="2743200"/>
                </a:lnTo>
                <a:lnTo>
                  <a:pt x="0" y="268833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11480" y="960120"/>
            <a:ext cx="1572768" cy="685800"/>
          </a:xfrm>
          <a:prstGeom prst="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1208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CDD3"/>
                </a:solidFill>
              </a:rPr>
              <a:t>UC1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21208" y="12344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Process Sale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521208" y="1764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Priority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1188720" y="176479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Must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521208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Owner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1188720" y="203911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Alfonso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521208" y="2313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Extensions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1188720" y="2313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18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21208" y="2587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FRs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1188720" y="25877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FR-01–19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21208" y="2880360"/>
            <a:ext cx="1353312" cy="0"/>
          </a:xfrm>
          <a:prstGeom prst="line">
            <a:avLst/>
          </a:prstGeom>
          <a:noFill/>
          <a:ln w="9525">
            <a:solidFill>
              <a:srgbClr val="D3D6D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21208" y="294436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126"/>
                </a:solidFill>
              </a:rPr>
              <a:t>No card payment without authorization (BR-05)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093976" y="960120"/>
            <a:ext cx="1572768" cy="2743200"/>
          </a:xfrm>
          <a:custGeom>
            <a:avLst/>
            <a:gdLst/>
            <a:ahLst/>
            <a:cxnLst/>
            <a:rect l="l" t="t" r="r" b="b"/>
            <a:pathLst>
              <a:path w="1572768" h="2743200">
                <a:moveTo>
                  <a:pt x="0" y="0"/>
                </a:moveTo>
                <a:lnTo>
                  <a:pt x="1572768" y="0"/>
                </a:lnTo>
                <a:lnTo>
                  <a:pt x="1572768" y="2688336"/>
                </a:lnTo>
                <a:lnTo>
                  <a:pt x="1501279" y="2743200"/>
                </a:lnTo>
                <a:lnTo>
                  <a:pt x="1429789" y="2688336"/>
                </a:lnTo>
                <a:lnTo>
                  <a:pt x="1358300" y="2743200"/>
                </a:lnTo>
                <a:lnTo>
                  <a:pt x="1286810" y="2688336"/>
                </a:lnTo>
                <a:lnTo>
                  <a:pt x="1215321" y="2743200"/>
                </a:lnTo>
                <a:lnTo>
                  <a:pt x="1143831" y="2688336"/>
                </a:lnTo>
                <a:lnTo>
                  <a:pt x="1072342" y="2743200"/>
                </a:lnTo>
                <a:lnTo>
                  <a:pt x="1000852" y="2688336"/>
                </a:lnTo>
                <a:lnTo>
                  <a:pt x="929363" y="2743200"/>
                </a:lnTo>
                <a:lnTo>
                  <a:pt x="857873" y="2688336"/>
                </a:lnTo>
                <a:lnTo>
                  <a:pt x="786384" y="2743200"/>
                </a:lnTo>
                <a:lnTo>
                  <a:pt x="714895" y="2688336"/>
                </a:lnTo>
                <a:lnTo>
                  <a:pt x="643405" y="2743200"/>
                </a:lnTo>
                <a:lnTo>
                  <a:pt x="571916" y="2688336"/>
                </a:lnTo>
                <a:lnTo>
                  <a:pt x="500426" y="2743200"/>
                </a:lnTo>
                <a:lnTo>
                  <a:pt x="428937" y="2688336"/>
                </a:lnTo>
                <a:lnTo>
                  <a:pt x="357447" y="2743200"/>
                </a:lnTo>
                <a:lnTo>
                  <a:pt x="285958" y="2688336"/>
                </a:lnTo>
                <a:lnTo>
                  <a:pt x="214468" y="2743200"/>
                </a:lnTo>
                <a:lnTo>
                  <a:pt x="142979" y="2688336"/>
                </a:lnTo>
                <a:lnTo>
                  <a:pt x="71489" y="2743200"/>
                </a:lnTo>
                <a:lnTo>
                  <a:pt x="0" y="268833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2093976" y="960120"/>
            <a:ext cx="1572768" cy="685800"/>
          </a:xfrm>
          <a:prstGeom prst="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203704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CDD3"/>
                </a:solidFill>
              </a:rPr>
              <a:t>UC2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2203704" y="12344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Handle Returns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2203704" y="1764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Priority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2871216" y="176479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Must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2203704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Owner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2871216" y="203911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Yasmine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2203704" y="2313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Extensions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2871216" y="2313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14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2203704" y="2587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FRs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2871216" y="25877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FR-20–29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2203704" y="2880360"/>
            <a:ext cx="1353312" cy="0"/>
          </a:xfrm>
          <a:prstGeom prst="line">
            <a:avLst/>
          </a:prstGeom>
          <a:noFill/>
          <a:ln w="9525">
            <a:solidFill>
              <a:srgbClr val="D3D6DB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203704" y="294436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126"/>
                </a:solidFill>
              </a:rPr>
              <a:t>Refund with the original tender, inside the refund period (BR-07, BR-08)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3776472" y="960120"/>
            <a:ext cx="1572768" cy="2743200"/>
          </a:xfrm>
          <a:custGeom>
            <a:avLst/>
            <a:gdLst/>
            <a:ahLst/>
            <a:cxnLst/>
            <a:rect l="l" t="t" r="r" b="b"/>
            <a:pathLst>
              <a:path w="1572768" h="2743200">
                <a:moveTo>
                  <a:pt x="0" y="0"/>
                </a:moveTo>
                <a:lnTo>
                  <a:pt x="1572768" y="0"/>
                </a:lnTo>
                <a:lnTo>
                  <a:pt x="1572768" y="2688336"/>
                </a:lnTo>
                <a:lnTo>
                  <a:pt x="1501279" y="2743200"/>
                </a:lnTo>
                <a:lnTo>
                  <a:pt x="1429789" y="2688336"/>
                </a:lnTo>
                <a:lnTo>
                  <a:pt x="1358300" y="2743200"/>
                </a:lnTo>
                <a:lnTo>
                  <a:pt x="1286810" y="2688336"/>
                </a:lnTo>
                <a:lnTo>
                  <a:pt x="1215321" y="2743200"/>
                </a:lnTo>
                <a:lnTo>
                  <a:pt x="1143831" y="2688336"/>
                </a:lnTo>
                <a:lnTo>
                  <a:pt x="1072342" y="2743200"/>
                </a:lnTo>
                <a:lnTo>
                  <a:pt x="1000852" y="2688336"/>
                </a:lnTo>
                <a:lnTo>
                  <a:pt x="929363" y="2743200"/>
                </a:lnTo>
                <a:lnTo>
                  <a:pt x="857873" y="2688336"/>
                </a:lnTo>
                <a:lnTo>
                  <a:pt x="786384" y="2743200"/>
                </a:lnTo>
                <a:lnTo>
                  <a:pt x="714895" y="2688336"/>
                </a:lnTo>
                <a:lnTo>
                  <a:pt x="643405" y="2743200"/>
                </a:lnTo>
                <a:lnTo>
                  <a:pt x="571916" y="2688336"/>
                </a:lnTo>
                <a:lnTo>
                  <a:pt x="500426" y="2743200"/>
                </a:lnTo>
                <a:lnTo>
                  <a:pt x="428937" y="2688336"/>
                </a:lnTo>
                <a:lnTo>
                  <a:pt x="357447" y="2743200"/>
                </a:lnTo>
                <a:lnTo>
                  <a:pt x="285958" y="2688336"/>
                </a:lnTo>
                <a:lnTo>
                  <a:pt x="214468" y="2743200"/>
                </a:lnTo>
                <a:lnTo>
                  <a:pt x="142979" y="2688336"/>
                </a:lnTo>
                <a:lnTo>
                  <a:pt x="71489" y="2743200"/>
                </a:lnTo>
                <a:lnTo>
                  <a:pt x="0" y="268833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3776472" y="960120"/>
            <a:ext cx="1572768" cy="685800"/>
          </a:xfrm>
          <a:prstGeom prst="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886200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CDD3"/>
                </a:solidFill>
              </a:rPr>
              <a:t>UC3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3886200" y="12344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Process Rental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3886200" y="1764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Priority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4553712" y="176479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Should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3886200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Owner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4553712" y="203911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Avni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3886200" y="2313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Extensions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4553712" y="2313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15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3886200" y="2587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FRs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4553712" y="25877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FR-30–39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3886200" y="2880360"/>
            <a:ext cx="1353312" cy="0"/>
          </a:xfrm>
          <a:prstGeom prst="line">
            <a:avLst/>
          </a:prstGeom>
          <a:noFill/>
          <a:ln w="9525">
            <a:solidFill>
              <a:srgbClr val="D3D6DB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886200" y="294436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126"/>
                </a:solidFill>
              </a:rPr>
              <a:t>No new rental with an overdue one; deposit (BR-10–12)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5458968" y="960120"/>
            <a:ext cx="1572768" cy="2743200"/>
          </a:xfrm>
          <a:custGeom>
            <a:avLst/>
            <a:gdLst/>
            <a:ahLst/>
            <a:cxnLst/>
            <a:rect l="l" t="t" r="r" b="b"/>
            <a:pathLst>
              <a:path w="1572768" h="2743200">
                <a:moveTo>
                  <a:pt x="0" y="0"/>
                </a:moveTo>
                <a:lnTo>
                  <a:pt x="1572768" y="0"/>
                </a:lnTo>
                <a:lnTo>
                  <a:pt x="1572768" y="2688336"/>
                </a:lnTo>
                <a:lnTo>
                  <a:pt x="1501279" y="2743200"/>
                </a:lnTo>
                <a:lnTo>
                  <a:pt x="1429789" y="2688336"/>
                </a:lnTo>
                <a:lnTo>
                  <a:pt x="1358300" y="2743200"/>
                </a:lnTo>
                <a:lnTo>
                  <a:pt x="1286810" y="2688336"/>
                </a:lnTo>
                <a:lnTo>
                  <a:pt x="1215321" y="2743200"/>
                </a:lnTo>
                <a:lnTo>
                  <a:pt x="1143831" y="2688336"/>
                </a:lnTo>
                <a:lnTo>
                  <a:pt x="1072342" y="2743200"/>
                </a:lnTo>
                <a:lnTo>
                  <a:pt x="1000852" y="2688336"/>
                </a:lnTo>
                <a:lnTo>
                  <a:pt x="929363" y="2743200"/>
                </a:lnTo>
                <a:lnTo>
                  <a:pt x="857873" y="2688336"/>
                </a:lnTo>
                <a:lnTo>
                  <a:pt x="786384" y="2743200"/>
                </a:lnTo>
                <a:lnTo>
                  <a:pt x="714895" y="2688336"/>
                </a:lnTo>
                <a:lnTo>
                  <a:pt x="643405" y="2743200"/>
                </a:lnTo>
                <a:lnTo>
                  <a:pt x="571916" y="2688336"/>
                </a:lnTo>
                <a:lnTo>
                  <a:pt x="500426" y="2743200"/>
                </a:lnTo>
                <a:lnTo>
                  <a:pt x="428937" y="2688336"/>
                </a:lnTo>
                <a:lnTo>
                  <a:pt x="357447" y="2743200"/>
                </a:lnTo>
                <a:lnTo>
                  <a:pt x="285958" y="2688336"/>
                </a:lnTo>
                <a:lnTo>
                  <a:pt x="214468" y="2743200"/>
                </a:lnTo>
                <a:lnTo>
                  <a:pt x="142979" y="2688336"/>
                </a:lnTo>
                <a:lnTo>
                  <a:pt x="71489" y="2743200"/>
                </a:lnTo>
                <a:lnTo>
                  <a:pt x="0" y="268833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5458968" y="960120"/>
            <a:ext cx="1572768" cy="685800"/>
          </a:xfrm>
          <a:prstGeom prst="rect">
            <a:avLst>
              <a:gd name="adj" fmla="val 8000"/>
            </a:avLst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568696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CDD3"/>
                </a:solidFill>
              </a:rPr>
              <a:t>UC4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5568696" y="12344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Start Up</a:t>
            </a:r>
            <a:endParaRPr lang="en-US" sz="1250" dirty="0"/>
          </a:p>
        </p:txBody>
      </p:sp>
      <p:sp>
        <p:nvSpPr>
          <p:cNvPr id="72" name="Text 69"/>
          <p:cNvSpPr txBox="1"/>
          <p:nvPr/>
        </p:nvSpPr>
        <p:spPr>
          <a:xfrm>
            <a:off x="5568696" y="1764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Priority</a:t>
            </a:r>
            <a:endParaRPr lang="en-US" sz="850" dirty="0"/>
          </a:p>
        </p:txBody>
      </p:sp>
      <p:sp>
        <p:nvSpPr>
          <p:cNvPr id="73" name="Text 70"/>
          <p:cNvSpPr txBox="1"/>
          <p:nvPr/>
        </p:nvSpPr>
        <p:spPr>
          <a:xfrm>
            <a:off x="6236208" y="176479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Must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5568696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Owner</a:t>
            </a:r>
            <a:endParaRPr lang="en-US" sz="850" dirty="0"/>
          </a:p>
        </p:txBody>
      </p:sp>
      <p:sp>
        <p:nvSpPr>
          <p:cNvPr id="75" name="Text 72"/>
          <p:cNvSpPr txBox="1"/>
          <p:nvPr/>
        </p:nvSpPr>
        <p:spPr>
          <a:xfrm>
            <a:off x="6236208" y="203911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Avni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5568696" y="2313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Extensions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6236208" y="2313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10</a:t>
            </a:r>
            <a:endParaRPr lang="en-US" sz="900" dirty="0"/>
          </a:p>
        </p:txBody>
      </p:sp>
      <p:sp>
        <p:nvSpPr>
          <p:cNvPr id="78" name="Text 75"/>
          <p:cNvSpPr txBox="1"/>
          <p:nvPr/>
        </p:nvSpPr>
        <p:spPr>
          <a:xfrm>
            <a:off x="5568696" y="2587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FRs</a:t>
            </a:r>
            <a:endParaRPr lang="en-US" sz="850" dirty="0"/>
          </a:p>
        </p:txBody>
      </p:sp>
      <p:sp>
        <p:nvSpPr>
          <p:cNvPr id="79" name="Text 76"/>
          <p:cNvSpPr txBox="1"/>
          <p:nvPr/>
        </p:nvSpPr>
        <p:spPr>
          <a:xfrm>
            <a:off x="6236208" y="25877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FR-40–49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5568696" y="2880360"/>
            <a:ext cx="1353312" cy="0"/>
          </a:xfrm>
          <a:prstGeom prst="line">
            <a:avLst/>
          </a:prstGeom>
          <a:noFill/>
          <a:ln w="9525">
            <a:solidFill>
              <a:srgbClr val="D3D6DB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5568696" y="294436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126"/>
                </a:solidFill>
              </a:rPr>
              <a:t>HR System checks ID and PIN; local list when it is down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7141464" y="960120"/>
            <a:ext cx="1572768" cy="2743200"/>
          </a:xfrm>
          <a:custGeom>
            <a:avLst/>
            <a:gdLst/>
            <a:ahLst/>
            <a:cxnLst/>
            <a:rect l="l" t="t" r="r" b="b"/>
            <a:pathLst>
              <a:path w="1572768" h="2743200">
                <a:moveTo>
                  <a:pt x="0" y="0"/>
                </a:moveTo>
                <a:lnTo>
                  <a:pt x="1572768" y="0"/>
                </a:lnTo>
                <a:lnTo>
                  <a:pt x="1572768" y="2688336"/>
                </a:lnTo>
                <a:lnTo>
                  <a:pt x="1501279" y="2743200"/>
                </a:lnTo>
                <a:lnTo>
                  <a:pt x="1429789" y="2688336"/>
                </a:lnTo>
                <a:lnTo>
                  <a:pt x="1358300" y="2743200"/>
                </a:lnTo>
                <a:lnTo>
                  <a:pt x="1286810" y="2688336"/>
                </a:lnTo>
                <a:lnTo>
                  <a:pt x="1215321" y="2743200"/>
                </a:lnTo>
                <a:lnTo>
                  <a:pt x="1143831" y="2688336"/>
                </a:lnTo>
                <a:lnTo>
                  <a:pt x="1072342" y="2743200"/>
                </a:lnTo>
                <a:lnTo>
                  <a:pt x="1000852" y="2688336"/>
                </a:lnTo>
                <a:lnTo>
                  <a:pt x="929363" y="2743200"/>
                </a:lnTo>
                <a:lnTo>
                  <a:pt x="857873" y="2688336"/>
                </a:lnTo>
                <a:lnTo>
                  <a:pt x="786384" y="2743200"/>
                </a:lnTo>
                <a:lnTo>
                  <a:pt x="714895" y="2688336"/>
                </a:lnTo>
                <a:lnTo>
                  <a:pt x="643405" y="2743200"/>
                </a:lnTo>
                <a:lnTo>
                  <a:pt x="571916" y="2688336"/>
                </a:lnTo>
                <a:lnTo>
                  <a:pt x="500426" y="2743200"/>
                </a:lnTo>
                <a:lnTo>
                  <a:pt x="428937" y="2688336"/>
                </a:lnTo>
                <a:lnTo>
                  <a:pt x="357447" y="2743200"/>
                </a:lnTo>
                <a:lnTo>
                  <a:pt x="285958" y="2688336"/>
                </a:lnTo>
                <a:lnTo>
                  <a:pt x="214468" y="2743200"/>
                </a:lnTo>
                <a:lnTo>
                  <a:pt x="142979" y="2688336"/>
                </a:lnTo>
                <a:lnTo>
                  <a:pt x="71489" y="2743200"/>
                </a:lnTo>
                <a:lnTo>
                  <a:pt x="0" y="268833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83" name="Shape 80"/>
          <p:cNvSpPr/>
          <p:nvPr/>
        </p:nvSpPr>
        <p:spPr>
          <a:xfrm>
            <a:off x="7141464" y="960120"/>
            <a:ext cx="1572768" cy="685800"/>
          </a:xfrm>
          <a:prstGeom prst="rect">
            <a:avLst>
              <a:gd name="adj" fmla="val 8000"/>
            </a:avLst>
          </a:prstGeom>
          <a:solidFill>
            <a:srgbClr val="FF4D2E"/>
          </a:solidFill>
          <a:ln w="12700">
            <a:solidFill>
              <a:srgbClr val="FF4D2E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251192" y="10332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UC5</a:t>
            </a:r>
            <a:endParaRPr lang="en-US" sz="900" dirty="0"/>
          </a:p>
        </p:txBody>
      </p:sp>
      <p:sp>
        <p:nvSpPr>
          <p:cNvPr id="85" name="Text 82"/>
          <p:cNvSpPr txBox="1"/>
          <p:nvPr/>
        </p:nvSpPr>
        <p:spPr>
          <a:xfrm>
            <a:off x="7251192" y="12344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Return Rental</a:t>
            </a:r>
            <a:endParaRPr lang="en-US" sz="1250" dirty="0"/>
          </a:p>
        </p:txBody>
      </p:sp>
      <p:sp>
        <p:nvSpPr>
          <p:cNvPr id="86" name="Text 83"/>
          <p:cNvSpPr txBox="1"/>
          <p:nvPr/>
        </p:nvSpPr>
        <p:spPr>
          <a:xfrm>
            <a:off x="7251192" y="1764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Priority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7918704" y="176479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Should</a:t>
            </a:r>
            <a:endParaRPr lang="en-US" sz="900" dirty="0"/>
          </a:p>
        </p:txBody>
      </p:sp>
      <p:sp>
        <p:nvSpPr>
          <p:cNvPr id="88" name="Text 85"/>
          <p:cNvSpPr txBox="1"/>
          <p:nvPr/>
        </p:nvSpPr>
        <p:spPr>
          <a:xfrm>
            <a:off x="7251192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Owner</a:t>
            </a:r>
            <a:endParaRPr lang="en-US" sz="850" dirty="0"/>
          </a:p>
        </p:txBody>
      </p:sp>
      <p:sp>
        <p:nvSpPr>
          <p:cNvPr id="89" name="Text 86"/>
          <p:cNvSpPr txBox="1"/>
          <p:nvPr/>
        </p:nvSpPr>
        <p:spPr>
          <a:xfrm>
            <a:off x="7918704" y="203911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Alfonso</a:t>
            </a:r>
            <a:endParaRPr lang="en-US" sz="900" dirty="0"/>
          </a:p>
        </p:txBody>
      </p:sp>
      <p:sp>
        <p:nvSpPr>
          <p:cNvPr id="90" name="Text 87"/>
          <p:cNvSpPr txBox="1"/>
          <p:nvPr/>
        </p:nvSpPr>
        <p:spPr>
          <a:xfrm>
            <a:off x="7251192" y="231343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Extensions</a:t>
            </a:r>
            <a:endParaRPr lang="en-US" sz="850" dirty="0"/>
          </a:p>
        </p:txBody>
      </p:sp>
      <p:sp>
        <p:nvSpPr>
          <p:cNvPr id="91" name="Text 88"/>
          <p:cNvSpPr txBox="1"/>
          <p:nvPr/>
        </p:nvSpPr>
        <p:spPr>
          <a:xfrm>
            <a:off x="7918704" y="23134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14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7251192" y="2587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FRs</a:t>
            </a:r>
            <a:endParaRPr lang="en-US" sz="850" dirty="0"/>
          </a:p>
        </p:txBody>
      </p:sp>
      <p:sp>
        <p:nvSpPr>
          <p:cNvPr id="93" name="Text 90"/>
          <p:cNvSpPr txBox="1"/>
          <p:nvPr/>
        </p:nvSpPr>
        <p:spPr>
          <a:xfrm>
            <a:off x="7918704" y="258775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FR-50–59</a:t>
            </a:r>
            <a:endParaRPr lang="en-US" sz="900" dirty="0"/>
          </a:p>
        </p:txBody>
      </p:sp>
      <p:sp>
        <p:nvSpPr>
          <p:cNvPr id="94" name="Shape 91"/>
          <p:cNvSpPr/>
          <p:nvPr/>
        </p:nvSpPr>
        <p:spPr>
          <a:xfrm>
            <a:off x="7251192" y="2880360"/>
            <a:ext cx="1353312" cy="0"/>
          </a:xfrm>
          <a:prstGeom prst="line">
            <a:avLst/>
          </a:prstGeom>
          <a:noFill/>
          <a:ln w="9525">
            <a:solidFill>
              <a:srgbClr val="D3D6DB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7251192" y="2944368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E2126"/>
                </a:solidFill>
              </a:rPr>
              <a:t>Refund = deposit − late fee − tax; damaged item: deposit kept</a:t>
            </a:r>
            <a:endParaRPr lang="en-US" sz="850" dirty="0"/>
          </a:p>
        </p:txBody>
      </p:sp>
      <p:sp>
        <p:nvSpPr>
          <p:cNvPr id="96" name="Text 93"/>
          <p:cNvSpPr txBox="1"/>
          <p:nvPr/>
        </p:nvSpPr>
        <p:spPr>
          <a:xfrm>
            <a:off x="411480" y="38404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126"/>
                </a:solidFill>
              </a:rPr>
              <a:t>Same format for all five: </a:t>
            </a:r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stakeholders and interests, pre/postconditions, failure guarantees, two-column scenario, extensions, special requirements, open issues.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SYSTEM DEVELOPMENT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UC5 Return Rental: closing the rental life 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04/14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411480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Item status (BR-11)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1600200"/>
            <a:ext cx="1371600" cy="457200"/>
          </a:xfrm>
          <a:prstGeom prst="rect">
            <a:avLst>
              <a:gd name="adj" fmla="val 50000"/>
            </a:avLst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148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Available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2788920" y="1600200"/>
            <a:ext cx="1371600" cy="457200"/>
          </a:xfrm>
          <a:prstGeom prst="rect">
            <a:avLst>
              <a:gd name="adj" fmla="val 50000"/>
            </a:avLst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78892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Rented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2788920" y="2880360"/>
            <a:ext cx="1371600" cy="457200"/>
          </a:xfrm>
          <a:prstGeom prst="rect">
            <a:avLst>
              <a:gd name="adj" fmla="val 50000"/>
            </a:avLst>
          </a:prstGeom>
          <a:solidFill>
            <a:srgbClr val="FFF1B8"/>
          </a:solidFill>
          <a:ln w="12700">
            <a:solidFill>
              <a:srgbClr val="FFF1B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8892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Under maintenance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1783080" y="1737360"/>
            <a:ext cx="1005840" cy="0"/>
          </a:xfrm>
          <a:prstGeom prst="line">
            <a:avLst/>
          </a:prstGeom>
          <a:noFill/>
          <a:ln w="15875">
            <a:solidFill>
              <a:srgbClr val="16181D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1783080" y="1481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81D"/>
                </a:solidFill>
              </a:rPr>
              <a:t>UC3 rent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 flipH="1">
            <a:off x="1783080" y="1938528"/>
            <a:ext cx="1005840" cy="0"/>
          </a:xfrm>
          <a:prstGeom prst="line">
            <a:avLst/>
          </a:prstGeom>
          <a:noFill/>
          <a:ln w="15875">
            <a:solidFill>
              <a:srgbClr val="FF4D2E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1737360" y="1984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2E"/>
                </a:solidFill>
              </a:rPr>
              <a:t>UC5 undamaged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3474720" y="2057400"/>
            <a:ext cx="0" cy="822960"/>
          </a:xfrm>
          <a:prstGeom prst="line">
            <a:avLst/>
          </a:prstGeom>
          <a:noFill/>
          <a:ln w="15875">
            <a:solidFill>
              <a:srgbClr val="FF4D2E"/>
            </a:solidFill>
            <a:prstDash val="solid"/>
            <a:tailEnd type="triangle"/>
          </a:ln>
        </p:spPr>
      </p:sp>
      <p:sp>
        <p:nvSpPr>
          <p:cNvPr id="38" name="Text 35"/>
          <p:cNvSpPr txBox="1"/>
          <p:nvPr/>
        </p:nvSpPr>
        <p:spPr>
          <a:xfrm>
            <a:off x="3547872" y="2331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</a:rPr>
              <a:t>UC5 damaged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41148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B"/>
                </a:solidFill>
              </a:rPr>
              <a:t>Only an Available item can be rented (UC3 ext. 7b). A customer with an overdue rental cannot rent again until it is returned (BR-12).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00600" y="914400"/>
            <a:ext cx="3931920" cy="3246120"/>
          </a:xfrm>
          <a:custGeom>
            <a:avLst/>
            <a:gdLst/>
            <a:ahLst/>
            <a:cxnLst/>
            <a:rect l="l" t="t" r="r" b="b"/>
            <a:pathLst>
              <a:path w="3931920" h="3246120">
                <a:moveTo>
                  <a:pt x="0" y="0"/>
                </a:moveTo>
                <a:lnTo>
                  <a:pt x="3931920" y="0"/>
                </a:lnTo>
                <a:lnTo>
                  <a:pt x="3931920" y="3191256"/>
                </a:lnTo>
                <a:lnTo>
                  <a:pt x="3859107" y="3246120"/>
                </a:lnTo>
                <a:lnTo>
                  <a:pt x="3786293" y="3191256"/>
                </a:lnTo>
                <a:lnTo>
                  <a:pt x="3713480" y="3246120"/>
                </a:lnTo>
                <a:lnTo>
                  <a:pt x="3640667" y="3191256"/>
                </a:lnTo>
                <a:lnTo>
                  <a:pt x="3567853" y="3246120"/>
                </a:lnTo>
                <a:lnTo>
                  <a:pt x="3495040" y="3191256"/>
                </a:lnTo>
                <a:lnTo>
                  <a:pt x="3422227" y="3246120"/>
                </a:lnTo>
                <a:lnTo>
                  <a:pt x="3349413" y="3191256"/>
                </a:lnTo>
                <a:lnTo>
                  <a:pt x="3276600" y="3246120"/>
                </a:lnTo>
                <a:lnTo>
                  <a:pt x="3203787" y="3191256"/>
                </a:lnTo>
                <a:lnTo>
                  <a:pt x="3130973" y="3246120"/>
                </a:lnTo>
                <a:lnTo>
                  <a:pt x="3058160" y="3191256"/>
                </a:lnTo>
                <a:lnTo>
                  <a:pt x="2985347" y="3246120"/>
                </a:lnTo>
                <a:lnTo>
                  <a:pt x="2912533" y="3191256"/>
                </a:lnTo>
                <a:lnTo>
                  <a:pt x="2839720" y="3246120"/>
                </a:lnTo>
                <a:lnTo>
                  <a:pt x="2766907" y="3191256"/>
                </a:lnTo>
                <a:lnTo>
                  <a:pt x="2694093" y="3246120"/>
                </a:lnTo>
                <a:lnTo>
                  <a:pt x="2621280" y="3191256"/>
                </a:lnTo>
                <a:lnTo>
                  <a:pt x="2548467" y="3246120"/>
                </a:lnTo>
                <a:lnTo>
                  <a:pt x="2475653" y="3191256"/>
                </a:lnTo>
                <a:lnTo>
                  <a:pt x="2402840" y="3246120"/>
                </a:lnTo>
                <a:lnTo>
                  <a:pt x="2330027" y="3191256"/>
                </a:lnTo>
                <a:lnTo>
                  <a:pt x="2257213" y="3246120"/>
                </a:lnTo>
                <a:lnTo>
                  <a:pt x="2184400" y="3191256"/>
                </a:lnTo>
                <a:lnTo>
                  <a:pt x="2111587" y="3246120"/>
                </a:lnTo>
                <a:lnTo>
                  <a:pt x="2038773" y="3191256"/>
                </a:lnTo>
                <a:lnTo>
                  <a:pt x="1965960" y="3246120"/>
                </a:lnTo>
                <a:lnTo>
                  <a:pt x="1893147" y="3191256"/>
                </a:lnTo>
                <a:lnTo>
                  <a:pt x="1820333" y="3246120"/>
                </a:lnTo>
                <a:lnTo>
                  <a:pt x="1747520" y="3191256"/>
                </a:lnTo>
                <a:lnTo>
                  <a:pt x="1674707" y="3246120"/>
                </a:lnTo>
                <a:lnTo>
                  <a:pt x="1601893" y="3191256"/>
                </a:lnTo>
                <a:lnTo>
                  <a:pt x="1529080" y="3246120"/>
                </a:lnTo>
                <a:lnTo>
                  <a:pt x="1456267" y="3191256"/>
                </a:lnTo>
                <a:lnTo>
                  <a:pt x="1383453" y="3246120"/>
                </a:lnTo>
                <a:lnTo>
                  <a:pt x="1310640" y="3191256"/>
                </a:lnTo>
                <a:lnTo>
                  <a:pt x="1237827" y="3246120"/>
                </a:lnTo>
                <a:lnTo>
                  <a:pt x="1165013" y="3191256"/>
                </a:lnTo>
                <a:lnTo>
                  <a:pt x="1092200" y="3246120"/>
                </a:lnTo>
                <a:lnTo>
                  <a:pt x="1019387" y="3191256"/>
                </a:lnTo>
                <a:lnTo>
                  <a:pt x="946573" y="3246120"/>
                </a:lnTo>
                <a:lnTo>
                  <a:pt x="873760" y="3191256"/>
                </a:lnTo>
                <a:lnTo>
                  <a:pt x="800947" y="3246120"/>
                </a:lnTo>
                <a:lnTo>
                  <a:pt x="728133" y="3191256"/>
                </a:lnTo>
                <a:lnTo>
                  <a:pt x="655320" y="3246120"/>
                </a:lnTo>
                <a:lnTo>
                  <a:pt x="582507" y="3191256"/>
                </a:lnTo>
                <a:lnTo>
                  <a:pt x="509693" y="3246120"/>
                </a:lnTo>
                <a:lnTo>
                  <a:pt x="436880" y="3191256"/>
                </a:lnTo>
                <a:lnTo>
                  <a:pt x="364067" y="3246120"/>
                </a:lnTo>
                <a:lnTo>
                  <a:pt x="291253" y="3191256"/>
                </a:lnTo>
                <a:lnTo>
                  <a:pt x="218440" y="3246120"/>
                </a:lnTo>
                <a:lnTo>
                  <a:pt x="145627" y="3191256"/>
                </a:lnTo>
                <a:lnTo>
                  <a:pt x="72813" y="3246120"/>
                </a:lnTo>
                <a:lnTo>
                  <a:pt x="0" y="31912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4983480" y="1005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Refund at the return (example values)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4983480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6"/>
                </a:solidFill>
              </a:rPr>
              <a:t>Deposit paid (UC3)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7406640" y="1371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50.00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4983480" y="1700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6"/>
                </a:solidFill>
              </a:rPr>
              <a:t>Late fee: 2 days × 5.00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7406640" y="17007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− 10.00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983480" y="2029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126"/>
                </a:solidFill>
              </a:rPr>
              <a:t>Tax of the late fee (21 %)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7406640" y="20299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− 2.10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983480" y="2377440"/>
            <a:ext cx="3566160" cy="0"/>
          </a:xfrm>
          <a:prstGeom prst="line">
            <a:avLst/>
          </a:prstGeom>
          <a:noFill/>
          <a:ln w="12700">
            <a:solidFill>
              <a:srgbClr val="16181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983480" y="2432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Refund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7406640" y="243230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37.90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983480" y="2880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126"/>
                </a:solidFill>
              </a:rPr>
              <a:t>Damaged item: the whole deposit is kept (ext. 6a)</a:t>
            </a:r>
            <a:endParaRPr lang="en-US" sz="9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126"/>
                </a:solidFill>
              </a:rPr>
              <a:t>Late fee larger than the deposit: the customer pays the difference (7b)</a:t>
            </a:r>
            <a:endParaRPr lang="en-US" sz="90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E2126"/>
                </a:solidFill>
              </a:rPr>
              <a:t>Refund with the tender of the rental; check → cash (9a–9c)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SYSTEM DEVELOPMENT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When an external system fails, the store keeps selling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05/14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2F36"/>
                </a:solidFill>
              </a:rPr>
              <a:t>External system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2331720" y="9144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2F36"/>
                </a:solidFill>
              </a:rPr>
              <a:t>Timeout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3246120" y="914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2F36"/>
                </a:solidFill>
              </a:rPr>
              <a:t>What the POS does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681228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2F36"/>
                </a:solidFill>
              </a:rPr>
              <a:t>Requirements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1480" y="1161288"/>
            <a:ext cx="8321040" cy="512064"/>
          </a:xfrm>
          <a:prstGeom prst="rect">
            <a:avLst/>
          </a:prstGeom>
          <a:solidFill>
            <a:srgbClr val="FFF1B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48640" y="11612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Payment Service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423160" y="1298448"/>
            <a:ext cx="548640" cy="237744"/>
          </a:xfrm>
          <a:prstGeom prst="rect">
            <a:avLst>
              <a:gd name="adj" fmla="val 50000"/>
            </a:avLst>
          </a:prstGeom>
          <a:solidFill>
            <a:srgbClr val="FF4D2E"/>
          </a:solidFill>
          <a:ln w="12700">
            <a:solidFill>
              <a:srgbClr val="FF4D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423160" y="12984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 s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3246120" y="1161288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Retry, or cancel and use another tender. No card payment without authorization.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6812280" y="11612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IR-02 · BR-05 · FR-11 · FR-37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11480" y="1764792"/>
            <a:ext cx="8321040" cy="512064"/>
          </a:xfrm>
          <a:custGeom>
            <a:avLst/>
            <a:gdLst/>
            <a:ahLst/>
            <a:cxnLst/>
            <a:rect l="l" t="t" r="r" b="b"/>
            <a:pathLst>
              <a:path w="8321040" h="512064">
                <a:moveTo>
                  <a:pt x="0" y="0"/>
                </a:moveTo>
                <a:lnTo>
                  <a:pt x="8321040" y="0"/>
                </a:lnTo>
                <a:lnTo>
                  <a:pt x="8321040" y="457200"/>
                </a:lnTo>
                <a:lnTo>
                  <a:pt x="8248048" y="512064"/>
                </a:lnTo>
                <a:lnTo>
                  <a:pt x="8175057" y="457200"/>
                </a:lnTo>
                <a:lnTo>
                  <a:pt x="8102065" y="512064"/>
                </a:lnTo>
                <a:lnTo>
                  <a:pt x="8029074" y="457200"/>
                </a:lnTo>
                <a:lnTo>
                  <a:pt x="7956082" y="512064"/>
                </a:lnTo>
                <a:lnTo>
                  <a:pt x="7883091" y="457200"/>
                </a:lnTo>
                <a:lnTo>
                  <a:pt x="7810099" y="512064"/>
                </a:lnTo>
                <a:lnTo>
                  <a:pt x="7737107" y="457200"/>
                </a:lnTo>
                <a:lnTo>
                  <a:pt x="7664116" y="512064"/>
                </a:lnTo>
                <a:lnTo>
                  <a:pt x="7591124" y="457200"/>
                </a:lnTo>
                <a:lnTo>
                  <a:pt x="7518133" y="512064"/>
                </a:lnTo>
                <a:lnTo>
                  <a:pt x="7445141" y="457200"/>
                </a:lnTo>
                <a:lnTo>
                  <a:pt x="7372149" y="512064"/>
                </a:lnTo>
                <a:lnTo>
                  <a:pt x="7299158" y="457200"/>
                </a:lnTo>
                <a:lnTo>
                  <a:pt x="7226166" y="512064"/>
                </a:lnTo>
                <a:lnTo>
                  <a:pt x="7153175" y="457200"/>
                </a:lnTo>
                <a:lnTo>
                  <a:pt x="7080183" y="512064"/>
                </a:lnTo>
                <a:lnTo>
                  <a:pt x="7007192" y="457200"/>
                </a:lnTo>
                <a:lnTo>
                  <a:pt x="6934200" y="512064"/>
                </a:lnTo>
                <a:lnTo>
                  <a:pt x="6861208" y="457200"/>
                </a:lnTo>
                <a:lnTo>
                  <a:pt x="6788217" y="512064"/>
                </a:lnTo>
                <a:lnTo>
                  <a:pt x="6715225" y="457200"/>
                </a:lnTo>
                <a:lnTo>
                  <a:pt x="6642234" y="512064"/>
                </a:lnTo>
                <a:lnTo>
                  <a:pt x="6569242" y="457200"/>
                </a:lnTo>
                <a:lnTo>
                  <a:pt x="6496251" y="512064"/>
                </a:lnTo>
                <a:lnTo>
                  <a:pt x="6423259" y="457200"/>
                </a:lnTo>
                <a:lnTo>
                  <a:pt x="6350267" y="512064"/>
                </a:lnTo>
                <a:lnTo>
                  <a:pt x="6277276" y="457200"/>
                </a:lnTo>
                <a:lnTo>
                  <a:pt x="6204284" y="512064"/>
                </a:lnTo>
                <a:lnTo>
                  <a:pt x="6131293" y="457200"/>
                </a:lnTo>
                <a:lnTo>
                  <a:pt x="6058301" y="512064"/>
                </a:lnTo>
                <a:lnTo>
                  <a:pt x="5985309" y="457200"/>
                </a:lnTo>
                <a:lnTo>
                  <a:pt x="5912318" y="512064"/>
                </a:lnTo>
                <a:lnTo>
                  <a:pt x="5839326" y="457200"/>
                </a:lnTo>
                <a:lnTo>
                  <a:pt x="5766335" y="512064"/>
                </a:lnTo>
                <a:lnTo>
                  <a:pt x="5693343" y="457200"/>
                </a:lnTo>
                <a:lnTo>
                  <a:pt x="5620352" y="512064"/>
                </a:lnTo>
                <a:lnTo>
                  <a:pt x="5547360" y="457200"/>
                </a:lnTo>
                <a:lnTo>
                  <a:pt x="5474368" y="512064"/>
                </a:lnTo>
                <a:lnTo>
                  <a:pt x="5401377" y="457200"/>
                </a:lnTo>
                <a:lnTo>
                  <a:pt x="5328385" y="512064"/>
                </a:lnTo>
                <a:lnTo>
                  <a:pt x="5255394" y="457200"/>
                </a:lnTo>
                <a:lnTo>
                  <a:pt x="5182402" y="512064"/>
                </a:lnTo>
                <a:lnTo>
                  <a:pt x="5109411" y="457200"/>
                </a:lnTo>
                <a:lnTo>
                  <a:pt x="5036419" y="512064"/>
                </a:lnTo>
                <a:lnTo>
                  <a:pt x="4963427" y="457200"/>
                </a:lnTo>
                <a:lnTo>
                  <a:pt x="4890436" y="512064"/>
                </a:lnTo>
                <a:lnTo>
                  <a:pt x="4817444" y="457200"/>
                </a:lnTo>
                <a:lnTo>
                  <a:pt x="4744453" y="512064"/>
                </a:lnTo>
                <a:lnTo>
                  <a:pt x="4671461" y="457200"/>
                </a:lnTo>
                <a:lnTo>
                  <a:pt x="4598469" y="512064"/>
                </a:lnTo>
                <a:lnTo>
                  <a:pt x="4525478" y="457200"/>
                </a:lnTo>
                <a:lnTo>
                  <a:pt x="4452486" y="512064"/>
                </a:lnTo>
                <a:lnTo>
                  <a:pt x="4379495" y="457200"/>
                </a:lnTo>
                <a:lnTo>
                  <a:pt x="4306503" y="512064"/>
                </a:lnTo>
                <a:lnTo>
                  <a:pt x="4233512" y="457200"/>
                </a:lnTo>
                <a:lnTo>
                  <a:pt x="4160520" y="512064"/>
                </a:lnTo>
                <a:lnTo>
                  <a:pt x="4087528" y="457200"/>
                </a:lnTo>
                <a:lnTo>
                  <a:pt x="4014537" y="512064"/>
                </a:lnTo>
                <a:lnTo>
                  <a:pt x="3941545" y="457200"/>
                </a:lnTo>
                <a:lnTo>
                  <a:pt x="3868554" y="512064"/>
                </a:lnTo>
                <a:lnTo>
                  <a:pt x="3795562" y="457200"/>
                </a:lnTo>
                <a:lnTo>
                  <a:pt x="3722571" y="512064"/>
                </a:lnTo>
                <a:lnTo>
                  <a:pt x="3649579" y="457200"/>
                </a:lnTo>
                <a:lnTo>
                  <a:pt x="3576587" y="512064"/>
                </a:lnTo>
                <a:lnTo>
                  <a:pt x="3503596" y="457200"/>
                </a:lnTo>
                <a:lnTo>
                  <a:pt x="3430604" y="512064"/>
                </a:lnTo>
                <a:lnTo>
                  <a:pt x="3357613" y="457200"/>
                </a:lnTo>
                <a:lnTo>
                  <a:pt x="3284621" y="512064"/>
                </a:lnTo>
                <a:lnTo>
                  <a:pt x="3211629" y="457200"/>
                </a:lnTo>
                <a:lnTo>
                  <a:pt x="3138638" y="512064"/>
                </a:lnTo>
                <a:lnTo>
                  <a:pt x="3065646" y="457200"/>
                </a:lnTo>
                <a:lnTo>
                  <a:pt x="2992655" y="512064"/>
                </a:lnTo>
                <a:lnTo>
                  <a:pt x="2919663" y="457200"/>
                </a:lnTo>
                <a:lnTo>
                  <a:pt x="2846672" y="512064"/>
                </a:lnTo>
                <a:lnTo>
                  <a:pt x="2773680" y="457200"/>
                </a:lnTo>
                <a:lnTo>
                  <a:pt x="2700688" y="512064"/>
                </a:lnTo>
                <a:lnTo>
                  <a:pt x="2627697" y="457200"/>
                </a:lnTo>
                <a:lnTo>
                  <a:pt x="2554705" y="512064"/>
                </a:lnTo>
                <a:lnTo>
                  <a:pt x="2481714" y="457200"/>
                </a:lnTo>
                <a:lnTo>
                  <a:pt x="2408722" y="512064"/>
                </a:lnTo>
                <a:lnTo>
                  <a:pt x="2335731" y="457200"/>
                </a:lnTo>
                <a:lnTo>
                  <a:pt x="2262739" y="512064"/>
                </a:lnTo>
                <a:lnTo>
                  <a:pt x="2189747" y="457200"/>
                </a:lnTo>
                <a:lnTo>
                  <a:pt x="2116756" y="512064"/>
                </a:lnTo>
                <a:lnTo>
                  <a:pt x="2043764" y="457200"/>
                </a:lnTo>
                <a:lnTo>
                  <a:pt x="1970773" y="512064"/>
                </a:lnTo>
                <a:lnTo>
                  <a:pt x="1897781" y="457200"/>
                </a:lnTo>
                <a:lnTo>
                  <a:pt x="1824789" y="512064"/>
                </a:lnTo>
                <a:lnTo>
                  <a:pt x="1751798" y="457200"/>
                </a:lnTo>
                <a:lnTo>
                  <a:pt x="1678806" y="512064"/>
                </a:lnTo>
                <a:lnTo>
                  <a:pt x="1605815" y="457200"/>
                </a:lnTo>
                <a:lnTo>
                  <a:pt x="1532823" y="512064"/>
                </a:lnTo>
                <a:lnTo>
                  <a:pt x="1459832" y="457200"/>
                </a:lnTo>
                <a:lnTo>
                  <a:pt x="1386840" y="512064"/>
                </a:lnTo>
                <a:lnTo>
                  <a:pt x="1313848" y="457200"/>
                </a:lnTo>
                <a:lnTo>
                  <a:pt x="1240857" y="512064"/>
                </a:lnTo>
                <a:lnTo>
                  <a:pt x="1167865" y="457200"/>
                </a:lnTo>
                <a:lnTo>
                  <a:pt x="1094874" y="512064"/>
                </a:lnTo>
                <a:lnTo>
                  <a:pt x="1021882" y="457200"/>
                </a:lnTo>
                <a:lnTo>
                  <a:pt x="948891" y="512064"/>
                </a:lnTo>
                <a:lnTo>
                  <a:pt x="875899" y="457200"/>
                </a:lnTo>
                <a:lnTo>
                  <a:pt x="802907" y="512064"/>
                </a:lnTo>
                <a:lnTo>
                  <a:pt x="729916" y="457200"/>
                </a:lnTo>
                <a:lnTo>
                  <a:pt x="656924" y="512064"/>
                </a:lnTo>
                <a:lnTo>
                  <a:pt x="583933" y="457200"/>
                </a:lnTo>
                <a:lnTo>
                  <a:pt x="510941" y="512064"/>
                </a:lnTo>
                <a:lnTo>
                  <a:pt x="437949" y="457200"/>
                </a:lnTo>
                <a:lnTo>
                  <a:pt x="364958" y="512064"/>
                </a:lnTo>
                <a:lnTo>
                  <a:pt x="291966" y="457200"/>
                </a:lnTo>
                <a:lnTo>
                  <a:pt x="218975" y="512064"/>
                </a:lnTo>
                <a:lnTo>
                  <a:pt x="145983" y="457200"/>
                </a:lnTo>
                <a:lnTo>
                  <a:pt x="72992" y="512064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548640" y="17647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Tax Calculator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2423160" y="1901952"/>
            <a:ext cx="548640" cy="237744"/>
          </a:xfrm>
          <a:prstGeom prst="rect">
            <a:avLst>
              <a:gd name="adj" fmla="val 50000"/>
            </a:avLst>
          </a:prstGeom>
          <a:solidFill>
            <a:srgbClr val="FF4D2E"/>
          </a:solidFill>
          <a:ln w="12700">
            <a:solidFill>
              <a:srgbClr val="FF4D2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423160" y="19019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 s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3246120" y="1764792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Default tax rate; the transaction is flagged "tax to be corrected".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6812280" y="176479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IR-05 · BR-02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11480" y="2368296"/>
            <a:ext cx="8321040" cy="512064"/>
          </a:xfrm>
          <a:custGeom>
            <a:avLst/>
            <a:gdLst/>
            <a:ahLst/>
            <a:cxnLst/>
            <a:rect l="l" t="t" r="r" b="b"/>
            <a:pathLst>
              <a:path w="8321040" h="512064">
                <a:moveTo>
                  <a:pt x="0" y="0"/>
                </a:moveTo>
                <a:lnTo>
                  <a:pt x="8321040" y="0"/>
                </a:lnTo>
                <a:lnTo>
                  <a:pt x="8321040" y="457200"/>
                </a:lnTo>
                <a:lnTo>
                  <a:pt x="8248048" y="512064"/>
                </a:lnTo>
                <a:lnTo>
                  <a:pt x="8175057" y="457200"/>
                </a:lnTo>
                <a:lnTo>
                  <a:pt x="8102065" y="512064"/>
                </a:lnTo>
                <a:lnTo>
                  <a:pt x="8029074" y="457200"/>
                </a:lnTo>
                <a:lnTo>
                  <a:pt x="7956082" y="512064"/>
                </a:lnTo>
                <a:lnTo>
                  <a:pt x="7883091" y="457200"/>
                </a:lnTo>
                <a:lnTo>
                  <a:pt x="7810099" y="512064"/>
                </a:lnTo>
                <a:lnTo>
                  <a:pt x="7737107" y="457200"/>
                </a:lnTo>
                <a:lnTo>
                  <a:pt x="7664116" y="512064"/>
                </a:lnTo>
                <a:lnTo>
                  <a:pt x="7591124" y="457200"/>
                </a:lnTo>
                <a:lnTo>
                  <a:pt x="7518133" y="512064"/>
                </a:lnTo>
                <a:lnTo>
                  <a:pt x="7445141" y="457200"/>
                </a:lnTo>
                <a:lnTo>
                  <a:pt x="7372149" y="512064"/>
                </a:lnTo>
                <a:lnTo>
                  <a:pt x="7299158" y="457200"/>
                </a:lnTo>
                <a:lnTo>
                  <a:pt x="7226166" y="512064"/>
                </a:lnTo>
                <a:lnTo>
                  <a:pt x="7153175" y="457200"/>
                </a:lnTo>
                <a:lnTo>
                  <a:pt x="7080183" y="512064"/>
                </a:lnTo>
                <a:lnTo>
                  <a:pt x="7007192" y="457200"/>
                </a:lnTo>
                <a:lnTo>
                  <a:pt x="6934200" y="512064"/>
                </a:lnTo>
                <a:lnTo>
                  <a:pt x="6861208" y="457200"/>
                </a:lnTo>
                <a:lnTo>
                  <a:pt x="6788217" y="512064"/>
                </a:lnTo>
                <a:lnTo>
                  <a:pt x="6715225" y="457200"/>
                </a:lnTo>
                <a:lnTo>
                  <a:pt x="6642234" y="512064"/>
                </a:lnTo>
                <a:lnTo>
                  <a:pt x="6569242" y="457200"/>
                </a:lnTo>
                <a:lnTo>
                  <a:pt x="6496251" y="512064"/>
                </a:lnTo>
                <a:lnTo>
                  <a:pt x="6423259" y="457200"/>
                </a:lnTo>
                <a:lnTo>
                  <a:pt x="6350267" y="512064"/>
                </a:lnTo>
                <a:lnTo>
                  <a:pt x="6277276" y="457200"/>
                </a:lnTo>
                <a:lnTo>
                  <a:pt x="6204284" y="512064"/>
                </a:lnTo>
                <a:lnTo>
                  <a:pt x="6131293" y="457200"/>
                </a:lnTo>
                <a:lnTo>
                  <a:pt x="6058301" y="512064"/>
                </a:lnTo>
                <a:lnTo>
                  <a:pt x="5985309" y="457200"/>
                </a:lnTo>
                <a:lnTo>
                  <a:pt x="5912318" y="512064"/>
                </a:lnTo>
                <a:lnTo>
                  <a:pt x="5839326" y="457200"/>
                </a:lnTo>
                <a:lnTo>
                  <a:pt x="5766335" y="512064"/>
                </a:lnTo>
                <a:lnTo>
                  <a:pt x="5693343" y="457200"/>
                </a:lnTo>
                <a:lnTo>
                  <a:pt x="5620352" y="512064"/>
                </a:lnTo>
                <a:lnTo>
                  <a:pt x="5547360" y="457200"/>
                </a:lnTo>
                <a:lnTo>
                  <a:pt x="5474368" y="512064"/>
                </a:lnTo>
                <a:lnTo>
                  <a:pt x="5401377" y="457200"/>
                </a:lnTo>
                <a:lnTo>
                  <a:pt x="5328385" y="512064"/>
                </a:lnTo>
                <a:lnTo>
                  <a:pt x="5255394" y="457200"/>
                </a:lnTo>
                <a:lnTo>
                  <a:pt x="5182402" y="512064"/>
                </a:lnTo>
                <a:lnTo>
                  <a:pt x="5109411" y="457200"/>
                </a:lnTo>
                <a:lnTo>
                  <a:pt x="5036419" y="512064"/>
                </a:lnTo>
                <a:lnTo>
                  <a:pt x="4963427" y="457200"/>
                </a:lnTo>
                <a:lnTo>
                  <a:pt x="4890436" y="512064"/>
                </a:lnTo>
                <a:lnTo>
                  <a:pt x="4817444" y="457200"/>
                </a:lnTo>
                <a:lnTo>
                  <a:pt x="4744453" y="512064"/>
                </a:lnTo>
                <a:lnTo>
                  <a:pt x="4671461" y="457200"/>
                </a:lnTo>
                <a:lnTo>
                  <a:pt x="4598469" y="512064"/>
                </a:lnTo>
                <a:lnTo>
                  <a:pt x="4525478" y="457200"/>
                </a:lnTo>
                <a:lnTo>
                  <a:pt x="4452486" y="512064"/>
                </a:lnTo>
                <a:lnTo>
                  <a:pt x="4379495" y="457200"/>
                </a:lnTo>
                <a:lnTo>
                  <a:pt x="4306503" y="512064"/>
                </a:lnTo>
                <a:lnTo>
                  <a:pt x="4233512" y="457200"/>
                </a:lnTo>
                <a:lnTo>
                  <a:pt x="4160520" y="512064"/>
                </a:lnTo>
                <a:lnTo>
                  <a:pt x="4087528" y="457200"/>
                </a:lnTo>
                <a:lnTo>
                  <a:pt x="4014537" y="512064"/>
                </a:lnTo>
                <a:lnTo>
                  <a:pt x="3941545" y="457200"/>
                </a:lnTo>
                <a:lnTo>
                  <a:pt x="3868554" y="512064"/>
                </a:lnTo>
                <a:lnTo>
                  <a:pt x="3795562" y="457200"/>
                </a:lnTo>
                <a:lnTo>
                  <a:pt x="3722571" y="512064"/>
                </a:lnTo>
                <a:lnTo>
                  <a:pt x="3649579" y="457200"/>
                </a:lnTo>
                <a:lnTo>
                  <a:pt x="3576587" y="512064"/>
                </a:lnTo>
                <a:lnTo>
                  <a:pt x="3503596" y="457200"/>
                </a:lnTo>
                <a:lnTo>
                  <a:pt x="3430604" y="512064"/>
                </a:lnTo>
                <a:lnTo>
                  <a:pt x="3357613" y="457200"/>
                </a:lnTo>
                <a:lnTo>
                  <a:pt x="3284621" y="512064"/>
                </a:lnTo>
                <a:lnTo>
                  <a:pt x="3211629" y="457200"/>
                </a:lnTo>
                <a:lnTo>
                  <a:pt x="3138638" y="512064"/>
                </a:lnTo>
                <a:lnTo>
                  <a:pt x="3065646" y="457200"/>
                </a:lnTo>
                <a:lnTo>
                  <a:pt x="2992655" y="512064"/>
                </a:lnTo>
                <a:lnTo>
                  <a:pt x="2919663" y="457200"/>
                </a:lnTo>
                <a:lnTo>
                  <a:pt x="2846672" y="512064"/>
                </a:lnTo>
                <a:lnTo>
                  <a:pt x="2773680" y="457200"/>
                </a:lnTo>
                <a:lnTo>
                  <a:pt x="2700688" y="512064"/>
                </a:lnTo>
                <a:lnTo>
                  <a:pt x="2627697" y="457200"/>
                </a:lnTo>
                <a:lnTo>
                  <a:pt x="2554705" y="512064"/>
                </a:lnTo>
                <a:lnTo>
                  <a:pt x="2481714" y="457200"/>
                </a:lnTo>
                <a:lnTo>
                  <a:pt x="2408722" y="512064"/>
                </a:lnTo>
                <a:lnTo>
                  <a:pt x="2335731" y="457200"/>
                </a:lnTo>
                <a:lnTo>
                  <a:pt x="2262739" y="512064"/>
                </a:lnTo>
                <a:lnTo>
                  <a:pt x="2189747" y="457200"/>
                </a:lnTo>
                <a:lnTo>
                  <a:pt x="2116756" y="512064"/>
                </a:lnTo>
                <a:lnTo>
                  <a:pt x="2043764" y="457200"/>
                </a:lnTo>
                <a:lnTo>
                  <a:pt x="1970773" y="512064"/>
                </a:lnTo>
                <a:lnTo>
                  <a:pt x="1897781" y="457200"/>
                </a:lnTo>
                <a:lnTo>
                  <a:pt x="1824789" y="512064"/>
                </a:lnTo>
                <a:lnTo>
                  <a:pt x="1751798" y="457200"/>
                </a:lnTo>
                <a:lnTo>
                  <a:pt x="1678806" y="512064"/>
                </a:lnTo>
                <a:lnTo>
                  <a:pt x="1605815" y="457200"/>
                </a:lnTo>
                <a:lnTo>
                  <a:pt x="1532823" y="512064"/>
                </a:lnTo>
                <a:lnTo>
                  <a:pt x="1459832" y="457200"/>
                </a:lnTo>
                <a:lnTo>
                  <a:pt x="1386840" y="512064"/>
                </a:lnTo>
                <a:lnTo>
                  <a:pt x="1313848" y="457200"/>
                </a:lnTo>
                <a:lnTo>
                  <a:pt x="1240857" y="512064"/>
                </a:lnTo>
                <a:lnTo>
                  <a:pt x="1167865" y="457200"/>
                </a:lnTo>
                <a:lnTo>
                  <a:pt x="1094874" y="512064"/>
                </a:lnTo>
                <a:lnTo>
                  <a:pt x="1021882" y="457200"/>
                </a:lnTo>
                <a:lnTo>
                  <a:pt x="948891" y="512064"/>
                </a:lnTo>
                <a:lnTo>
                  <a:pt x="875899" y="457200"/>
                </a:lnTo>
                <a:lnTo>
                  <a:pt x="802907" y="512064"/>
                </a:lnTo>
                <a:lnTo>
                  <a:pt x="729916" y="457200"/>
                </a:lnTo>
                <a:lnTo>
                  <a:pt x="656924" y="512064"/>
                </a:lnTo>
                <a:lnTo>
                  <a:pt x="583933" y="457200"/>
                </a:lnTo>
                <a:lnTo>
                  <a:pt x="510941" y="512064"/>
                </a:lnTo>
                <a:lnTo>
                  <a:pt x="437949" y="457200"/>
                </a:lnTo>
                <a:lnTo>
                  <a:pt x="364958" y="512064"/>
                </a:lnTo>
                <a:lnTo>
                  <a:pt x="291966" y="457200"/>
                </a:lnTo>
                <a:lnTo>
                  <a:pt x="218975" y="512064"/>
                </a:lnTo>
                <a:lnTo>
                  <a:pt x="145983" y="457200"/>
                </a:lnTo>
                <a:lnTo>
                  <a:pt x="72992" y="512064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548640" y="23682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Accounting System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2423160" y="2505456"/>
            <a:ext cx="548640" cy="237744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4D2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423160" y="2505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4D2E"/>
                </a:solidFill>
              </a:rPr>
              <a:t>–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3246120" y="2368296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Records kept in a local queue and sent later, in order, without loss or duplicates.</a:t>
            </a:r>
            <a:endParaRPr lang="en-US" sz="900" dirty="0"/>
          </a:p>
        </p:txBody>
      </p:sp>
      <p:sp>
        <p:nvSpPr>
          <p:cNvPr id="47" name="Text 44"/>
          <p:cNvSpPr txBox="1"/>
          <p:nvPr/>
        </p:nvSpPr>
        <p:spPr>
          <a:xfrm>
            <a:off x="6812280" y="23682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IR-07 · DR-12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11480" y="2971800"/>
            <a:ext cx="8321040" cy="512064"/>
          </a:xfrm>
          <a:custGeom>
            <a:avLst/>
            <a:gdLst/>
            <a:ahLst/>
            <a:cxnLst/>
            <a:rect l="l" t="t" r="r" b="b"/>
            <a:pathLst>
              <a:path w="8321040" h="512064">
                <a:moveTo>
                  <a:pt x="0" y="0"/>
                </a:moveTo>
                <a:lnTo>
                  <a:pt x="8321040" y="0"/>
                </a:lnTo>
                <a:lnTo>
                  <a:pt x="8321040" y="457200"/>
                </a:lnTo>
                <a:lnTo>
                  <a:pt x="8248048" y="512064"/>
                </a:lnTo>
                <a:lnTo>
                  <a:pt x="8175057" y="457200"/>
                </a:lnTo>
                <a:lnTo>
                  <a:pt x="8102065" y="512064"/>
                </a:lnTo>
                <a:lnTo>
                  <a:pt x="8029074" y="457200"/>
                </a:lnTo>
                <a:lnTo>
                  <a:pt x="7956082" y="512064"/>
                </a:lnTo>
                <a:lnTo>
                  <a:pt x="7883091" y="457200"/>
                </a:lnTo>
                <a:lnTo>
                  <a:pt x="7810099" y="512064"/>
                </a:lnTo>
                <a:lnTo>
                  <a:pt x="7737107" y="457200"/>
                </a:lnTo>
                <a:lnTo>
                  <a:pt x="7664116" y="512064"/>
                </a:lnTo>
                <a:lnTo>
                  <a:pt x="7591124" y="457200"/>
                </a:lnTo>
                <a:lnTo>
                  <a:pt x="7518133" y="512064"/>
                </a:lnTo>
                <a:lnTo>
                  <a:pt x="7445141" y="457200"/>
                </a:lnTo>
                <a:lnTo>
                  <a:pt x="7372149" y="512064"/>
                </a:lnTo>
                <a:lnTo>
                  <a:pt x="7299158" y="457200"/>
                </a:lnTo>
                <a:lnTo>
                  <a:pt x="7226166" y="512064"/>
                </a:lnTo>
                <a:lnTo>
                  <a:pt x="7153175" y="457200"/>
                </a:lnTo>
                <a:lnTo>
                  <a:pt x="7080183" y="512064"/>
                </a:lnTo>
                <a:lnTo>
                  <a:pt x="7007192" y="457200"/>
                </a:lnTo>
                <a:lnTo>
                  <a:pt x="6934200" y="512064"/>
                </a:lnTo>
                <a:lnTo>
                  <a:pt x="6861208" y="457200"/>
                </a:lnTo>
                <a:lnTo>
                  <a:pt x="6788217" y="512064"/>
                </a:lnTo>
                <a:lnTo>
                  <a:pt x="6715225" y="457200"/>
                </a:lnTo>
                <a:lnTo>
                  <a:pt x="6642234" y="512064"/>
                </a:lnTo>
                <a:lnTo>
                  <a:pt x="6569242" y="457200"/>
                </a:lnTo>
                <a:lnTo>
                  <a:pt x="6496251" y="512064"/>
                </a:lnTo>
                <a:lnTo>
                  <a:pt x="6423259" y="457200"/>
                </a:lnTo>
                <a:lnTo>
                  <a:pt x="6350267" y="512064"/>
                </a:lnTo>
                <a:lnTo>
                  <a:pt x="6277276" y="457200"/>
                </a:lnTo>
                <a:lnTo>
                  <a:pt x="6204284" y="512064"/>
                </a:lnTo>
                <a:lnTo>
                  <a:pt x="6131293" y="457200"/>
                </a:lnTo>
                <a:lnTo>
                  <a:pt x="6058301" y="512064"/>
                </a:lnTo>
                <a:lnTo>
                  <a:pt x="5985309" y="457200"/>
                </a:lnTo>
                <a:lnTo>
                  <a:pt x="5912318" y="512064"/>
                </a:lnTo>
                <a:lnTo>
                  <a:pt x="5839326" y="457200"/>
                </a:lnTo>
                <a:lnTo>
                  <a:pt x="5766335" y="512064"/>
                </a:lnTo>
                <a:lnTo>
                  <a:pt x="5693343" y="457200"/>
                </a:lnTo>
                <a:lnTo>
                  <a:pt x="5620352" y="512064"/>
                </a:lnTo>
                <a:lnTo>
                  <a:pt x="5547360" y="457200"/>
                </a:lnTo>
                <a:lnTo>
                  <a:pt x="5474368" y="512064"/>
                </a:lnTo>
                <a:lnTo>
                  <a:pt x="5401377" y="457200"/>
                </a:lnTo>
                <a:lnTo>
                  <a:pt x="5328385" y="512064"/>
                </a:lnTo>
                <a:lnTo>
                  <a:pt x="5255394" y="457200"/>
                </a:lnTo>
                <a:lnTo>
                  <a:pt x="5182402" y="512064"/>
                </a:lnTo>
                <a:lnTo>
                  <a:pt x="5109411" y="457200"/>
                </a:lnTo>
                <a:lnTo>
                  <a:pt x="5036419" y="512064"/>
                </a:lnTo>
                <a:lnTo>
                  <a:pt x="4963427" y="457200"/>
                </a:lnTo>
                <a:lnTo>
                  <a:pt x="4890436" y="512064"/>
                </a:lnTo>
                <a:lnTo>
                  <a:pt x="4817444" y="457200"/>
                </a:lnTo>
                <a:lnTo>
                  <a:pt x="4744453" y="512064"/>
                </a:lnTo>
                <a:lnTo>
                  <a:pt x="4671461" y="457200"/>
                </a:lnTo>
                <a:lnTo>
                  <a:pt x="4598469" y="512064"/>
                </a:lnTo>
                <a:lnTo>
                  <a:pt x="4525478" y="457200"/>
                </a:lnTo>
                <a:lnTo>
                  <a:pt x="4452486" y="512064"/>
                </a:lnTo>
                <a:lnTo>
                  <a:pt x="4379495" y="457200"/>
                </a:lnTo>
                <a:lnTo>
                  <a:pt x="4306503" y="512064"/>
                </a:lnTo>
                <a:lnTo>
                  <a:pt x="4233512" y="457200"/>
                </a:lnTo>
                <a:lnTo>
                  <a:pt x="4160520" y="512064"/>
                </a:lnTo>
                <a:lnTo>
                  <a:pt x="4087528" y="457200"/>
                </a:lnTo>
                <a:lnTo>
                  <a:pt x="4014537" y="512064"/>
                </a:lnTo>
                <a:lnTo>
                  <a:pt x="3941545" y="457200"/>
                </a:lnTo>
                <a:lnTo>
                  <a:pt x="3868554" y="512064"/>
                </a:lnTo>
                <a:lnTo>
                  <a:pt x="3795562" y="457200"/>
                </a:lnTo>
                <a:lnTo>
                  <a:pt x="3722571" y="512064"/>
                </a:lnTo>
                <a:lnTo>
                  <a:pt x="3649579" y="457200"/>
                </a:lnTo>
                <a:lnTo>
                  <a:pt x="3576587" y="512064"/>
                </a:lnTo>
                <a:lnTo>
                  <a:pt x="3503596" y="457200"/>
                </a:lnTo>
                <a:lnTo>
                  <a:pt x="3430604" y="512064"/>
                </a:lnTo>
                <a:lnTo>
                  <a:pt x="3357613" y="457200"/>
                </a:lnTo>
                <a:lnTo>
                  <a:pt x="3284621" y="512064"/>
                </a:lnTo>
                <a:lnTo>
                  <a:pt x="3211629" y="457200"/>
                </a:lnTo>
                <a:lnTo>
                  <a:pt x="3138638" y="512064"/>
                </a:lnTo>
                <a:lnTo>
                  <a:pt x="3065646" y="457200"/>
                </a:lnTo>
                <a:lnTo>
                  <a:pt x="2992655" y="512064"/>
                </a:lnTo>
                <a:lnTo>
                  <a:pt x="2919663" y="457200"/>
                </a:lnTo>
                <a:lnTo>
                  <a:pt x="2846672" y="512064"/>
                </a:lnTo>
                <a:lnTo>
                  <a:pt x="2773680" y="457200"/>
                </a:lnTo>
                <a:lnTo>
                  <a:pt x="2700688" y="512064"/>
                </a:lnTo>
                <a:lnTo>
                  <a:pt x="2627697" y="457200"/>
                </a:lnTo>
                <a:lnTo>
                  <a:pt x="2554705" y="512064"/>
                </a:lnTo>
                <a:lnTo>
                  <a:pt x="2481714" y="457200"/>
                </a:lnTo>
                <a:lnTo>
                  <a:pt x="2408722" y="512064"/>
                </a:lnTo>
                <a:lnTo>
                  <a:pt x="2335731" y="457200"/>
                </a:lnTo>
                <a:lnTo>
                  <a:pt x="2262739" y="512064"/>
                </a:lnTo>
                <a:lnTo>
                  <a:pt x="2189747" y="457200"/>
                </a:lnTo>
                <a:lnTo>
                  <a:pt x="2116756" y="512064"/>
                </a:lnTo>
                <a:lnTo>
                  <a:pt x="2043764" y="457200"/>
                </a:lnTo>
                <a:lnTo>
                  <a:pt x="1970773" y="512064"/>
                </a:lnTo>
                <a:lnTo>
                  <a:pt x="1897781" y="457200"/>
                </a:lnTo>
                <a:lnTo>
                  <a:pt x="1824789" y="512064"/>
                </a:lnTo>
                <a:lnTo>
                  <a:pt x="1751798" y="457200"/>
                </a:lnTo>
                <a:lnTo>
                  <a:pt x="1678806" y="512064"/>
                </a:lnTo>
                <a:lnTo>
                  <a:pt x="1605815" y="457200"/>
                </a:lnTo>
                <a:lnTo>
                  <a:pt x="1532823" y="512064"/>
                </a:lnTo>
                <a:lnTo>
                  <a:pt x="1459832" y="457200"/>
                </a:lnTo>
                <a:lnTo>
                  <a:pt x="1386840" y="512064"/>
                </a:lnTo>
                <a:lnTo>
                  <a:pt x="1313848" y="457200"/>
                </a:lnTo>
                <a:lnTo>
                  <a:pt x="1240857" y="512064"/>
                </a:lnTo>
                <a:lnTo>
                  <a:pt x="1167865" y="457200"/>
                </a:lnTo>
                <a:lnTo>
                  <a:pt x="1094874" y="512064"/>
                </a:lnTo>
                <a:lnTo>
                  <a:pt x="1021882" y="457200"/>
                </a:lnTo>
                <a:lnTo>
                  <a:pt x="948891" y="512064"/>
                </a:lnTo>
                <a:lnTo>
                  <a:pt x="875899" y="457200"/>
                </a:lnTo>
                <a:lnTo>
                  <a:pt x="802907" y="512064"/>
                </a:lnTo>
                <a:lnTo>
                  <a:pt x="729916" y="457200"/>
                </a:lnTo>
                <a:lnTo>
                  <a:pt x="656924" y="512064"/>
                </a:lnTo>
                <a:lnTo>
                  <a:pt x="583933" y="457200"/>
                </a:lnTo>
                <a:lnTo>
                  <a:pt x="510941" y="512064"/>
                </a:lnTo>
                <a:lnTo>
                  <a:pt x="437949" y="457200"/>
                </a:lnTo>
                <a:lnTo>
                  <a:pt x="364958" y="512064"/>
                </a:lnTo>
                <a:lnTo>
                  <a:pt x="291966" y="457200"/>
                </a:lnTo>
                <a:lnTo>
                  <a:pt x="218975" y="512064"/>
                </a:lnTo>
                <a:lnTo>
                  <a:pt x="145983" y="457200"/>
                </a:lnTo>
                <a:lnTo>
                  <a:pt x="72992" y="512064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548640" y="29718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HR System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423160" y="3108960"/>
            <a:ext cx="548640" cy="237744"/>
          </a:xfrm>
          <a:prstGeom prst="rect">
            <a:avLst>
              <a:gd name="adj" fmla="val 50000"/>
            </a:avLst>
          </a:prstGeom>
          <a:solidFill>
            <a:srgbClr val="FF4D2E"/>
          </a:solidFill>
          <a:ln w="12700">
            <a:solidFill>
              <a:srgbClr val="FF4D2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423160" y="31089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 s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3246120" y="297180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Login with the local employee list; PIN kept only as a salted hash.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6812280" y="297180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IR-09 · DR-11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411480" y="37033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2E"/>
                </a:solidFill>
              </a:rPr>
              <a:t>Decided in review #23: </a:t>
            </a:r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the same retry behaviour everywhere (IR-02, UC1, UC3, AC-05). NFR-19 fixes the timeouts; every failure is logged without card data (IR-10).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SYSTEM DEVELOPMENT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Quality, data and design constraints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06/14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" y="914400"/>
            <a:ext cx="2688336" cy="3246120"/>
          </a:xfrm>
          <a:custGeom>
            <a:avLst/>
            <a:gdLst/>
            <a:ahLst/>
            <a:cxnLst/>
            <a:rect l="l" t="t" r="r" b="b"/>
            <a:pathLst>
              <a:path w="2688336" h="3246120">
                <a:moveTo>
                  <a:pt x="0" y="0"/>
                </a:moveTo>
                <a:lnTo>
                  <a:pt x="2688336" y="0"/>
                </a:lnTo>
                <a:lnTo>
                  <a:pt x="2688336" y="3191256"/>
                </a:lnTo>
                <a:lnTo>
                  <a:pt x="2613660" y="3246120"/>
                </a:lnTo>
                <a:lnTo>
                  <a:pt x="2538984" y="3191256"/>
                </a:lnTo>
                <a:lnTo>
                  <a:pt x="2464308" y="3246120"/>
                </a:lnTo>
                <a:lnTo>
                  <a:pt x="2389632" y="3191256"/>
                </a:lnTo>
                <a:lnTo>
                  <a:pt x="2314956" y="3246120"/>
                </a:lnTo>
                <a:lnTo>
                  <a:pt x="2240280" y="3191256"/>
                </a:lnTo>
                <a:lnTo>
                  <a:pt x="2165604" y="3246120"/>
                </a:lnTo>
                <a:lnTo>
                  <a:pt x="2090928" y="3191256"/>
                </a:lnTo>
                <a:lnTo>
                  <a:pt x="2016252" y="3246120"/>
                </a:lnTo>
                <a:lnTo>
                  <a:pt x="1941576" y="3191256"/>
                </a:lnTo>
                <a:lnTo>
                  <a:pt x="1866900" y="3246120"/>
                </a:lnTo>
                <a:lnTo>
                  <a:pt x="1792224" y="3191256"/>
                </a:lnTo>
                <a:lnTo>
                  <a:pt x="1717548" y="3246120"/>
                </a:lnTo>
                <a:lnTo>
                  <a:pt x="1642872" y="3191256"/>
                </a:lnTo>
                <a:lnTo>
                  <a:pt x="1568196" y="3246120"/>
                </a:lnTo>
                <a:lnTo>
                  <a:pt x="1493520" y="3191256"/>
                </a:lnTo>
                <a:lnTo>
                  <a:pt x="1418844" y="3246120"/>
                </a:lnTo>
                <a:lnTo>
                  <a:pt x="1344168" y="3191256"/>
                </a:lnTo>
                <a:lnTo>
                  <a:pt x="1269492" y="3246120"/>
                </a:lnTo>
                <a:lnTo>
                  <a:pt x="1194816" y="3191256"/>
                </a:lnTo>
                <a:lnTo>
                  <a:pt x="1120140" y="3246120"/>
                </a:lnTo>
                <a:lnTo>
                  <a:pt x="1045464" y="3191256"/>
                </a:lnTo>
                <a:lnTo>
                  <a:pt x="970788" y="3246120"/>
                </a:lnTo>
                <a:lnTo>
                  <a:pt x="896112" y="3191256"/>
                </a:lnTo>
                <a:lnTo>
                  <a:pt x="821436" y="3246120"/>
                </a:lnTo>
                <a:lnTo>
                  <a:pt x="746760" y="3191256"/>
                </a:lnTo>
                <a:lnTo>
                  <a:pt x="672084" y="3246120"/>
                </a:lnTo>
                <a:lnTo>
                  <a:pt x="597408" y="3191256"/>
                </a:lnTo>
                <a:lnTo>
                  <a:pt x="522732" y="3246120"/>
                </a:lnTo>
                <a:lnTo>
                  <a:pt x="448056" y="3191256"/>
                </a:lnTo>
                <a:lnTo>
                  <a:pt x="373380" y="3246120"/>
                </a:lnTo>
                <a:lnTo>
                  <a:pt x="298704" y="3191256"/>
                </a:lnTo>
                <a:lnTo>
                  <a:pt x="224028" y="3246120"/>
                </a:lnTo>
                <a:lnTo>
                  <a:pt x="149352" y="3191256"/>
                </a:lnTo>
                <a:lnTo>
                  <a:pt x="74676" y="3246120"/>
                </a:lnTo>
                <a:lnTo>
                  <a:pt x="0" y="31912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548640" y="1033272"/>
            <a:ext cx="502920" cy="237744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NFR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103327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Quality (ISO 25010)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21208" y="146304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" y="151790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Performance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30936" y="17373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line item &lt; 1 s · start-up &lt; 30 s · timeouts (NFR-01, 02, 19)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21208" y="233172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0936" y="238658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Usability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0936" y="26060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3 clicks or fewer · readable at 1 m · plain error messages (NFR-05, 06, 13–18)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21208" y="320040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0936" y="325526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Security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30936" y="347472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roles · PIN hash · PCI-DSS · GDPR (NFR-07, 08, 11, 12)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227832" y="914400"/>
            <a:ext cx="2688336" cy="3246120"/>
          </a:xfrm>
          <a:custGeom>
            <a:avLst/>
            <a:gdLst/>
            <a:ahLst/>
            <a:cxnLst/>
            <a:rect l="l" t="t" r="r" b="b"/>
            <a:pathLst>
              <a:path w="2688336" h="3246120">
                <a:moveTo>
                  <a:pt x="0" y="0"/>
                </a:moveTo>
                <a:lnTo>
                  <a:pt x="2688336" y="0"/>
                </a:lnTo>
                <a:lnTo>
                  <a:pt x="2688336" y="3191256"/>
                </a:lnTo>
                <a:lnTo>
                  <a:pt x="2613660" y="3246120"/>
                </a:lnTo>
                <a:lnTo>
                  <a:pt x="2538984" y="3191256"/>
                </a:lnTo>
                <a:lnTo>
                  <a:pt x="2464308" y="3246120"/>
                </a:lnTo>
                <a:lnTo>
                  <a:pt x="2389632" y="3191256"/>
                </a:lnTo>
                <a:lnTo>
                  <a:pt x="2314956" y="3246120"/>
                </a:lnTo>
                <a:lnTo>
                  <a:pt x="2240280" y="3191256"/>
                </a:lnTo>
                <a:lnTo>
                  <a:pt x="2165604" y="3246120"/>
                </a:lnTo>
                <a:lnTo>
                  <a:pt x="2090928" y="3191256"/>
                </a:lnTo>
                <a:lnTo>
                  <a:pt x="2016252" y="3246120"/>
                </a:lnTo>
                <a:lnTo>
                  <a:pt x="1941576" y="3191256"/>
                </a:lnTo>
                <a:lnTo>
                  <a:pt x="1866900" y="3246120"/>
                </a:lnTo>
                <a:lnTo>
                  <a:pt x="1792224" y="3191256"/>
                </a:lnTo>
                <a:lnTo>
                  <a:pt x="1717548" y="3246120"/>
                </a:lnTo>
                <a:lnTo>
                  <a:pt x="1642872" y="3191256"/>
                </a:lnTo>
                <a:lnTo>
                  <a:pt x="1568196" y="3246120"/>
                </a:lnTo>
                <a:lnTo>
                  <a:pt x="1493520" y="3191256"/>
                </a:lnTo>
                <a:lnTo>
                  <a:pt x="1418844" y="3246120"/>
                </a:lnTo>
                <a:lnTo>
                  <a:pt x="1344168" y="3191256"/>
                </a:lnTo>
                <a:lnTo>
                  <a:pt x="1269492" y="3246120"/>
                </a:lnTo>
                <a:lnTo>
                  <a:pt x="1194816" y="3191256"/>
                </a:lnTo>
                <a:lnTo>
                  <a:pt x="1120140" y="3246120"/>
                </a:lnTo>
                <a:lnTo>
                  <a:pt x="1045464" y="3191256"/>
                </a:lnTo>
                <a:lnTo>
                  <a:pt x="970788" y="3246120"/>
                </a:lnTo>
                <a:lnTo>
                  <a:pt x="896112" y="3191256"/>
                </a:lnTo>
                <a:lnTo>
                  <a:pt x="821436" y="3246120"/>
                </a:lnTo>
                <a:lnTo>
                  <a:pt x="746760" y="3191256"/>
                </a:lnTo>
                <a:lnTo>
                  <a:pt x="672084" y="3246120"/>
                </a:lnTo>
                <a:lnTo>
                  <a:pt x="597408" y="3191256"/>
                </a:lnTo>
                <a:lnTo>
                  <a:pt x="522732" y="3246120"/>
                </a:lnTo>
                <a:lnTo>
                  <a:pt x="448056" y="3191256"/>
                </a:lnTo>
                <a:lnTo>
                  <a:pt x="373380" y="3246120"/>
                </a:lnTo>
                <a:lnTo>
                  <a:pt x="298704" y="3191256"/>
                </a:lnTo>
                <a:lnTo>
                  <a:pt x="224028" y="3246120"/>
                </a:lnTo>
                <a:lnTo>
                  <a:pt x="149352" y="3191256"/>
                </a:lnTo>
                <a:lnTo>
                  <a:pt x="74676" y="3246120"/>
                </a:lnTo>
                <a:lnTo>
                  <a:pt x="0" y="31912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3364992" y="1033272"/>
            <a:ext cx="502920" cy="237744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3959352" y="103327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Data kept on the register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337560" y="146304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447288" y="151790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Never changed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3447288" y="17373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a completed transaction is never edited; corrections are new records (DR-04)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337560" y="233172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447288" y="238658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Exact money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3447288" y="26060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two decimals, no floating-point errors (DR-17)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3337560" y="320040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3447288" y="325526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Card data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3447288" y="347472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only the last 4 digits and the authorization code (DR-05)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044184" y="914400"/>
            <a:ext cx="2688336" cy="3246120"/>
          </a:xfrm>
          <a:custGeom>
            <a:avLst/>
            <a:gdLst/>
            <a:ahLst/>
            <a:cxnLst/>
            <a:rect l="l" t="t" r="r" b="b"/>
            <a:pathLst>
              <a:path w="2688336" h="3246120">
                <a:moveTo>
                  <a:pt x="0" y="0"/>
                </a:moveTo>
                <a:lnTo>
                  <a:pt x="2688336" y="0"/>
                </a:lnTo>
                <a:lnTo>
                  <a:pt x="2688336" y="3191256"/>
                </a:lnTo>
                <a:lnTo>
                  <a:pt x="2613660" y="3246120"/>
                </a:lnTo>
                <a:lnTo>
                  <a:pt x="2538984" y="3191256"/>
                </a:lnTo>
                <a:lnTo>
                  <a:pt x="2464308" y="3246120"/>
                </a:lnTo>
                <a:lnTo>
                  <a:pt x="2389632" y="3191256"/>
                </a:lnTo>
                <a:lnTo>
                  <a:pt x="2314956" y="3246120"/>
                </a:lnTo>
                <a:lnTo>
                  <a:pt x="2240280" y="3191256"/>
                </a:lnTo>
                <a:lnTo>
                  <a:pt x="2165604" y="3246120"/>
                </a:lnTo>
                <a:lnTo>
                  <a:pt x="2090928" y="3191256"/>
                </a:lnTo>
                <a:lnTo>
                  <a:pt x="2016252" y="3246120"/>
                </a:lnTo>
                <a:lnTo>
                  <a:pt x="1941576" y="3191256"/>
                </a:lnTo>
                <a:lnTo>
                  <a:pt x="1866900" y="3246120"/>
                </a:lnTo>
                <a:lnTo>
                  <a:pt x="1792224" y="3191256"/>
                </a:lnTo>
                <a:lnTo>
                  <a:pt x="1717548" y="3246120"/>
                </a:lnTo>
                <a:lnTo>
                  <a:pt x="1642872" y="3191256"/>
                </a:lnTo>
                <a:lnTo>
                  <a:pt x="1568196" y="3246120"/>
                </a:lnTo>
                <a:lnTo>
                  <a:pt x="1493520" y="3191256"/>
                </a:lnTo>
                <a:lnTo>
                  <a:pt x="1418844" y="3246120"/>
                </a:lnTo>
                <a:lnTo>
                  <a:pt x="1344168" y="3191256"/>
                </a:lnTo>
                <a:lnTo>
                  <a:pt x="1269492" y="3246120"/>
                </a:lnTo>
                <a:lnTo>
                  <a:pt x="1194816" y="3191256"/>
                </a:lnTo>
                <a:lnTo>
                  <a:pt x="1120140" y="3246120"/>
                </a:lnTo>
                <a:lnTo>
                  <a:pt x="1045464" y="3191256"/>
                </a:lnTo>
                <a:lnTo>
                  <a:pt x="970788" y="3246120"/>
                </a:lnTo>
                <a:lnTo>
                  <a:pt x="896112" y="3191256"/>
                </a:lnTo>
                <a:lnTo>
                  <a:pt x="821436" y="3246120"/>
                </a:lnTo>
                <a:lnTo>
                  <a:pt x="746760" y="3191256"/>
                </a:lnTo>
                <a:lnTo>
                  <a:pt x="672084" y="3246120"/>
                </a:lnTo>
                <a:lnTo>
                  <a:pt x="597408" y="3191256"/>
                </a:lnTo>
                <a:lnTo>
                  <a:pt x="522732" y="3246120"/>
                </a:lnTo>
                <a:lnTo>
                  <a:pt x="448056" y="3191256"/>
                </a:lnTo>
                <a:lnTo>
                  <a:pt x="373380" y="3246120"/>
                </a:lnTo>
                <a:lnTo>
                  <a:pt x="298704" y="3191256"/>
                </a:lnTo>
                <a:lnTo>
                  <a:pt x="224028" y="3246120"/>
                </a:lnTo>
                <a:lnTo>
                  <a:pt x="149352" y="3191256"/>
                </a:lnTo>
                <a:lnTo>
                  <a:pt x="74676" y="3246120"/>
                </a:lnTo>
                <a:lnTo>
                  <a:pt x="0" y="31912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6181344" y="1033272"/>
            <a:ext cx="502920" cy="237744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DC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6775704" y="1033272"/>
            <a:ext cx="1865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181D"/>
                </a:solidFill>
              </a:rPr>
              <a:t>Design constraints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53912" y="146304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263640" y="151790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Stubs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263640" y="173736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external systems simulated, one adapter each (DC-01, 02)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6153912" y="233172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263640" y="238658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Local storage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263640" y="260604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transactions survive a restart or network loss (DC-05)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153912" y="3200400"/>
            <a:ext cx="2468880" cy="77724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263640" y="3255264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Team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6263640" y="347472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B"/>
                </a:solidFill>
              </a:rPr>
              <a:t>6 students, 16 weeks, known technology (DC-04, 07)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SYSTEM DEVELOPMENT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Verification: every requirement has a method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07/14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47548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51560"/>
                <a:gridCol w="23774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FR-01 to FR-59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Functional tests with simulated external systems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NFR-01, 02, 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 times; stubs that answer late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NFR-03, 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Demonstration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drop: data saved locally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NFR-05, 06, 13–18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Demonstration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test, click counting, screens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IR-01 to IR-14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/ Demo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tests with stubs and devices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DR-01 to DR-18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Inspection / Test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design; restart test (DR-13)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DC-01 to DC-08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description and code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3"/>
          <p:cNvSpPr/>
          <p:nvPr/>
        </p:nvSpPr>
        <p:spPr>
          <a:xfrm>
            <a:off x="5440680" y="914400"/>
            <a:ext cx="3291840" cy="3246120"/>
          </a:xfrm>
          <a:custGeom>
            <a:avLst/>
            <a:gdLst/>
            <a:ahLst/>
            <a:cxnLst/>
            <a:rect l="l" t="t" r="r" b="b"/>
            <a:pathLst>
              <a:path w="3291840" h="3246120">
                <a:moveTo>
                  <a:pt x="0" y="0"/>
                </a:moveTo>
                <a:lnTo>
                  <a:pt x="3291840" y="0"/>
                </a:lnTo>
                <a:lnTo>
                  <a:pt x="3291840" y="3191256"/>
                </a:lnTo>
                <a:lnTo>
                  <a:pt x="3220278" y="3246120"/>
                </a:lnTo>
                <a:lnTo>
                  <a:pt x="3148717" y="3191256"/>
                </a:lnTo>
                <a:lnTo>
                  <a:pt x="3077155" y="3246120"/>
                </a:lnTo>
                <a:lnTo>
                  <a:pt x="3005593" y="3191256"/>
                </a:lnTo>
                <a:lnTo>
                  <a:pt x="2934031" y="3246120"/>
                </a:lnTo>
                <a:lnTo>
                  <a:pt x="2862470" y="3191256"/>
                </a:lnTo>
                <a:lnTo>
                  <a:pt x="2790908" y="3246120"/>
                </a:lnTo>
                <a:lnTo>
                  <a:pt x="2719346" y="3191256"/>
                </a:lnTo>
                <a:lnTo>
                  <a:pt x="2647784" y="3246120"/>
                </a:lnTo>
                <a:lnTo>
                  <a:pt x="2576223" y="3191256"/>
                </a:lnTo>
                <a:lnTo>
                  <a:pt x="2504661" y="3246120"/>
                </a:lnTo>
                <a:lnTo>
                  <a:pt x="2433099" y="3191256"/>
                </a:lnTo>
                <a:lnTo>
                  <a:pt x="2361537" y="3246120"/>
                </a:lnTo>
                <a:lnTo>
                  <a:pt x="2289976" y="3191256"/>
                </a:lnTo>
                <a:lnTo>
                  <a:pt x="2218414" y="3246120"/>
                </a:lnTo>
                <a:lnTo>
                  <a:pt x="2146852" y="3191256"/>
                </a:lnTo>
                <a:lnTo>
                  <a:pt x="2075290" y="3246120"/>
                </a:lnTo>
                <a:lnTo>
                  <a:pt x="2003729" y="3191256"/>
                </a:lnTo>
                <a:lnTo>
                  <a:pt x="1932167" y="3246120"/>
                </a:lnTo>
                <a:lnTo>
                  <a:pt x="1860605" y="3191256"/>
                </a:lnTo>
                <a:lnTo>
                  <a:pt x="1789043" y="3246120"/>
                </a:lnTo>
                <a:lnTo>
                  <a:pt x="1717482" y="3191256"/>
                </a:lnTo>
                <a:lnTo>
                  <a:pt x="1645920" y="3246120"/>
                </a:lnTo>
                <a:lnTo>
                  <a:pt x="1574358" y="3191256"/>
                </a:lnTo>
                <a:lnTo>
                  <a:pt x="1502797" y="3246120"/>
                </a:lnTo>
                <a:lnTo>
                  <a:pt x="1431235" y="3191256"/>
                </a:lnTo>
                <a:lnTo>
                  <a:pt x="1359673" y="3246120"/>
                </a:lnTo>
                <a:lnTo>
                  <a:pt x="1288111" y="3191256"/>
                </a:lnTo>
                <a:lnTo>
                  <a:pt x="1216550" y="3246120"/>
                </a:lnTo>
                <a:lnTo>
                  <a:pt x="1144988" y="3191256"/>
                </a:lnTo>
                <a:lnTo>
                  <a:pt x="1073426" y="3246120"/>
                </a:lnTo>
                <a:lnTo>
                  <a:pt x="1001864" y="3191256"/>
                </a:lnTo>
                <a:lnTo>
                  <a:pt x="930303" y="3246120"/>
                </a:lnTo>
                <a:lnTo>
                  <a:pt x="858741" y="3191256"/>
                </a:lnTo>
                <a:lnTo>
                  <a:pt x="787179" y="3246120"/>
                </a:lnTo>
                <a:lnTo>
                  <a:pt x="715617" y="3191256"/>
                </a:lnTo>
                <a:lnTo>
                  <a:pt x="644056" y="3246120"/>
                </a:lnTo>
                <a:lnTo>
                  <a:pt x="572494" y="3191256"/>
                </a:lnTo>
                <a:lnTo>
                  <a:pt x="500932" y="3246120"/>
                </a:lnTo>
                <a:lnTo>
                  <a:pt x="429370" y="3191256"/>
                </a:lnTo>
                <a:lnTo>
                  <a:pt x="357809" y="3246120"/>
                </a:lnTo>
                <a:lnTo>
                  <a:pt x="286247" y="3191256"/>
                </a:lnTo>
                <a:lnTo>
                  <a:pt x="214685" y="3246120"/>
                </a:lnTo>
                <a:lnTo>
                  <a:pt x="143123" y="3191256"/>
                </a:lnTo>
                <a:lnTo>
                  <a:pt x="71562" y="3246120"/>
                </a:lnTo>
                <a:lnTo>
                  <a:pt x="0" y="31912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5577840" y="9875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Acceptance criterion AC-05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577840" y="12161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Payment Service not available · UC1 ext. 9b2b · FR-11 · TC-11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5577840" y="1554480"/>
            <a:ext cx="685800" cy="237744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GIVEN</a:t>
            </a:r>
            <a:endParaRPr lang="en-US" sz="800" dirty="0"/>
          </a:p>
        </p:txBody>
      </p:sp>
      <p:sp>
        <p:nvSpPr>
          <p:cNvPr id="31" name="Text 27"/>
          <p:cNvSpPr txBox="1"/>
          <p:nvPr/>
        </p:nvSpPr>
        <p:spPr>
          <a:xfrm>
            <a:off x="6355080" y="15270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a sale with total 22.00 and the Payment Service does not answer within 10 s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577840" y="2395728"/>
            <a:ext cx="685800" cy="237744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WHEN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6355080" y="23682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the cashier chooses credit card payment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5577840" y="3236976"/>
            <a:ext cx="685800" cy="237744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THEN</a:t>
            </a:r>
            <a:endParaRPr lang="en-US" sz="800" dirty="0"/>
          </a:p>
        </p:txBody>
      </p:sp>
      <p:sp>
        <p:nvSpPr>
          <p:cNvPr id="35" name="Text 31"/>
          <p:cNvSpPr txBox="1"/>
          <p:nvPr/>
        </p:nvSpPr>
        <p:spPr>
          <a:xfrm>
            <a:off x="6355080" y="320954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"Card payment not available"; failure logged without card data; sale stays open; retry or pay cash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INCREMENT 2: DESIGN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System sequence diagram UC1: four system operations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08/14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68680" y="914400"/>
            <a:ext cx="10972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914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:Cashier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977640" y="914400"/>
            <a:ext cx="1280160" cy="310896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77640" y="9144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CD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«system» </a:t>
            </a:r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:NewEra POS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1417320" y="1225296"/>
            <a:ext cx="0" cy="3035808"/>
          </a:xfrm>
          <a:prstGeom prst="line">
            <a:avLst/>
          </a:prstGeom>
          <a:noFill/>
          <a:ln w="9525">
            <a:solidFill>
              <a:srgbClr val="9EA4AD"/>
            </a:solidFill>
            <a:prstDash val="dash"/>
          </a:ln>
        </p:spPr>
      </p:sp>
      <p:sp>
        <p:nvSpPr>
          <p:cNvPr id="31" name="Shape 28"/>
          <p:cNvSpPr/>
          <p:nvPr/>
        </p:nvSpPr>
        <p:spPr>
          <a:xfrm>
            <a:off x="4617720" y="1225296"/>
            <a:ext cx="0" cy="3035808"/>
          </a:xfrm>
          <a:prstGeom prst="line">
            <a:avLst/>
          </a:prstGeom>
          <a:noFill/>
          <a:ln w="9525">
            <a:solidFill>
              <a:srgbClr val="9EA4AD"/>
            </a:solidFill>
            <a:prstDash val="dash"/>
          </a:ln>
        </p:spPr>
      </p:sp>
      <p:sp>
        <p:nvSpPr>
          <p:cNvPr id="32" name="Shape 29"/>
          <p:cNvSpPr/>
          <p:nvPr/>
        </p:nvSpPr>
        <p:spPr>
          <a:xfrm>
            <a:off x="4572000" y="1444752"/>
            <a:ext cx="91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16181D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417320" y="1481328"/>
            <a:ext cx="3154680" cy="0"/>
          </a:xfrm>
          <a:prstGeom prst="line">
            <a:avLst/>
          </a:prstGeom>
          <a:noFill/>
          <a:ln w="15875">
            <a:solidFill>
              <a:srgbClr val="16181D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1527048" y="129844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makeNewSale()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850392" y="1399032"/>
            <a:ext cx="457200" cy="164592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2–3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 flipH="1">
            <a:off x="1417320" y="1572768"/>
            <a:ext cx="3154680" cy="0"/>
          </a:xfrm>
          <a:prstGeom prst="line">
            <a:avLst/>
          </a:prstGeom>
          <a:noFill/>
          <a:ln w="11430">
            <a:solidFill>
              <a:srgbClr val="6B717B"/>
            </a:solidFill>
            <a:prstDash val="dash"/>
            <a:tailEnd type="arrow"/>
          </a:ln>
        </p:spPr>
      </p:sp>
      <p:sp>
        <p:nvSpPr>
          <p:cNvPr id="37" name="Text 34"/>
          <p:cNvSpPr txBox="1"/>
          <p:nvPr/>
        </p:nvSpPr>
        <p:spPr>
          <a:xfrm>
            <a:off x="1527048" y="1591056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7B"/>
                </a:solidFill>
              </a:rPr>
              <a:t>new sale opened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777240" y="1810512"/>
            <a:ext cx="4023360" cy="621792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B2F3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7240" y="1810512"/>
            <a:ext cx="3566160" cy="155448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[until all items are entered]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4572000" y="2139696"/>
            <a:ext cx="91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16181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417320" y="2176272"/>
            <a:ext cx="3154680" cy="0"/>
          </a:xfrm>
          <a:prstGeom prst="line">
            <a:avLst/>
          </a:prstGeom>
          <a:noFill/>
          <a:ln w="15875">
            <a:solidFill>
              <a:srgbClr val="16181D"/>
            </a:solidFill>
            <a:prstDash val="solid"/>
            <a:tailEnd type="triangle"/>
          </a:ln>
        </p:spPr>
      </p:sp>
      <p:sp>
        <p:nvSpPr>
          <p:cNvPr id="42" name="Text 39"/>
          <p:cNvSpPr txBox="1"/>
          <p:nvPr/>
        </p:nvSpPr>
        <p:spPr>
          <a:xfrm>
            <a:off x="1527048" y="199339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enterItem(itemID, quantity)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850392" y="2093976"/>
            <a:ext cx="457200" cy="164592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4–5</a:t>
            </a:r>
            <a:endParaRPr lang="en-US" sz="650" dirty="0"/>
          </a:p>
        </p:txBody>
      </p:sp>
      <p:sp>
        <p:nvSpPr>
          <p:cNvPr id="44" name="Shape 41"/>
          <p:cNvSpPr/>
          <p:nvPr/>
        </p:nvSpPr>
        <p:spPr>
          <a:xfrm flipH="1">
            <a:off x="1417320" y="2267712"/>
            <a:ext cx="3154680" cy="0"/>
          </a:xfrm>
          <a:prstGeom prst="line">
            <a:avLst/>
          </a:prstGeom>
          <a:noFill/>
          <a:ln w="11430">
            <a:solidFill>
              <a:srgbClr val="6B717B"/>
            </a:solidFill>
            <a:prstDash val="dash"/>
            <a:tailEnd type="arrow"/>
          </a:ln>
        </p:spPr>
      </p:sp>
      <p:sp>
        <p:nvSpPr>
          <p:cNvPr id="45" name="Text 42"/>
          <p:cNvSpPr txBox="1"/>
          <p:nvPr/>
        </p:nvSpPr>
        <p:spPr>
          <a:xfrm>
            <a:off x="1527048" y="228600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7B"/>
                </a:solidFill>
              </a:rPr>
              <a:t>description, unit price, line subtotal, running subtotal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572000" y="2688336"/>
            <a:ext cx="91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16181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417320" y="2724912"/>
            <a:ext cx="3154680" cy="0"/>
          </a:xfrm>
          <a:prstGeom prst="line">
            <a:avLst/>
          </a:prstGeom>
          <a:noFill/>
          <a:ln w="15875">
            <a:solidFill>
              <a:srgbClr val="16181D"/>
            </a:solidFill>
            <a:prstDash val="solid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1527048" y="25420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endSale()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50392" y="2642616"/>
            <a:ext cx="457200" cy="164592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6–7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 flipH="1">
            <a:off x="1417320" y="2816352"/>
            <a:ext cx="3154680" cy="0"/>
          </a:xfrm>
          <a:prstGeom prst="line">
            <a:avLst/>
          </a:prstGeom>
          <a:noFill/>
          <a:ln w="11430">
            <a:solidFill>
              <a:srgbClr val="6B717B"/>
            </a:solidFill>
            <a:prstDash val="dash"/>
            <a:tailEnd type="arrow"/>
          </a:ln>
        </p:spPr>
      </p:sp>
      <p:sp>
        <p:nvSpPr>
          <p:cNvPr id="51" name="Text 48"/>
          <p:cNvSpPr txBox="1"/>
          <p:nvPr/>
        </p:nvSpPr>
        <p:spPr>
          <a:xfrm>
            <a:off x="1527048" y="28346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7B"/>
                </a:solidFill>
              </a:rPr>
              <a:t>subtotal, tax, total  (Tax Calculator; default rate if down, 7a)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777240" y="3090672"/>
            <a:ext cx="4023360" cy="114300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B2F3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77240" y="3090672"/>
            <a:ext cx="3566160" cy="155448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[Cash 9a | CreditCard 9b | Check 9c, Could]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868680" y="3291840"/>
            <a:ext cx="3840480" cy="868680"/>
          </a:xfrm>
          <a:prstGeom prst="rect">
            <a:avLst/>
          </a:prstGeom>
          <a:solidFill>
            <a:srgbClr val="FFF4F1"/>
          </a:solidFill>
          <a:ln w="11430">
            <a:solidFill>
              <a:srgbClr val="FF4D2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8680" y="3291840"/>
            <a:ext cx="3566160" cy="155448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[CreditCard: retry after "Card payment not available" 9b2b]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572000" y="3621024"/>
            <a:ext cx="9144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16181D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417320" y="3657600"/>
            <a:ext cx="3154680" cy="0"/>
          </a:xfrm>
          <a:prstGeom prst="line">
            <a:avLst/>
          </a:prstGeom>
          <a:noFill/>
          <a:ln w="15875">
            <a:solidFill>
              <a:srgbClr val="FF4D2E"/>
            </a:solidFill>
            <a:prstDash val="solid"/>
            <a:tailEnd type="triangle"/>
          </a:ln>
        </p:spPr>
      </p:sp>
      <p:sp>
        <p:nvSpPr>
          <p:cNvPr id="58" name="Text 55"/>
          <p:cNvSpPr txBox="1"/>
          <p:nvPr/>
        </p:nvSpPr>
        <p:spPr>
          <a:xfrm>
            <a:off x="1527048" y="34747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makePayment(amount, tenderType)</a:t>
            </a:r>
            <a:endParaRPr lang="en-US" sz="800" dirty="0"/>
          </a:p>
        </p:txBody>
      </p:sp>
      <p:sp>
        <p:nvSpPr>
          <p:cNvPr id="59" name="Text 56"/>
          <p:cNvSpPr txBox="1"/>
          <p:nvPr/>
        </p:nvSpPr>
        <p:spPr>
          <a:xfrm>
            <a:off x="850392" y="3575304"/>
            <a:ext cx="457200" cy="164592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9–12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 flipH="1">
            <a:off x="1417320" y="3749040"/>
            <a:ext cx="3154680" cy="0"/>
          </a:xfrm>
          <a:prstGeom prst="line">
            <a:avLst/>
          </a:prstGeom>
          <a:noFill/>
          <a:ln w="11430">
            <a:solidFill>
              <a:srgbClr val="6B717B"/>
            </a:solidFill>
            <a:prstDash val="dash"/>
            <a:tailEnd type="arrow"/>
          </a:ln>
        </p:spPr>
      </p:sp>
      <p:sp>
        <p:nvSpPr>
          <p:cNvPr id="61" name="Text 58"/>
          <p:cNvSpPr txBox="1"/>
          <p:nvPr/>
        </p:nvSpPr>
        <p:spPr>
          <a:xfrm>
            <a:off x="1527048" y="376732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17B"/>
                </a:solidFill>
              </a:rPr>
              <a:t>change due (Cash) · approval (card, check) · receipt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 flipH="1">
            <a:off x="1417320" y="3959352"/>
            <a:ext cx="3154680" cy="0"/>
          </a:xfrm>
          <a:prstGeom prst="line">
            <a:avLst/>
          </a:prstGeom>
          <a:noFill/>
          <a:ln w="11430">
            <a:solidFill>
              <a:srgbClr val="FF4D2E"/>
            </a:solidFill>
            <a:prstDash val="dash"/>
            <a:tailEnd type="arrow"/>
          </a:ln>
        </p:spPr>
      </p:sp>
      <p:sp>
        <p:nvSpPr>
          <p:cNvPr id="63" name="Text 60"/>
          <p:cNvSpPr txBox="1"/>
          <p:nvPr/>
        </p:nvSpPr>
        <p:spPr>
          <a:xfrm>
            <a:off x="1527048" y="397764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4D2E"/>
                </a:solidFill>
              </a:rPr>
              <a:t>"Card payment not available" → retry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411480" y="42976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17B"/>
                </a:solidFill>
              </a:rPr>
              <a:t>Pre: cashier session open (UC4) · the Customer acts through the Cashier · declined card (9b2a): new makePayment with another tender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5486400" y="89611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contracts · postconditions (Josué)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486400" y="1143000"/>
            <a:ext cx="3246120" cy="731520"/>
          </a:xfrm>
          <a:custGeom>
            <a:avLst/>
            <a:gdLst/>
            <a:ahLst/>
            <a:cxnLst/>
            <a:rect l="l" t="t" r="r" b="b"/>
            <a:pathLst>
              <a:path w="3246120" h="731520">
                <a:moveTo>
                  <a:pt x="0" y="0"/>
                </a:moveTo>
                <a:lnTo>
                  <a:pt x="3246120" y="0"/>
                </a:lnTo>
                <a:lnTo>
                  <a:pt x="3246120" y="676656"/>
                </a:lnTo>
                <a:lnTo>
                  <a:pt x="3172345" y="731520"/>
                </a:lnTo>
                <a:lnTo>
                  <a:pt x="3098569" y="676656"/>
                </a:lnTo>
                <a:lnTo>
                  <a:pt x="3024794" y="731520"/>
                </a:lnTo>
                <a:lnTo>
                  <a:pt x="2951018" y="676656"/>
                </a:lnTo>
                <a:lnTo>
                  <a:pt x="2877243" y="731520"/>
                </a:lnTo>
                <a:lnTo>
                  <a:pt x="2803467" y="676656"/>
                </a:lnTo>
                <a:lnTo>
                  <a:pt x="2729692" y="731520"/>
                </a:lnTo>
                <a:lnTo>
                  <a:pt x="2655916" y="676656"/>
                </a:lnTo>
                <a:lnTo>
                  <a:pt x="2582141" y="731520"/>
                </a:lnTo>
                <a:lnTo>
                  <a:pt x="2508365" y="676656"/>
                </a:lnTo>
                <a:lnTo>
                  <a:pt x="2434590" y="731520"/>
                </a:lnTo>
                <a:lnTo>
                  <a:pt x="2360815" y="676656"/>
                </a:lnTo>
                <a:lnTo>
                  <a:pt x="2287039" y="731520"/>
                </a:lnTo>
                <a:lnTo>
                  <a:pt x="2213264" y="676656"/>
                </a:lnTo>
                <a:lnTo>
                  <a:pt x="2139488" y="731520"/>
                </a:lnTo>
                <a:lnTo>
                  <a:pt x="2065713" y="676656"/>
                </a:lnTo>
                <a:lnTo>
                  <a:pt x="1991937" y="731520"/>
                </a:lnTo>
                <a:lnTo>
                  <a:pt x="1918162" y="676656"/>
                </a:lnTo>
                <a:lnTo>
                  <a:pt x="1844386" y="731520"/>
                </a:lnTo>
                <a:lnTo>
                  <a:pt x="1770611" y="676656"/>
                </a:lnTo>
                <a:lnTo>
                  <a:pt x="1696835" y="731520"/>
                </a:lnTo>
                <a:lnTo>
                  <a:pt x="1623060" y="676656"/>
                </a:lnTo>
                <a:lnTo>
                  <a:pt x="1549285" y="731520"/>
                </a:lnTo>
                <a:lnTo>
                  <a:pt x="1475509" y="676656"/>
                </a:lnTo>
                <a:lnTo>
                  <a:pt x="1401734" y="731520"/>
                </a:lnTo>
                <a:lnTo>
                  <a:pt x="1327958" y="676656"/>
                </a:lnTo>
                <a:lnTo>
                  <a:pt x="1254183" y="731520"/>
                </a:lnTo>
                <a:lnTo>
                  <a:pt x="1180407" y="676656"/>
                </a:lnTo>
                <a:lnTo>
                  <a:pt x="1106632" y="731520"/>
                </a:lnTo>
                <a:lnTo>
                  <a:pt x="1032856" y="676656"/>
                </a:lnTo>
                <a:lnTo>
                  <a:pt x="959081" y="731520"/>
                </a:lnTo>
                <a:lnTo>
                  <a:pt x="885305" y="676656"/>
                </a:lnTo>
                <a:lnTo>
                  <a:pt x="811530" y="731520"/>
                </a:lnTo>
                <a:lnTo>
                  <a:pt x="737755" y="676656"/>
                </a:lnTo>
                <a:lnTo>
                  <a:pt x="663979" y="731520"/>
                </a:lnTo>
                <a:lnTo>
                  <a:pt x="590204" y="676656"/>
                </a:lnTo>
                <a:lnTo>
                  <a:pt x="516428" y="731520"/>
                </a:lnTo>
                <a:lnTo>
                  <a:pt x="442653" y="676656"/>
                </a:lnTo>
                <a:lnTo>
                  <a:pt x="368877" y="731520"/>
                </a:lnTo>
                <a:lnTo>
                  <a:pt x="295102" y="676656"/>
                </a:lnTo>
                <a:lnTo>
                  <a:pt x="221326" y="731520"/>
                </a:lnTo>
                <a:lnTo>
                  <a:pt x="147551" y="676656"/>
                </a:lnTo>
                <a:lnTo>
                  <a:pt x="73775" y="731520"/>
                </a:lnTo>
                <a:lnTo>
                  <a:pt x="0" y="6766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7" name="Text 64"/>
          <p:cNvSpPr txBox="1"/>
          <p:nvPr/>
        </p:nvSpPr>
        <p:spPr>
          <a:xfrm>
            <a:off x="5623560" y="120700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makeNewSale()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5623560" y="14081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Sale created and linked to the CashierSession; isComplete = false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5486400" y="1947672"/>
            <a:ext cx="3246120" cy="731520"/>
          </a:xfrm>
          <a:custGeom>
            <a:avLst/>
            <a:gdLst/>
            <a:ahLst/>
            <a:cxnLst/>
            <a:rect l="l" t="t" r="r" b="b"/>
            <a:pathLst>
              <a:path w="3246120" h="731520">
                <a:moveTo>
                  <a:pt x="0" y="0"/>
                </a:moveTo>
                <a:lnTo>
                  <a:pt x="3246120" y="0"/>
                </a:lnTo>
                <a:lnTo>
                  <a:pt x="3246120" y="676656"/>
                </a:lnTo>
                <a:lnTo>
                  <a:pt x="3172345" y="731520"/>
                </a:lnTo>
                <a:lnTo>
                  <a:pt x="3098569" y="676656"/>
                </a:lnTo>
                <a:lnTo>
                  <a:pt x="3024794" y="731520"/>
                </a:lnTo>
                <a:lnTo>
                  <a:pt x="2951018" y="676656"/>
                </a:lnTo>
                <a:lnTo>
                  <a:pt x="2877243" y="731520"/>
                </a:lnTo>
                <a:lnTo>
                  <a:pt x="2803467" y="676656"/>
                </a:lnTo>
                <a:lnTo>
                  <a:pt x="2729692" y="731520"/>
                </a:lnTo>
                <a:lnTo>
                  <a:pt x="2655916" y="676656"/>
                </a:lnTo>
                <a:lnTo>
                  <a:pt x="2582141" y="731520"/>
                </a:lnTo>
                <a:lnTo>
                  <a:pt x="2508365" y="676656"/>
                </a:lnTo>
                <a:lnTo>
                  <a:pt x="2434590" y="731520"/>
                </a:lnTo>
                <a:lnTo>
                  <a:pt x="2360815" y="676656"/>
                </a:lnTo>
                <a:lnTo>
                  <a:pt x="2287039" y="731520"/>
                </a:lnTo>
                <a:lnTo>
                  <a:pt x="2213264" y="676656"/>
                </a:lnTo>
                <a:lnTo>
                  <a:pt x="2139488" y="731520"/>
                </a:lnTo>
                <a:lnTo>
                  <a:pt x="2065713" y="676656"/>
                </a:lnTo>
                <a:lnTo>
                  <a:pt x="1991937" y="731520"/>
                </a:lnTo>
                <a:lnTo>
                  <a:pt x="1918162" y="676656"/>
                </a:lnTo>
                <a:lnTo>
                  <a:pt x="1844386" y="731520"/>
                </a:lnTo>
                <a:lnTo>
                  <a:pt x="1770611" y="676656"/>
                </a:lnTo>
                <a:lnTo>
                  <a:pt x="1696835" y="731520"/>
                </a:lnTo>
                <a:lnTo>
                  <a:pt x="1623060" y="676656"/>
                </a:lnTo>
                <a:lnTo>
                  <a:pt x="1549285" y="731520"/>
                </a:lnTo>
                <a:lnTo>
                  <a:pt x="1475509" y="676656"/>
                </a:lnTo>
                <a:lnTo>
                  <a:pt x="1401734" y="731520"/>
                </a:lnTo>
                <a:lnTo>
                  <a:pt x="1327958" y="676656"/>
                </a:lnTo>
                <a:lnTo>
                  <a:pt x="1254183" y="731520"/>
                </a:lnTo>
                <a:lnTo>
                  <a:pt x="1180407" y="676656"/>
                </a:lnTo>
                <a:lnTo>
                  <a:pt x="1106632" y="731520"/>
                </a:lnTo>
                <a:lnTo>
                  <a:pt x="1032856" y="676656"/>
                </a:lnTo>
                <a:lnTo>
                  <a:pt x="959081" y="731520"/>
                </a:lnTo>
                <a:lnTo>
                  <a:pt x="885305" y="676656"/>
                </a:lnTo>
                <a:lnTo>
                  <a:pt x="811530" y="731520"/>
                </a:lnTo>
                <a:lnTo>
                  <a:pt x="737755" y="676656"/>
                </a:lnTo>
                <a:lnTo>
                  <a:pt x="663979" y="731520"/>
                </a:lnTo>
                <a:lnTo>
                  <a:pt x="590204" y="676656"/>
                </a:lnTo>
                <a:lnTo>
                  <a:pt x="516428" y="731520"/>
                </a:lnTo>
                <a:lnTo>
                  <a:pt x="442653" y="676656"/>
                </a:lnTo>
                <a:lnTo>
                  <a:pt x="368877" y="731520"/>
                </a:lnTo>
                <a:lnTo>
                  <a:pt x="295102" y="676656"/>
                </a:lnTo>
                <a:lnTo>
                  <a:pt x="221326" y="731520"/>
                </a:lnTo>
                <a:lnTo>
                  <a:pt x="147551" y="676656"/>
                </a:lnTo>
                <a:lnTo>
                  <a:pt x="73775" y="731520"/>
                </a:lnTo>
                <a:lnTo>
                  <a:pt x="0" y="6766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0" name="Text 67"/>
          <p:cNvSpPr txBox="1"/>
          <p:nvPr/>
        </p:nvSpPr>
        <p:spPr>
          <a:xfrm>
            <a:off x="5623560" y="2011680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enterItem()</a:t>
            </a:r>
            <a:endParaRPr lang="en-US" sz="850" dirty="0"/>
          </a:p>
        </p:txBody>
      </p:sp>
      <p:sp>
        <p:nvSpPr>
          <p:cNvPr id="71" name="Text 68"/>
          <p:cNvSpPr txBox="1"/>
          <p:nvPr/>
        </p:nvSpPr>
        <p:spPr>
          <a:xfrm>
            <a:off x="5623560" y="22128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SaleLineItem created, linked to its ProductDescription; Sale.subtotal updated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5486400" y="2752344"/>
            <a:ext cx="3246120" cy="731520"/>
          </a:xfrm>
          <a:custGeom>
            <a:avLst/>
            <a:gdLst/>
            <a:ahLst/>
            <a:cxnLst/>
            <a:rect l="l" t="t" r="r" b="b"/>
            <a:pathLst>
              <a:path w="3246120" h="731520">
                <a:moveTo>
                  <a:pt x="0" y="0"/>
                </a:moveTo>
                <a:lnTo>
                  <a:pt x="3246120" y="0"/>
                </a:lnTo>
                <a:lnTo>
                  <a:pt x="3246120" y="676656"/>
                </a:lnTo>
                <a:lnTo>
                  <a:pt x="3172345" y="731520"/>
                </a:lnTo>
                <a:lnTo>
                  <a:pt x="3098569" y="676656"/>
                </a:lnTo>
                <a:lnTo>
                  <a:pt x="3024794" y="731520"/>
                </a:lnTo>
                <a:lnTo>
                  <a:pt x="2951018" y="676656"/>
                </a:lnTo>
                <a:lnTo>
                  <a:pt x="2877243" y="731520"/>
                </a:lnTo>
                <a:lnTo>
                  <a:pt x="2803467" y="676656"/>
                </a:lnTo>
                <a:lnTo>
                  <a:pt x="2729692" y="731520"/>
                </a:lnTo>
                <a:lnTo>
                  <a:pt x="2655916" y="676656"/>
                </a:lnTo>
                <a:lnTo>
                  <a:pt x="2582141" y="731520"/>
                </a:lnTo>
                <a:lnTo>
                  <a:pt x="2508365" y="676656"/>
                </a:lnTo>
                <a:lnTo>
                  <a:pt x="2434590" y="731520"/>
                </a:lnTo>
                <a:lnTo>
                  <a:pt x="2360815" y="676656"/>
                </a:lnTo>
                <a:lnTo>
                  <a:pt x="2287039" y="731520"/>
                </a:lnTo>
                <a:lnTo>
                  <a:pt x="2213264" y="676656"/>
                </a:lnTo>
                <a:lnTo>
                  <a:pt x="2139488" y="731520"/>
                </a:lnTo>
                <a:lnTo>
                  <a:pt x="2065713" y="676656"/>
                </a:lnTo>
                <a:lnTo>
                  <a:pt x="1991937" y="731520"/>
                </a:lnTo>
                <a:lnTo>
                  <a:pt x="1918162" y="676656"/>
                </a:lnTo>
                <a:lnTo>
                  <a:pt x="1844386" y="731520"/>
                </a:lnTo>
                <a:lnTo>
                  <a:pt x="1770611" y="676656"/>
                </a:lnTo>
                <a:lnTo>
                  <a:pt x="1696835" y="731520"/>
                </a:lnTo>
                <a:lnTo>
                  <a:pt x="1623060" y="676656"/>
                </a:lnTo>
                <a:lnTo>
                  <a:pt x="1549285" y="731520"/>
                </a:lnTo>
                <a:lnTo>
                  <a:pt x="1475509" y="676656"/>
                </a:lnTo>
                <a:lnTo>
                  <a:pt x="1401734" y="731520"/>
                </a:lnTo>
                <a:lnTo>
                  <a:pt x="1327958" y="676656"/>
                </a:lnTo>
                <a:lnTo>
                  <a:pt x="1254183" y="731520"/>
                </a:lnTo>
                <a:lnTo>
                  <a:pt x="1180407" y="676656"/>
                </a:lnTo>
                <a:lnTo>
                  <a:pt x="1106632" y="731520"/>
                </a:lnTo>
                <a:lnTo>
                  <a:pt x="1032856" y="676656"/>
                </a:lnTo>
                <a:lnTo>
                  <a:pt x="959081" y="731520"/>
                </a:lnTo>
                <a:lnTo>
                  <a:pt x="885305" y="676656"/>
                </a:lnTo>
                <a:lnTo>
                  <a:pt x="811530" y="731520"/>
                </a:lnTo>
                <a:lnTo>
                  <a:pt x="737755" y="676656"/>
                </a:lnTo>
                <a:lnTo>
                  <a:pt x="663979" y="731520"/>
                </a:lnTo>
                <a:lnTo>
                  <a:pt x="590204" y="676656"/>
                </a:lnTo>
                <a:lnTo>
                  <a:pt x="516428" y="731520"/>
                </a:lnTo>
                <a:lnTo>
                  <a:pt x="442653" y="676656"/>
                </a:lnTo>
                <a:lnTo>
                  <a:pt x="368877" y="731520"/>
                </a:lnTo>
                <a:lnTo>
                  <a:pt x="295102" y="676656"/>
                </a:lnTo>
                <a:lnTo>
                  <a:pt x="221326" y="731520"/>
                </a:lnTo>
                <a:lnTo>
                  <a:pt x="147551" y="676656"/>
                </a:lnTo>
                <a:lnTo>
                  <a:pt x="73775" y="731520"/>
                </a:lnTo>
                <a:lnTo>
                  <a:pt x="0" y="6766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3" name="Text 70"/>
          <p:cNvSpPr txBox="1"/>
          <p:nvPr/>
        </p:nvSpPr>
        <p:spPr>
          <a:xfrm>
            <a:off x="5623560" y="281635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endSale()</a:t>
            </a:r>
            <a:endParaRPr lang="en-US" sz="850" dirty="0"/>
          </a:p>
        </p:txBody>
      </p:sp>
      <p:sp>
        <p:nvSpPr>
          <p:cNvPr id="74" name="Text 71"/>
          <p:cNvSpPr txBox="1"/>
          <p:nvPr/>
        </p:nvSpPr>
        <p:spPr>
          <a:xfrm>
            <a:off x="5623560" y="30175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isComplete = true; tax from the Tax Calculator; total = subtotal + tax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5486400" y="3557016"/>
            <a:ext cx="3246120" cy="731520"/>
          </a:xfrm>
          <a:custGeom>
            <a:avLst/>
            <a:gdLst/>
            <a:ahLst/>
            <a:cxnLst/>
            <a:rect l="l" t="t" r="r" b="b"/>
            <a:pathLst>
              <a:path w="3246120" h="731520">
                <a:moveTo>
                  <a:pt x="0" y="0"/>
                </a:moveTo>
                <a:lnTo>
                  <a:pt x="3246120" y="0"/>
                </a:lnTo>
                <a:lnTo>
                  <a:pt x="3246120" y="676656"/>
                </a:lnTo>
                <a:lnTo>
                  <a:pt x="3172345" y="731520"/>
                </a:lnTo>
                <a:lnTo>
                  <a:pt x="3098569" y="676656"/>
                </a:lnTo>
                <a:lnTo>
                  <a:pt x="3024794" y="731520"/>
                </a:lnTo>
                <a:lnTo>
                  <a:pt x="2951018" y="676656"/>
                </a:lnTo>
                <a:lnTo>
                  <a:pt x="2877243" y="731520"/>
                </a:lnTo>
                <a:lnTo>
                  <a:pt x="2803467" y="676656"/>
                </a:lnTo>
                <a:lnTo>
                  <a:pt x="2729692" y="731520"/>
                </a:lnTo>
                <a:lnTo>
                  <a:pt x="2655916" y="676656"/>
                </a:lnTo>
                <a:lnTo>
                  <a:pt x="2582141" y="731520"/>
                </a:lnTo>
                <a:lnTo>
                  <a:pt x="2508365" y="676656"/>
                </a:lnTo>
                <a:lnTo>
                  <a:pt x="2434590" y="731520"/>
                </a:lnTo>
                <a:lnTo>
                  <a:pt x="2360815" y="676656"/>
                </a:lnTo>
                <a:lnTo>
                  <a:pt x="2287039" y="731520"/>
                </a:lnTo>
                <a:lnTo>
                  <a:pt x="2213264" y="676656"/>
                </a:lnTo>
                <a:lnTo>
                  <a:pt x="2139488" y="731520"/>
                </a:lnTo>
                <a:lnTo>
                  <a:pt x="2065713" y="676656"/>
                </a:lnTo>
                <a:lnTo>
                  <a:pt x="1991937" y="731520"/>
                </a:lnTo>
                <a:lnTo>
                  <a:pt x="1918162" y="676656"/>
                </a:lnTo>
                <a:lnTo>
                  <a:pt x="1844386" y="731520"/>
                </a:lnTo>
                <a:lnTo>
                  <a:pt x="1770611" y="676656"/>
                </a:lnTo>
                <a:lnTo>
                  <a:pt x="1696835" y="731520"/>
                </a:lnTo>
                <a:lnTo>
                  <a:pt x="1623060" y="676656"/>
                </a:lnTo>
                <a:lnTo>
                  <a:pt x="1549285" y="731520"/>
                </a:lnTo>
                <a:lnTo>
                  <a:pt x="1475509" y="676656"/>
                </a:lnTo>
                <a:lnTo>
                  <a:pt x="1401734" y="731520"/>
                </a:lnTo>
                <a:lnTo>
                  <a:pt x="1327958" y="676656"/>
                </a:lnTo>
                <a:lnTo>
                  <a:pt x="1254183" y="731520"/>
                </a:lnTo>
                <a:lnTo>
                  <a:pt x="1180407" y="676656"/>
                </a:lnTo>
                <a:lnTo>
                  <a:pt x="1106632" y="731520"/>
                </a:lnTo>
                <a:lnTo>
                  <a:pt x="1032856" y="676656"/>
                </a:lnTo>
                <a:lnTo>
                  <a:pt x="959081" y="731520"/>
                </a:lnTo>
                <a:lnTo>
                  <a:pt x="885305" y="676656"/>
                </a:lnTo>
                <a:lnTo>
                  <a:pt x="811530" y="731520"/>
                </a:lnTo>
                <a:lnTo>
                  <a:pt x="737755" y="676656"/>
                </a:lnTo>
                <a:lnTo>
                  <a:pt x="663979" y="731520"/>
                </a:lnTo>
                <a:lnTo>
                  <a:pt x="590204" y="676656"/>
                </a:lnTo>
                <a:lnTo>
                  <a:pt x="516428" y="731520"/>
                </a:lnTo>
                <a:lnTo>
                  <a:pt x="442653" y="676656"/>
                </a:lnTo>
                <a:lnTo>
                  <a:pt x="368877" y="731520"/>
                </a:lnTo>
                <a:lnTo>
                  <a:pt x="295102" y="676656"/>
                </a:lnTo>
                <a:lnTo>
                  <a:pt x="221326" y="731520"/>
                </a:lnTo>
                <a:lnTo>
                  <a:pt x="147551" y="676656"/>
                </a:lnTo>
                <a:lnTo>
                  <a:pt x="73775" y="731520"/>
                </a:lnTo>
                <a:lnTo>
                  <a:pt x="0" y="6766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76" name="Text 73"/>
          <p:cNvSpPr txBox="1"/>
          <p:nvPr/>
        </p:nvSpPr>
        <p:spPr>
          <a:xfrm>
            <a:off x="5623560" y="362102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makePayment()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5623560" y="38221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Cash, CreditCard or CheckPayment created; isPaid = true; stock reduced; AccountingRecord queued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INCREMENT 2: DESIGN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Domain model: the classes behind a sale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09/14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" y="960120"/>
            <a:ext cx="1371600" cy="434340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1480" y="960120"/>
            <a:ext cx="137160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11480" y="9601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Register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75488" y="1225296"/>
            <a:ext cx="1280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registerID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411480" y="1828800"/>
            <a:ext cx="1371600" cy="699516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480" y="1828800"/>
            <a:ext cx="137160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1480" y="1828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CashierSession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475488" y="2093976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startTime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endTime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openingCash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11480" y="3063240"/>
            <a:ext cx="1371600" cy="832104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11480" y="3063240"/>
            <a:ext cx="137160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1480" y="30632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Employee</a:t>
            </a:r>
            <a:endParaRPr lang="en-US" sz="850" dirty="0"/>
          </a:p>
        </p:txBody>
      </p:sp>
      <p:sp>
        <p:nvSpPr>
          <p:cNvPr id="37" name="Text 34"/>
          <p:cNvSpPr txBox="1"/>
          <p:nvPr/>
        </p:nvSpPr>
        <p:spPr>
          <a:xfrm>
            <a:off x="475488" y="332841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employeeID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2377440" y="1783080"/>
            <a:ext cx="1508760" cy="832104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377440" y="1783080"/>
            <a:ext cx="1508760" cy="237744"/>
          </a:xfrm>
          <a:prstGeom prst="rect">
            <a:avLst/>
          </a:prstGeom>
          <a:solidFill>
            <a:srgbClr val="2B2F36"/>
          </a:solidFill>
          <a:ln w="11430">
            <a:solidFill>
              <a:srgbClr val="2B2F3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377440" y="1783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FFFFFF"/>
                </a:solidFill>
              </a:rPr>
              <a:t>Transaction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2441448" y="204825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receiptNumber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 · tax · total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isComplete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taxToBeCorrected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77440" y="960120"/>
            <a:ext cx="1508760" cy="434340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77440" y="960120"/>
            <a:ext cx="1508760" cy="237744"/>
          </a:xfrm>
          <a:prstGeom prst="rect">
            <a:avLst/>
          </a:prstGeom>
          <a:solidFill>
            <a:srgbClr val="2B2F36"/>
          </a:solidFill>
          <a:ln w="11430">
            <a:solidFill>
              <a:srgbClr val="2B2F3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377440" y="9601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FFFFFF"/>
                </a:solidFill>
              </a:rPr>
              <a:t>Payment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2441448" y="1225296"/>
            <a:ext cx="141732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· dateTime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4389120" y="1938528"/>
            <a:ext cx="1371600" cy="434340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389120" y="1938528"/>
            <a:ext cx="1371600" cy="237744"/>
          </a:xfrm>
          <a:prstGeom prst="rect">
            <a:avLst/>
          </a:prstGeom>
          <a:solidFill>
            <a:srgbClr val="FF4D2E"/>
          </a:solidFill>
          <a:ln w="11430">
            <a:solidFill>
              <a:srgbClr val="FF4D2E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389120" y="1938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Sale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4453128" y="2203704"/>
            <a:ext cx="1280160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isPaid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389120" y="2926080"/>
            <a:ext cx="1371600" cy="699516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89120" y="2926080"/>
            <a:ext cx="1371600" cy="237744"/>
          </a:xfrm>
          <a:prstGeom prst="rect">
            <a:avLst/>
          </a:prstGeom>
          <a:solidFill>
            <a:srgbClr val="FF4D2E"/>
          </a:solidFill>
          <a:ln w="11430">
            <a:solidFill>
              <a:srgbClr val="FF4D2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389120" y="2926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SaleLineItem</a:t>
            </a:r>
            <a:endParaRPr lang="en-US" sz="850" dirty="0"/>
          </a:p>
        </p:txBody>
      </p:sp>
      <p:sp>
        <p:nvSpPr>
          <p:cNvPr id="53" name="Text 50"/>
          <p:cNvSpPr txBox="1"/>
          <p:nvPr/>
        </p:nvSpPr>
        <p:spPr>
          <a:xfrm>
            <a:off x="4453128" y="3191256"/>
            <a:ext cx="12801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unitPrice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/lineSubtotal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6309360" y="2788920"/>
            <a:ext cx="1508760" cy="832104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309360" y="2788920"/>
            <a:ext cx="150876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309360" y="27889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ProductDescription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6373368" y="305409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itemID · name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stockLevel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reorderThreshold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6309360" y="4069080"/>
            <a:ext cx="1508760" cy="301752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309360" y="4069080"/>
            <a:ext cx="150876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309360" y="4069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ProductCatalog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2011680" y="3246120"/>
            <a:ext cx="109728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011680" y="3246120"/>
            <a:ext cx="109728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011680" y="32461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AccountingRecord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2075688" y="351129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transactionID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650" dirty="0"/>
          </a:p>
        </p:txBody>
      </p:sp>
      <p:sp>
        <p:nvSpPr>
          <p:cNvPr id="65" name="Shape 62"/>
          <p:cNvSpPr/>
          <p:nvPr/>
        </p:nvSpPr>
        <p:spPr>
          <a:xfrm>
            <a:off x="3246120" y="3246120"/>
            <a:ext cx="9144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246120" y="3246120"/>
            <a:ext cx="91440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246120" y="3246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Receipt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3310128" y="3511296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printedAt</a:t>
            </a:r>
            <a:endParaRPr lang="en-US" sz="650" dirty="0"/>
          </a:p>
        </p:txBody>
      </p:sp>
      <p:sp>
        <p:nvSpPr>
          <p:cNvPr id="69" name="Shape 66"/>
          <p:cNvSpPr/>
          <p:nvPr/>
        </p:nvSpPr>
        <p:spPr>
          <a:xfrm>
            <a:off x="3886200" y="1143000"/>
            <a:ext cx="3429000" cy="0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rot="16200000">
            <a:off x="3886200" y="1078992"/>
            <a:ext cx="128016" cy="128016"/>
          </a:xfrm>
          <a:prstGeom prst="triangle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89120" y="914400"/>
            <a:ext cx="13716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389120" y="914400"/>
            <a:ext cx="137160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4389120" y="914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CashPayment</a:t>
            </a:r>
            <a:endParaRPr lang="en-US" sz="850" dirty="0"/>
          </a:p>
        </p:txBody>
      </p:sp>
      <p:sp>
        <p:nvSpPr>
          <p:cNvPr id="74" name="Text 71"/>
          <p:cNvSpPr txBox="1"/>
          <p:nvPr/>
        </p:nvSpPr>
        <p:spPr>
          <a:xfrm>
            <a:off x="4453128" y="117957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amountTendered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changeDue</a:t>
            </a:r>
            <a:endParaRPr lang="en-US" sz="650" dirty="0"/>
          </a:p>
        </p:txBody>
      </p:sp>
      <p:sp>
        <p:nvSpPr>
          <p:cNvPr id="75" name="Shape 72"/>
          <p:cNvSpPr/>
          <p:nvPr/>
        </p:nvSpPr>
        <p:spPr>
          <a:xfrm>
            <a:off x="5852160" y="914400"/>
            <a:ext cx="13716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852160" y="914400"/>
            <a:ext cx="137160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5852160" y="914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CreditCardPayment</a:t>
            </a:r>
            <a:endParaRPr lang="en-US" sz="850" dirty="0"/>
          </a:p>
        </p:txBody>
      </p:sp>
      <p:sp>
        <p:nvSpPr>
          <p:cNvPr id="78" name="Text 75"/>
          <p:cNvSpPr txBox="1"/>
          <p:nvPr/>
        </p:nvSpPr>
        <p:spPr>
          <a:xfrm>
            <a:off x="5916168" y="117957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cardLast4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authorizationCode</a:t>
            </a:r>
            <a:endParaRPr lang="en-US" sz="650" dirty="0"/>
          </a:p>
        </p:txBody>
      </p:sp>
      <p:sp>
        <p:nvSpPr>
          <p:cNvPr id="79" name="Shape 76"/>
          <p:cNvSpPr/>
          <p:nvPr/>
        </p:nvSpPr>
        <p:spPr>
          <a:xfrm>
            <a:off x="7315200" y="914400"/>
            <a:ext cx="1371600" cy="566928"/>
          </a:xfrm>
          <a:prstGeom prst="rect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315200" y="914400"/>
            <a:ext cx="1371600" cy="237744"/>
          </a:xfrm>
          <a:prstGeom prst="rect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315200" y="914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«Could» CheckPayment</a:t>
            </a:r>
            <a:endParaRPr lang="en-US" sz="850" dirty="0"/>
          </a:p>
        </p:txBody>
      </p:sp>
      <p:sp>
        <p:nvSpPr>
          <p:cNvPr id="82" name="Text 79"/>
          <p:cNvSpPr txBox="1"/>
          <p:nvPr/>
        </p:nvSpPr>
        <p:spPr>
          <a:xfrm>
            <a:off x="7379208" y="117957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checkNumber</a:t>
            </a:r>
            <a:endParaRPr lang="en-US" sz="6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50" dirty="0">
                <a:solidFill>
                  <a:srgbClr val="1E21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authorizationCode</a:t>
            </a:r>
            <a:endParaRPr lang="en-US" sz="650" dirty="0"/>
          </a:p>
        </p:txBody>
      </p:sp>
      <p:sp>
        <p:nvSpPr>
          <p:cNvPr id="83" name="Shape 80"/>
          <p:cNvSpPr/>
          <p:nvPr/>
        </p:nvSpPr>
        <p:spPr>
          <a:xfrm>
            <a:off x="1097280" y="1394460"/>
            <a:ext cx="0" cy="434340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1143000" y="140360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85" name="Text 82"/>
          <p:cNvSpPr txBox="1"/>
          <p:nvPr/>
        </p:nvSpPr>
        <p:spPr>
          <a:xfrm>
            <a:off x="1143000" y="1691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650" dirty="0"/>
          </a:p>
        </p:txBody>
      </p:sp>
      <p:sp>
        <p:nvSpPr>
          <p:cNvPr id="86" name="Text 83"/>
          <p:cNvSpPr txBox="1"/>
          <p:nvPr/>
        </p:nvSpPr>
        <p:spPr>
          <a:xfrm>
            <a:off x="457200" y="148590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in ▾</a:t>
            </a:r>
            <a:endParaRPr lang="en-US" sz="650" dirty="0"/>
          </a:p>
        </p:txBody>
      </p:sp>
      <p:sp>
        <p:nvSpPr>
          <p:cNvPr id="87" name="Shape 84"/>
          <p:cNvSpPr/>
          <p:nvPr/>
        </p:nvSpPr>
        <p:spPr>
          <a:xfrm>
            <a:off x="1097280" y="2528316"/>
            <a:ext cx="0" cy="534924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1143000" y="25374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650" dirty="0"/>
          </a:p>
        </p:txBody>
      </p:sp>
      <p:sp>
        <p:nvSpPr>
          <p:cNvPr id="89" name="Text 86"/>
          <p:cNvSpPr txBox="1"/>
          <p:nvPr/>
        </p:nvSpPr>
        <p:spPr>
          <a:xfrm>
            <a:off x="1143000" y="29260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90" name="Text 87"/>
          <p:cNvSpPr txBox="1"/>
          <p:nvPr/>
        </p:nvSpPr>
        <p:spPr>
          <a:xfrm>
            <a:off x="457200" y="263804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opens ▴</a:t>
            </a:r>
            <a:endParaRPr lang="en-US" sz="650" dirty="0"/>
          </a:p>
        </p:txBody>
      </p:sp>
      <p:sp>
        <p:nvSpPr>
          <p:cNvPr id="91" name="Shape 88"/>
          <p:cNvSpPr/>
          <p:nvPr/>
        </p:nvSpPr>
        <p:spPr>
          <a:xfrm>
            <a:off x="1783080" y="2194560"/>
            <a:ext cx="594360" cy="0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1810512" y="20482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93" name="Text 90"/>
          <p:cNvSpPr txBox="1"/>
          <p:nvPr/>
        </p:nvSpPr>
        <p:spPr>
          <a:xfrm>
            <a:off x="2267712" y="20482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650" dirty="0"/>
          </a:p>
        </p:txBody>
      </p:sp>
      <p:sp>
        <p:nvSpPr>
          <p:cNvPr id="94" name="Text 91"/>
          <p:cNvSpPr txBox="1"/>
          <p:nvPr/>
        </p:nvSpPr>
        <p:spPr>
          <a:xfrm>
            <a:off x="1856232" y="221284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</a:t>
            </a:r>
            <a:endParaRPr lang="en-US" sz="650" dirty="0"/>
          </a:p>
        </p:txBody>
      </p:sp>
      <p:sp>
        <p:nvSpPr>
          <p:cNvPr id="95" name="Shape 92"/>
          <p:cNvSpPr/>
          <p:nvPr/>
        </p:nvSpPr>
        <p:spPr>
          <a:xfrm>
            <a:off x="3127248" y="1394460"/>
            <a:ext cx="0" cy="388620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172968" y="163677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97" name="Text 94"/>
          <p:cNvSpPr txBox="1"/>
          <p:nvPr/>
        </p:nvSpPr>
        <p:spPr>
          <a:xfrm>
            <a:off x="3172968" y="140360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650" dirty="0"/>
          </a:p>
        </p:txBody>
      </p:sp>
      <p:sp>
        <p:nvSpPr>
          <p:cNvPr id="98" name="Text 95"/>
          <p:cNvSpPr txBox="1"/>
          <p:nvPr/>
        </p:nvSpPr>
        <p:spPr>
          <a:xfrm>
            <a:off x="2423160" y="1458468"/>
            <a:ext cx="685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paid by</a:t>
            </a:r>
            <a:endParaRPr lang="en-US" sz="650" dirty="0"/>
          </a:p>
        </p:txBody>
      </p:sp>
      <p:sp>
        <p:nvSpPr>
          <p:cNvPr id="99" name="Shape 96"/>
          <p:cNvSpPr/>
          <p:nvPr/>
        </p:nvSpPr>
        <p:spPr>
          <a:xfrm>
            <a:off x="3886200" y="2155698"/>
            <a:ext cx="502920" cy="0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 rot="16200000">
            <a:off x="3886200" y="2091690"/>
            <a:ext cx="128016" cy="128016"/>
          </a:xfrm>
          <a:prstGeom prst="triangle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074920" y="2372868"/>
            <a:ext cx="0" cy="553212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010912" y="2372868"/>
            <a:ext cx="128016" cy="182880"/>
          </a:xfrm>
          <a:prstGeom prst="diamond">
            <a:avLst/>
          </a:prstGeom>
          <a:solidFill>
            <a:srgbClr val="16181D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4937760" y="24003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104" name="Text 101"/>
          <p:cNvSpPr txBox="1"/>
          <p:nvPr/>
        </p:nvSpPr>
        <p:spPr>
          <a:xfrm>
            <a:off x="5120640" y="277977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1..*</a:t>
            </a:r>
            <a:endParaRPr lang="en-US" sz="650" dirty="0"/>
          </a:p>
        </p:txBody>
      </p:sp>
      <p:sp>
        <p:nvSpPr>
          <p:cNvPr id="105" name="Text 102"/>
          <p:cNvSpPr txBox="1"/>
          <p:nvPr/>
        </p:nvSpPr>
        <p:spPr>
          <a:xfrm>
            <a:off x="4434840" y="251002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contains</a:t>
            </a:r>
            <a:endParaRPr lang="en-US" sz="650" dirty="0"/>
          </a:p>
        </p:txBody>
      </p:sp>
      <p:sp>
        <p:nvSpPr>
          <p:cNvPr id="106" name="Shape 103"/>
          <p:cNvSpPr/>
          <p:nvPr/>
        </p:nvSpPr>
        <p:spPr>
          <a:xfrm>
            <a:off x="5760720" y="3200400"/>
            <a:ext cx="548640" cy="0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5788152" y="30540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650" dirty="0"/>
          </a:p>
        </p:txBody>
      </p:sp>
      <p:sp>
        <p:nvSpPr>
          <p:cNvPr id="108" name="Text 105"/>
          <p:cNvSpPr txBox="1"/>
          <p:nvPr/>
        </p:nvSpPr>
        <p:spPr>
          <a:xfrm>
            <a:off x="6199632" y="30540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109" name="Text 106"/>
          <p:cNvSpPr txBox="1"/>
          <p:nvPr/>
        </p:nvSpPr>
        <p:spPr>
          <a:xfrm>
            <a:off x="5797296" y="32186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 of</a:t>
            </a:r>
            <a:endParaRPr lang="en-US" sz="650" dirty="0"/>
          </a:p>
        </p:txBody>
      </p:sp>
      <p:sp>
        <p:nvSpPr>
          <p:cNvPr id="110" name="Shape 107"/>
          <p:cNvSpPr/>
          <p:nvPr/>
        </p:nvSpPr>
        <p:spPr>
          <a:xfrm>
            <a:off x="7059168" y="3621024"/>
            <a:ext cx="0" cy="448056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6995160" y="3886200"/>
            <a:ext cx="128016" cy="182880"/>
          </a:xfrm>
          <a:prstGeom prst="diamond">
            <a:avLst/>
          </a:prstGeom>
          <a:solidFill>
            <a:srgbClr val="FFFFFF"/>
          </a:solidFill>
          <a:ln w="11430">
            <a:solidFill>
              <a:srgbClr val="16181D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7114032" y="363016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650" dirty="0"/>
          </a:p>
        </p:txBody>
      </p:sp>
      <p:sp>
        <p:nvSpPr>
          <p:cNvPr id="113" name="Text 110"/>
          <p:cNvSpPr txBox="1"/>
          <p:nvPr/>
        </p:nvSpPr>
        <p:spPr>
          <a:xfrm>
            <a:off x="6922008" y="39044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114" name="Shape 111"/>
          <p:cNvSpPr/>
          <p:nvPr/>
        </p:nvSpPr>
        <p:spPr>
          <a:xfrm>
            <a:off x="2560320" y="2615184"/>
            <a:ext cx="0" cy="630936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2606040" y="262432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116" name="Text 113"/>
          <p:cNvSpPr txBox="1"/>
          <p:nvPr/>
        </p:nvSpPr>
        <p:spPr>
          <a:xfrm>
            <a:off x="2606040" y="30998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0..1</a:t>
            </a:r>
            <a:endParaRPr lang="en-US" sz="650" dirty="0"/>
          </a:p>
        </p:txBody>
      </p:sp>
      <p:sp>
        <p:nvSpPr>
          <p:cNvPr id="117" name="Shape 114"/>
          <p:cNvSpPr/>
          <p:nvPr/>
        </p:nvSpPr>
        <p:spPr>
          <a:xfrm>
            <a:off x="3657600" y="2615184"/>
            <a:ext cx="0" cy="630936"/>
          </a:xfrm>
          <a:prstGeom prst="line">
            <a:avLst/>
          </a:prstGeom>
          <a:noFill/>
          <a:ln w="11430">
            <a:solidFill>
              <a:srgbClr val="16181D"/>
            </a:solidFill>
            <a:prstDash val="solid"/>
          </a:ln>
        </p:spPr>
      </p:sp>
      <p:sp>
        <p:nvSpPr>
          <p:cNvPr id="118" name="Text 115"/>
          <p:cNvSpPr txBox="1"/>
          <p:nvPr/>
        </p:nvSpPr>
        <p:spPr>
          <a:xfrm>
            <a:off x="3703320" y="262432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119" name="Text 116"/>
          <p:cNvSpPr txBox="1"/>
          <p:nvPr/>
        </p:nvSpPr>
        <p:spPr>
          <a:xfrm>
            <a:off x="3703320" y="309981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650" dirty="0"/>
          </a:p>
        </p:txBody>
      </p:sp>
      <p:sp>
        <p:nvSpPr>
          <p:cNvPr id="120" name="Shape 117"/>
          <p:cNvSpPr/>
          <p:nvPr/>
        </p:nvSpPr>
        <p:spPr>
          <a:xfrm>
            <a:off x="6309360" y="1783080"/>
            <a:ext cx="2423160" cy="822960"/>
          </a:xfrm>
          <a:custGeom>
            <a:avLst/>
            <a:gdLst/>
            <a:ahLst/>
            <a:cxnLst/>
            <a:rect l="l" t="t" r="r" b="b"/>
            <a:pathLst>
              <a:path w="2423160" h="822960">
                <a:moveTo>
                  <a:pt x="0" y="0"/>
                </a:moveTo>
                <a:lnTo>
                  <a:pt x="2423160" y="0"/>
                </a:lnTo>
                <a:lnTo>
                  <a:pt x="2423160" y="768096"/>
                </a:lnTo>
                <a:lnTo>
                  <a:pt x="2351891" y="822960"/>
                </a:lnTo>
                <a:lnTo>
                  <a:pt x="2280621" y="768096"/>
                </a:lnTo>
                <a:lnTo>
                  <a:pt x="2209352" y="822960"/>
                </a:lnTo>
                <a:lnTo>
                  <a:pt x="2138082" y="768096"/>
                </a:lnTo>
                <a:lnTo>
                  <a:pt x="2066813" y="822960"/>
                </a:lnTo>
                <a:lnTo>
                  <a:pt x="1995544" y="768096"/>
                </a:lnTo>
                <a:lnTo>
                  <a:pt x="1924274" y="822960"/>
                </a:lnTo>
                <a:lnTo>
                  <a:pt x="1853005" y="768096"/>
                </a:lnTo>
                <a:lnTo>
                  <a:pt x="1781735" y="822960"/>
                </a:lnTo>
                <a:lnTo>
                  <a:pt x="1710466" y="768096"/>
                </a:lnTo>
                <a:lnTo>
                  <a:pt x="1639196" y="822960"/>
                </a:lnTo>
                <a:lnTo>
                  <a:pt x="1567927" y="768096"/>
                </a:lnTo>
                <a:lnTo>
                  <a:pt x="1496658" y="822960"/>
                </a:lnTo>
                <a:lnTo>
                  <a:pt x="1425388" y="768096"/>
                </a:lnTo>
                <a:lnTo>
                  <a:pt x="1354119" y="822960"/>
                </a:lnTo>
                <a:lnTo>
                  <a:pt x="1282849" y="768096"/>
                </a:lnTo>
                <a:lnTo>
                  <a:pt x="1211580" y="822960"/>
                </a:lnTo>
                <a:lnTo>
                  <a:pt x="1140311" y="768096"/>
                </a:lnTo>
                <a:lnTo>
                  <a:pt x="1069041" y="822960"/>
                </a:lnTo>
                <a:lnTo>
                  <a:pt x="997772" y="768096"/>
                </a:lnTo>
                <a:lnTo>
                  <a:pt x="926502" y="822960"/>
                </a:lnTo>
                <a:lnTo>
                  <a:pt x="855233" y="768096"/>
                </a:lnTo>
                <a:lnTo>
                  <a:pt x="783964" y="822960"/>
                </a:lnTo>
                <a:lnTo>
                  <a:pt x="712694" y="768096"/>
                </a:lnTo>
                <a:lnTo>
                  <a:pt x="641425" y="822960"/>
                </a:lnTo>
                <a:lnTo>
                  <a:pt x="570155" y="768096"/>
                </a:lnTo>
                <a:lnTo>
                  <a:pt x="498886" y="822960"/>
                </a:lnTo>
                <a:lnTo>
                  <a:pt x="427616" y="768096"/>
                </a:lnTo>
                <a:lnTo>
                  <a:pt x="356347" y="822960"/>
                </a:lnTo>
                <a:lnTo>
                  <a:pt x="285078" y="768096"/>
                </a:lnTo>
                <a:lnTo>
                  <a:pt x="213808" y="822960"/>
                </a:lnTo>
                <a:lnTo>
                  <a:pt x="142539" y="768096"/>
                </a:lnTo>
                <a:lnTo>
                  <a:pt x="71269" y="822960"/>
                </a:lnTo>
                <a:lnTo>
                  <a:pt x="0" y="76809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21" name="Text 118"/>
          <p:cNvSpPr txBox="1"/>
          <p:nvPr/>
        </p:nvSpPr>
        <p:spPr>
          <a:xfrm>
            <a:off x="6419088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6181D"/>
                </a:solidFill>
              </a:rPr>
              <a:t>UC1 view · 14 of 23 classes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</a:rPr>
              <a:t>Full model (UC1–UC5, Borja): assets/domain_model.png. Rental, Return, Customer and Item are not shown here.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#01  TECHNICAL PROGRESS / INCREMENT 2: DESIGN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Architecture drivers: what will shape the design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10/14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" y="914400"/>
            <a:ext cx="1947672" cy="50292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27" name="Shape 24"/>
          <p:cNvSpPr/>
          <p:nvPr/>
        </p:nvSpPr>
        <p:spPr>
          <a:xfrm>
            <a:off x="521208" y="1024128"/>
            <a:ext cx="274320" cy="274320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21208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868680" y="9509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Drivers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68680" y="11795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D2E"/>
                </a:solidFill>
              </a:rPr>
              <a:t>W07 · done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2331720" y="9784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F36"/>
                </a:solidFill>
              </a:rPr>
              <a:t>›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2542032" y="914400"/>
            <a:ext cx="1947672" cy="502920"/>
          </a:xfrm>
          <a:custGeom>
            <a:avLst/>
            <a:gdLst/>
            <a:ahLst/>
            <a:cxnLst/>
            <a:rect l="l" t="t" r="r" b="b"/>
            <a:pathLst>
              <a:path w="1947672" h="502920">
                <a:moveTo>
                  <a:pt x="0" y="0"/>
                </a:moveTo>
                <a:lnTo>
                  <a:pt x="1947672" y="0"/>
                </a:lnTo>
                <a:lnTo>
                  <a:pt x="1947672" y="448056"/>
                </a:lnTo>
                <a:lnTo>
                  <a:pt x="1872762" y="502920"/>
                </a:lnTo>
                <a:lnTo>
                  <a:pt x="1797851" y="448056"/>
                </a:lnTo>
                <a:lnTo>
                  <a:pt x="1722941" y="502920"/>
                </a:lnTo>
                <a:lnTo>
                  <a:pt x="1648030" y="448056"/>
                </a:lnTo>
                <a:lnTo>
                  <a:pt x="1573120" y="502920"/>
                </a:lnTo>
                <a:lnTo>
                  <a:pt x="1498209" y="448056"/>
                </a:lnTo>
                <a:lnTo>
                  <a:pt x="1423299" y="502920"/>
                </a:lnTo>
                <a:lnTo>
                  <a:pt x="1348388" y="448056"/>
                </a:lnTo>
                <a:lnTo>
                  <a:pt x="1273478" y="502920"/>
                </a:lnTo>
                <a:lnTo>
                  <a:pt x="1198567" y="448056"/>
                </a:lnTo>
                <a:lnTo>
                  <a:pt x="1123657" y="502920"/>
                </a:lnTo>
                <a:lnTo>
                  <a:pt x="1048746" y="448056"/>
                </a:lnTo>
                <a:lnTo>
                  <a:pt x="973836" y="502920"/>
                </a:lnTo>
                <a:lnTo>
                  <a:pt x="898926" y="448056"/>
                </a:lnTo>
                <a:lnTo>
                  <a:pt x="824015" y="502920"/>
                </a:lnTo>
                <a:lnTo>
                  <a:pt x="749105" y="448056"/>
                </a:lnTo>
                <a:lnTo>
                  <a:pt x="674194" y="502920"/>
                </a:lnTo>
                <a:lnTo>
                  <a:pt x="599284" y="448056"/>
                </a:lnTo>
                <a:lnTo>
                  <a:pt x="524373" y="502920"/>
                </a:lnTo>
                <a:lnTo>
                  <a:pt x="449463" y="448056"/>
                </a:lnTo>
                <a:lnTo>
                  <a:pt x="374552" y="502920"/>
                </a:lnTo>
                <a:lnTo>
                  <a:pt x="299642" y="448056"/>
                </a:lnTo>
                <a:lnTo>
                  <a:pt x="224731" y="502920"/>
                </a:lnTo>
                <a:lnTo>
                  <a:pt x="149821" y="448056"/>
                </a:lnTo>
                <a:lnTo>
                  <a:pt x="74910" y="502920"/>
                </a:lnTo>
                <a:lnTo>
                  <a:pt x="0" y="4480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2651760" y="1024128"/>
            <a:ext cx="274320" cy="27432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2651760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2"/>
          <p:cNvSpPr txBox="1"/>
          <p:nvPr/>
        </p:nvSpPr>
        <p:spPr>
          <a:xfrm>
            <a:off x="2999232" y="9509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System interfaces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2999232" y="11795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W08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462272" y="9784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F36"/>
                </a:solidFill>
              </a:rPr>
              <a:t>›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672584" y="914400"/>
            <a:ext cx="1947672" cy="502920"/>
          </a:xfrm>
          <a:custGeom>
            <a:avLst/>
            <a:gdLst/>
            <a:ahLst/>
            <a:cxnLst/>
            <a:rect l="l" t="t" r="r" b="b"/>
            <a:pathLst>
              <a:path w="1947672" h="502920">
                <a:moveTo>
                  <a:pt x="0" y="0"/>
                </a:moveTo>
                <a:lnTo>
                  <a:pt x="1947672" y="0"/>
                </a:lnTo>
                <a:lnTo>
                  <a:pt x="1947672" y="448056"/>
                </a:lnTo>
                <a:lnTo>
                  <a:pt x="1872762" y="502920"/>
                </a:lnTo>
                <a:lnTo>
                  <a:pt x="1797851" y="448056"/>
                </a:lnTo>
                <a:lnTo>
                  <a:pt x="1722941" y="502920"/>
                </a:lnTo>
                <a:lnTo>
                  <a:pt x="1648030" y="448056"/>
                </a:lnTo>
                <a:lnTo>
                  <a:pt x="1573120" y="502920"/>
                </a:lnTo>
                <a:lnTo>
                  <a:pt x="1498209" y="448056"/>
                </a:lnTo>
                <a:lnTo>
                  <a:pt x="1423299" y="502920"/>
                </a:lnTo>
                <a:lnTo>
                  <a:pt x="1348388" y="448056"/>
                </a:lnTo>
                <a:lnTo>
                  <a:pt x="1273478" y="502920"/>
                </a:lnTo>
                <a:lnTo>
                  <a:pt x="1198567" y="448056"/>
                </a:lnTo>
                <a:lnTo>
                  <a:pt x="1123657" y="502920"/>
                </a:lnTo>
                <a:lnTo>
                  <a:pt x="1048746" y="448056"/>
                </a:lnTo>
                <a:lnTo>
                  <a:pt x="973836" y="502920"/>
                </a:lnTo>
                <a:lnTo>
                  <a:pt x="898926" y="448056"/>
                </a:lnTo>
                <a:lnTo>
                  <a:pt x="824015" y="502920"/>
                </a:lnTo>
                <a:lnTo>
                  <a:pt x="749105" y="448056"/>
                </a:lnTo>
                <a:lnTo>
                  <a:pt x="674194" y="502920"/>
                </a:lnTo>
                <a:lnTo>
                  <a:pt x="599284" y="448056"/>
                </a:lnTo>
                <a:lnTo>
                  <a:pt x="524373" y="502920"/>
                </a:lnTo>
                <a:lnTo>
                  <a:pt x="449463" y="448056"/>
                </a:lnTo>
                <a:lnTo>
                  <a:pt x="374552" y="502920"/>
                </a:lnTo>
                <a:lnTo>
                  <a:pt x="299642" y="448056"/>
                </a:lnTo>
                <a:lnTo>
                  <a:pt x="224731" y="502920"/>
                </a:lnTo>
                <a:lnTo>
                  <a:pt x="149821" y="448056"/>
                </a:lnTo>
                <a:lnTo>
                  <a:pt x="74910" y="502920"/>
                </a:lnTo>
                <a:lnTo>
                  <a:pt x="0" y="4480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782312" y="1024128"/>
            <a:ext cx="274320" cy="27432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4782312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Text 38"/>
          <p:cNvSpPr txBox="1"/>
          <p:nvPr/>
        </p:nvSpPr>
        <p:spPr>
          <a:xfrm>
            <a:off x="5129784" y="9509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Structure &amp; style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5129784" y="11795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W09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6592824" y="97840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2F36"/>
                </a:solidFill>
              </a:rPr>
              <a:t>›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803136" y="914400"/>
            <a:ext cx="1947672" cy="502920"/>
          </a:xfrm>
          <a:custGeom>
            <a:avLst/>
            <a:gdLst/>
            <a:ahLst/>
            <a:cxnLst/>
            <a:rect l="l" t="t" r="r" b="b"/>
            <a:pathLst>
              <a:path w="1947672" h="502920">
                <a:moveTo>
                  <a:pt x="0" y="0"/>
                </a:moveTo>
                <a:lnTo>
                  <a:pt x="1947672" y="0"/>
                </a:lnTo>
                <a:lnTo>
                  <a:pt x="1947672" y="448056"/>
                </a:lnTo>
                <a:lnTo>
                  <a:pt x="1872762" y="502920"/>
                </a:lnTo>
                <a:lnTo>
                  <a:pt x="1797851" y="448056"/>
                </a:lnTo>
                <a:lnTo>
                  <a:pt x="1722941" y="502920"/>
                </a:lnTo>
                <a:lnTo>
                  <a:pt x="1648030" y="448056"/>
                </a:lnTo>
                <a:lnTo>
                  <a:pt x="1573120" y="502920"/>
                </a:lnTo>
                <a:lnTo>
                  <a:pt x="1498209" y="448056"/>
                </a:lnTo>
                <a:lnTo>
                  <a:pt x="1423299" y="502920"/>
                </a:lnTo>
                <a:lnTo>
                  <a:pt x="1348388" y="448056"/>
                </a:lnTo>
                <a:lnTo>
                  <a:pt x="1273478" y="502920"/>
                </a:lnTo>
                <a:lnTo>
                  <a:pt x="1198567" y="448056"/>
                </a:lnTo>
                <a:lnTo>
                  <a:pt x="1123657" y="502920"/>
                </a:lnTo>
                <a:lnTo>
                  <a:pt x="1048746" y="448056"/>
                </a:lnTo>
                <a:lnTo>
                  <a:pt x="973836" y="502920"/>
                </a:lnTo>
                <a:lnTo>
                  <a:pt x="898926" y="448056"/>
                </a:lnTo>
                <a:lnTo>
                  <a:pt x="824015" y="502920"/>
                </a:lnTo>
                <a:lnTo>
                  <a:pt x="749105" y="448056"/>
                </a:lnTo>
                <a:lnTo>
                  <a:pt x="674194" y="502920"/>
                </a:lnTo>
                <a:lnTo>
                  <a:pt x="599284" y="448056"/>
                </a:lnTo>
                <a:lnTo>
                  <a:pt x="524373" y="502920"/>
                </a:lnTo>
                <a:lnTo>
                  <a:pt x="449463" y="448056"/>
                </a:lnTo>
                <a:lnTo>
                  <a:pt x="374552" y="502920"/>
                </a:lnTo>
                <a:lnTo>
                  <a:pt x="299642" y="448056"/>
                </a:lnTo>
                <a:lnTo>
                  <a:pt x="224731" y="502920"/>
                </a:lnTo>
                <a:lnTo>
                  <a:pt x="149821" y="448056"/>
                </a:lnTo>
                <a:lnTo>
                  <a:pt x="74910" y="502920"/>
                </a:lnTo>
                <a:lnTo>
                  <a:pt x="0" y="44805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912864" y="1024128"/>
            <a:ext cx="274320" cy="27432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912864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7260336" y="950976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Design milestone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260336" y="117957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W11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411480" y="16002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F36"/>
                </a:solidFill>
              </a:rPr>
              <a:t>Priority quality drivers (importance, difficulty)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11480" y="1856232"/>
            <a:ext cx="4937760" cy="384048"/>
          </a:xfrm>
          <a:custGeom>
            <a:avLst/>
            <a:gdLst/>
            <a:ahLst/>
            <a:cxnLst/>
            <a:rect l="l" t="t" r="r" b="b"/>
            <a:pathLst>
              <a:path w="4937760" h="384048">
                <a:moveTo>
                  <a:pt x="0" y="0"/>
                </a:moveTo>
                <a:lnTo>
                  <a:pt x="4937760" y="0"/>
                </a:lnTo>
                <a:lnTo>
                  <a:pt x="4937760" y="329184"/>
                </a:lnTo>
                <a:lnTo>
                  <a:pt x="4865146" y="384048"/>
                </a:lnTo>
                <a:lnTo>
                  <a:pt x="4792532" y="329184"/>
                </a:lnTo>
                <a:lnTo>
                  <a:pt x="4719918" y="384048"/>
                </a:lnTo>
                <a:lnTo>
                  <a:pt x="4647304" y="329184"/>
                </a:lnTo>
                <a:lnTo>
                  <a:pt x="4574689" y="384048"/>
                </a:lnTo>
                <a:lnTo>
                  <a:pt x="4502075" y="329184"/>
                </a:lnTo>
                <a:lnTo>
                  <a:pt x="4429461" y="384048"/>
                </a:lnTo>
                <a:lnTo>
                  <a:pt x="4356847" y="329184"/>
                </a:lnTo>
                <a:lnTo>
                  <a:pt x="4284233" y="384048"/>
                </a:lnTo>
                <a:lnTo>
                  <a:pt x="4211619" y="329184"/>
                </a:lnTo>
                <a:lnTo>
                  <a:pt x="4139005" y="384048"/>
                </a:lnTo>
                <a:lnTo>
                  <a:pt x="4066391" y="329184"/>
                </a:lnTo>
                <a:lnTo>
                  <a:pt x="3993776" y="384048"/>
                </a:lnTo>
                <a:lnTo>
                  <a:pt x="3921162" y="329184"/>
                </a:lnTo>
                <a:lnTo>
                  <a:pt x="3848548" y="384048"/>
                </a:lnTo>
                <a:lnTo>
                  <a:pt x="3775934" y="329184"/>
                </a:lnTo>
                <a:lnTo>
                  <a:pt x="3703320" y="384048"/>
                </a:lnTo>
                <a:lnTo>
                  <a:pt x="3630706" y="329184"/>
                </a:lnTo>
                <a:lnTo>
                  <a:pt x="3558092" y="384048"/>
                </a:lnTo>
                <a:lnTo>
                  <a:pt x="3485478" y="329184"/>
                </a:lnTo>
                <a:lnTo>
                  <a:pt x="3412864" y="384048"/>
                </a:lnTo>
                <a:lnTo>
                  <a:pt x="3340249" y="329184"/>
                </a:lnTo>
                <a:lnTo>
                  <a:pt x="3267635" y="384048"/>
                </a:lnTo>
                <a:lnTo>
                  <a:pt x="3195021" y="329184"/>
                </a:lnTo>
                <a:lnTo>
                  <a:pt x="3122407" y="384048"/>
                </a:lnTo>
                <a:lnTo>
                  <a:pt x="3049793" y="329184"/>
                </a:lnTo>
                <a:lnTo>
                  <a:pt x="2977179" y="384048"/>
                </a:lnTo>
                <a:lnTo>
                  <a:pt x="2904565" y="329184"/>
                </a:lnTo>
                <a:lnTo>
                  <a:pt x="2831951" y="384048"/>
                </a:lnTo>
                <a:lnTo>
                  <a:pt x="2759336" y="329184"/>
                </a:lnTo>
                <a:lnTo>
                  <a:pt x="2686722" y="384048"/>
                </a:lnTo>
                <a:lnTo>
                  <a:pt x="2614108" y="329184"/>
                </a:lnTo>
                <a:lnTo>
                  <a:pt x="2541494" y="384048"/>
                </a:lnTo>
                <a:lnTo>
                  <a:pt x="2468880" y="329184"/>
                </a:lnTo>
                <a:lnTo>
                  <a:pt x="2396266" y="384048"/>
                </a:lnTo>
                <a:lnTo>
                  <a:pt x="2323652" y="329184"/>
                </a:lnTo>
                <a:lnTo>
                  <a:pt x="2251038" y="384048"/>
                </a:lnTo>
                <a:lnTo>
                  <a:pt x="2178424" y="329184"/>
                </a:lnTo>
                <a:lnTo>
                  <a:pt x="2105809" y="384048"/>
                </a:lnTo>
                <a:lnTo>
                  <a:pt x="2033195" y="329184"/>
                </a:lnTo>
                <a:lnTo>
                  <a:pt x="1960581" y="384048"/>
                </a:lnTo>
                <a:lnTo>
                  <a:pt x="1887967" y="329184"/>
                </a:lnTo>
                <a:lnTo>
                  <a:pt x="1815353" y="384048"/>
                </a:lnTo>
                <a:lnTo>
                  <a:pt x="1742739" y="329184"/>
                </a:lnTo>
                <a:lnTo>
                  <a:pt x="1670125" y="384048"/>
                </a:lnTo>
                <a:lnTo>
                  <a:pt x="1597511" y="329184"/>
                </a:lnTo>
                <a:lnTo>
                  <a:pt x="1524896" y="384048"/>
                </a:lnTo>
                <a:lnTo>
                  <a:pt x="1452282" y="329184"/>
                </a:lnTo>
                <a:lnTo>
                  <a:pt x="1379668" y="384048"/>
                </a:lnTo>
                <a:lnTo>
                  <a:pt x="1307054" y="329184"/>
                </a:lnTo>
                <a:lnTo>
                  <a:pt x="1234440" y="384048"/>
                </a:lnTo>
                <a:lnTo>
                  <a:pt x="1161826" y="329184"/>
                </a:lnTo>
                <a:lnTo>
                  <a:pt x="1089212" y="384048"/>
                </a:lnTo>
                <a:lnTo>
                  <a:pt x="1016598" y="329184"/>
                </a:lnTo>
                <a:lnTo>
                  <a:pt x="943984" y="384048"/>
                </a:lnTo>
                <a:lnTo>
                  <a:pt x="871369" y="329184"/>
                </a:lnTo>
                <a:lnTo>
                  <a:pt x="798755" y="384048"/>
                </a:lnTo>
                <a:lnTo>
                  <a:pt x="726141" y="329184"/>
                </a:lnTo>
                <a:lnTo>
                  <a:pt x="653527" y="384048"/>
                </a:lnTo>
                <a:lnTo>
                  <a:pt x="580913" y="329184"/>
                </a:lnTo>
                <a:lnTo>
                  <a:pt x="508299" y="384048"/>
                </a:lnTo>
                <a:lnTo>
                  <a:pt x="435685" y="329184"/>
                </a:lnTo>
                <a:lnTo>
                  <a:pt x="363071" y="384048"/>
                </a:lnTo>
                <a:lnTo>
                  <a:pt x="290456" y="329184"/>
                </a:lnTo>
                <a:lnTo>
                  <a:pt x="217842" y="384048"/>
                </a:lnTo>
                <a:lnTo>
                  <a:pt x="145228" y="329184"/>
                </a:lnTo>
                <a:lnTo>
                  <a:pt x="72614" y="384048"/>
                </a:lnTo>
                <a:lnTo>
                  <a:pt x="0" y="329184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502920" y="18562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F36"/>
                </a:solidFill>
              </a:rPr>
              <a:t>QA-04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1234440" y="18562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</a:rPr>
              <a:t>Offline operation: a sale survives a network drop, no lost or duplicated records</a:t>
            </a:r>
            <a:endParaRPr lang="en-US" sz="850" dirty="0"/>
          </a:p>
        </p:txBody>
      </p:sp>
      <p:sp>
        <p:nvSpPr>
          <p:cNvPr id="53" name="Text 50"/>
          <p:cNvSpPr txBox="1"/>
          <p:nvPr/>
        </p:nvSpPr>
        <p:spPr>
          <a:xfrm>
            <a:off x="4681728" y="1938528"/>
            <a:ext cx="566928" cy="219456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H, H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11480" y="2313432"/>
            <a:ext cx="4937760" cy="384048"/>
          </a:xfrm>
          <a:custGeom>
            <a:avLst/>
            <a:gdLst/>
            <a:ahLst/>
            <a:cxnLst/>
            <a:rect l="l" t="t" r="r" b="b"/>
            <a:pathLst>
              <a:path w="4937760" h="384048">
                <a:moveTo>
                  <a:pt x="0" y="0"/>
                </a:moveTo>
                <a:lnTo>
                  <a:pt x="4937760" y="0"/>
                </a:lnTo>
                <a:lnTo>
                  <a:pt x="4937760" y="329184"/>
                </a:lnTo>
                <a:lnTo>
                  <a:pt x="4865146" y="384048"/>
                </a:lnTo>
                <a:lnTo>
                  <a:pt x="4792532" y="329184"/>
                </a:lnTo>
                <a:lnTo>
                  <a:pt x="4719918" y="384048"/>
                </a:lnTo>
                <a:lnTo>
                  <a:pt x="4647304" y="329184"/>
                </a:lnTo>
                <a:lnTo>
                  <a:pt x="4574689" y="384048"/>
                </a:lnTo>
                <a:lnTo>
                  <a:pt x="4502075" y="329184"/>
                </a:lnTo>
                <a:lnTo>
                  <a:pt x="4429461" y="384048"/>
                </a:lnTo>
                <a:lnTo>
                  <a:pt x="4356847" y="329184"/>
                </a:lnTo>
                <a:lnTo>
                  <a:pt x="4284233" y="384048"/>
                </a:lnTo>
                <a:lnTo>
                  <a:pt x="4211619" y="329184"/>
                </a:lnTo>
                <a:lnTo>
                  <a:pt x="4139005" y="384048"/>
                </a:lnTo>
                <a:lnTo>
                  <a:pt x="4066391" y="329184"/>
                </a:lnTo>
                <a:lnTo>
                  <a:pt x="3993776" y="384048"/>
                </a:lnTo>
                <a:lnTo>
                  <a:pt x="3921162" y="329184"/>
                </a:lnTo>
                <a:lnTo>
                  <a:pt x="3848548" y="384048"/>
                </a:lnTo>
                <a:lnTo>
                  <a:pt x="3775934" y="329184"/>
                </a:lnTo>
                <a:lnTo>
                  <a:pt x="3703320" y="384048"/>
                </a:lnTo>
                <a:lnTo>
                  <a:pt x="3630706" y="329184"/>
                </a:lnTo>
                <a:lnTo>
                  <a:pt x="3558092" y="384048"/>
                </a:lnTo>
                <a:lnTo>
                  <a:pt x="3485478" y="329184"/>
                </a:lnTo>
                <a:lnTo>
                  <a:pt x="3412864" y="384048"/>
                </a:lnTo>
                <a:lnTo>
                  <a:pt x="3340249" y="329184"/>
                </a:lnTo>
                <a:lnTo>
                  <a:pt x="3267635" y="384048"/>
                </a:lnTo>
                <a:lnTo>
                  <a:pt x="3195021" y="329184"/>
                </a:lnTo>
                <a:lnTo>
                  <a:pt x="3122407" y="384048"/>
                </a:lnTo>
                <a:lnTo>
                  <a:pt x="3049793" y="329184"/>
                </a:lnTo>
                <a:lnTo>
                  <a:pt x="2977179" y="384048"/>
                </a:lnTo>
                <a:lnTo>
                  <a:pt x="2904565" y="329184"/>
                </a:lnTo>
                <a:lnTo>
                  <a:pt x="2831951" y="384048"/>
                </a:lnTo>
                <a:lnTo>
                  <a:pt x="2759336" y="329184"/>
                </a:lnTo>
                <a:lnTo>
                  <a:pt x="2686722" y="384048"/>
                </a:lnTo>
                <a:lnTo>
                  <a:pt x="2614108" y="329184"/>
                </a:lnTo>
                <a:lnTo>
                  <a:pt x="2541494" y="384048"/>
                </a:lnTo>
                <a:lnTo>
                  <a:pt x="2468880" y="329184"/>
                </a:lnTo>
                <a:lnTo>
                  <a:pt x="2396266" y="384048"/>
                </a:lnTo>
                <a:lnTo>
                  <a:pt x="2323652" y="329184"/>
                </a:lnTo>
                <a:lnTo>
                  <a:pt x="2251038" y="384048"/>
                </a:lnTo>
                <a:lnTo>
                  <a:pt x="2178424" y="329184"/>
                </a:lnTo>
                <a:lnTo>
                  <a:pt x="2105809" y="384048"/>
                </a:lnTo>
                <a:lnTo>
                  <a:pt x="2033195" y="329184"/>
                </a:lnTo>
                <a:lnTo>
                  <a:pt x="1960581" y="384048"/>
                </a:lnTo>
                <a:lnTo>
                  <a:pt x="1887967" y="329184"/>
                </a:lnTo>
                <a:lnTo>
                  <a:pt x="1815353" y="384048"/>
                </a:lnTo>
                <a:lnTo>
                  <a:pt x="1742739" y="329184"/>
                </a:lnTo>
                <a:lnTo>
                  <a:pt x="1670125" y="384048"/>
                </a:lnTo>
                <a:lnTo>
                  <a:pt x="1597511" y="329184"/>
                </a:lnTo>
                <a:lnTo>
                  <a:pt x="1524896" y="384048"/>
                </a:lnTo>
                <a:lnTo>
                  <a:pt x="1452282" y="329184"/>
                </a:lnTo>
                <a:lnTo>
                  <a:pt x="1379668" y="384048"/>
                </a:lnTo>
                <a:lnTo>
                  <a:pt x="1307054" y="329184"/>
                </a:lnTo>
                <a:lnTo>
                  <a:pt x="1234440" y="384048"/>
                </a:lnTo>
                <a:lnTo>
                  <a:pt x="1161826" y="329184"/>
                </a:lnTo>
                <a:lnTo>
                  <a:pt x="1089212" y="384048"/>
                </a:lnTo>
                <a:lnTo>
                  <a:pt x="1016598" y="329184"/>
                </a:lnTo>
                <a:lnTo>
                  <a:pt x="943984" y="384048"/>
                </a:lnTo>
                <a:lnTo>
                  <a:pt x="871369" y="329184"/>
                </a:lnTo>
                <a:lnTo>
                  <a:pt x="798755" y="384048"/>
                </a:lnTo>
                <a:lnTo>
                  <a:pt x="726141" y="329184"/>
                </a:lnTo>
                <a:lnTo>
                  <a:pt x="653527" y="384048"/>
                </a:lnTo>
                <a:lnTo>
                  <a:pt x="580913" y="329184"/>
                </a:lnTo>
                <a:lnTo>
                  <a:pt x="508299" y="384048"/>
                </a:lnTo>
                <a:lnTo>
                  <a:pt x="435685" y="329184"/>
                </a:lnTo>
                <a:lnTo>
                  <a:pt x="363071" y="384048"/>
                </a:lnTo>
                <a:lnTo>
                  <a:pt x="290456" y="329184"/>
                </a:lnTo>
                <a:lnTo>
                  <a:pt x="217842" y="384048"/>
                </a:lnTo>
                <a:lnTo>
                  <a:pt x="145228" y="329184"/>
                </a:lnTo>
                <a:lnTo>
                  <a:pt x="72614" y="384048"/>
                </a:lnTo>
                <a:lnTo>
                  <a:pt x="0" y="329184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5" name="Text 52"/>
          <p:cNvSpPr txBox="1"/>
          <p:nvPr/>
        </p:nvSpPr>
        <p:spPr>
          <a:xfrm>
            <a:off x="502920" y="23134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F36"/>
                </a:solidFill>
              </a:rPr>
              <a:t>QA-03</a:t>
            </a:r>
            <a:endParaRPr lang="en-US" sz="850" dirty="0"/>
          </a:p>
        </p:txBody>
      </p:sp>
      <p:sp>
        <p:nvSpPr>
          <p:cNvPr id="56" name="Text 53"/>
          <p:cNvSpPr txBox="1"/>
          <p:nvPr/>
        </p:nvSpPr>
        <p:spPr>
          <a:xfrm>
            <a:off x="1234440" y="23134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</a:rPr>
              <a:t>Availability 99.9 % during store hours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4681728" y="2395728"/>
            <a:ext cx="566928" cy="219456"/>
          </a:xfrm>
          <a:prstGeom prst="rect">
            <a:avLst/>
          </a:prstGeom>
          <a:solidFill>
            <a:srgbClr val="FF4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H, H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411480" y="2770632"/>
            <a:ext cx="4937760" cy="384048"/>
          </a:xfrm>
          <a:custGeom>
            <a:avLst/>
            <a:gdLst/>
            <a:ahLst/>
            <a:cxnLst/>
            <a:rect l="l" t="t" r="r" b="b"/>
            <a:pathLst>
              <a:path w="4937760" h="384048">
                <a:moveTo>
                  <a:pt x="0" y="0"/>
                </a:moveTo>
                <a:lnTo>
                  <a:pt x="4937760" y="0"/>
                </a:lnTo>
                <a:lnTo>
                  <a:pt x="4937760" y="329184"/>
                </a:lnTo>
                <a:lnTo>
                  <a:pt x="4865146" y="384048"/>
                </a:lnTo>
                <a:lnTo>
                  <a:pt x="4792532" y="329184"/>
                </a:lnTo>
                <a:lnTo>
                  <a:pt x="4719918" y="384048"/>
                </a:lnTo>
                <a:lnTo>
                  <a:pt x="4647304" y="329184"/>
                </a:lnTo>
                <a:lnTo>
                  <a:pt x="4574689" y="384048"/>
                </a:lnTo>
                <a:lnTo>
                  <a:pt x="4502075" y="329184"/>
                </a:lnTo>
                <a:lnTo>
                  <a:pt x="4429461" y="384048"/>
                </a:lnTo>
                <a:lnTo>
                  <a:pt x="4356847" y="329184"/>
                </a:lnTo>
                <a:lnTo>
                  <a:pt x="4284233" y="384048"/>
                </a:lnTo>
                <a:lnTo>
                  <a:pt x="4211619" y="329184"/>
                </a:lnTo>
                <a:lnTo>
                  <a:pt x="4139005" y="384048"/>
                </a:lnTo>
                <a:lnTo>
                  <a:pt x="4066391" y="329184"/>
                </a:lnTo>
                <a:lnTo>
                  <a:pt x="3993776" y="384048"/>
                </a:lnTo>
                <a:lnTo>
                  <a:pt x="3921162" y="329184"/>
                </a:lnTo>
                <a:lnTo>
                  <a:pt x="3848548" y="384048"/>
                </a:lnTo>
                <a:lnTo>
                  <a:pt x="3775934" y="329184"/>
                </a:lnTo>
                <a:lnTo>
                  <a:pt x="3703320" y="384048"/>
                </a:lnTo>
                <a:lnTo>
                  <a:pt x="3630706" y="329184"/>
                </a:lnTo>
                <a:lnTo>
                  <a:pt x="3558092" y="384048"/>
                </a:lnTo>
                <a:lnTo>
                  <a:pt x="3485478" y="329184"/>
                </a:lnTo>
                <a:lnTo>
                  <a:pt x="3412864" y="384048"/>
                </a:lnTo>
                <a:lnTo>
                  <a:pt x="3340249" y="329184"/>
                </a:lnTo>
                <a:lnTo>
                  <a:pt x="3267635" y="384048"/>
                </a:lnTo>
                <a:lnTo>
                  <a:pt x="3195021" y="329184"/>
                </a:lnTo>
                <a:lnTo>
                  <a:pt x="3122407" y="384048"/>
                </a:lnTo>
                <a:lnTo>
                  <a:pt x="3049793" y="329184"/>
                </a:lnTo>
                <a:lnTo>
                  <a:pt x="2977179" y="384048"/>
                </a:lnTo>
                <a:lnTo>
                  <a:pt x="2904565" y="329184"/>
                </a:lnTo>
                <a:lnTo>
                  <a:pt x="2831951" y="384048"/>
                </a:lnTo>
                <a:lnTo>
                  <a:pt x="2759336" y="329184"/>
                </a:lnTo>
                <a:lnTo>
                  <a:pt x="2686722" y="384048"/>
                </a:lnTo>
                <a:lnTo>
                  <a:pt x="2614108" y="329184"/>
                </a:lnTo>
                <a:lnTo>
                  <a:pt x="2541494" y="384048"/>
                </a:lnTo>
                <a:lnTo>
                  <a:pt x="2468880" y="329184"/>
                </a:lnTo>
                <a:lnTo>
                  <a:pt x="2396266" y="384048"/>
                </a:lnTo>
                <a:lnTo>
                  <a:pt x="2323652" y="329184"/>
                </a:lnTo>
                <a:lnTo>
                  <a:pt x="2251038" y="384048"/>
                </a:lnTo>
                <a:lnTo>
                  <a:pt x="2178424" y="329184"/>
                </a:lnTo>
                <a:lnTo>
                  <a:pt x="2105809" y="384048"/>
                </a:lnTo>
                <a:lnTo>
                  <a:pt x="2033195" y="329184"/>
                </a:lnTo>
                <a:lnTo>
                  <a:pt x="1960581" y="384048"/>
                </a:lnTo>
                <a:lnTo>
                  <a:pt x="1887967" y="329184"/>
                </a:lnTo>
                <a:lnTo>
                  <a:pt x="1815353" y="384048"/>
                </a:lnTo>
                <a:lnTo>
                  <a:pt x="1742739" y="329184"/>
                </a:lnTo>
                <a:lnTo>
                  <a:pt x="1670125" y="384048"/>
                </a:lnTo>
                <a:lnTo>
                  <a:pt x="1597511" y="329184"/>
                </a:lnTo>
                <a:lnTo>
                  <a:pt x="1524896" y="384048"/>
                </a:lnTo>
                <a:lnTo>
                  <a:pt x="1452282" y="329184"/>
                </a:lnTo>
                <a:lnTo>
                  <a:pt x="1379668" y="384048"/>
                </a:lnTo>
                <a:lnTo>
                  <a:pt x="1307054" y="329184"/>
                </a:lnTo>
                <a:lnTo>
                  <a:pt x="1234440" y="384048"/>
                </a:lnTo>
                <a:lnTo>
                  <a:pt x="1161826" y="329184"/>
                </a:lnTo>
                <a:lnTo>
                  <a:pt x="1089212" y="384048"/>
                </a:lnTo>
                <a:lnTo>
                  <a:pt x="1016598" y="329184"/>
                </a:lnTo>
                <a:lnTo>
                  <a:pt x="943984" y="384048"/>
                </a:lnTo>
                <a:lnTo>
                  <a:pt x="871369" y="329184"/>
                </a:lnTo>
                <a:lnTo>
                  <a:pt x="798755" y="384048"/>
                </a:lnTo>
                <a:lnTo>
                  <a:pt x="726141" y="329184"/>
                </a:lnTo>
                <a:lnTo>
                  <a:pt x="653527" y="384048"/>
                </a:lnTo>
                <a:lnTo>
                  <a:pt x="580913" y="329184"/>
                </a:lnTo>
                <a:lnTo>
                  <a:pt x="508299" y="384048"/>
                </a:lnTo>
                <a:lnTo>
                  <a:pt x="435685" y="329184"/>
                </a:lnTo>
                <a:lnTo>
                  <a:pt x="363071" y="384048"/>
                </a:lnTo>
                <a:lnTo>
                  <a:pt x="290456" y="329184"/>
                </a:lnTo>
                <a:lnTo>
                  <a:pt x="217842" y="384048"/>
                </a:lnTo>
                <a:lnTo>
                  <a:pt x="145228" y="329184"/>
                </a:lnTo>
                <a:lnTo>
                  <a:pt x="72614" y="384048"/>
                </a:lnTo>
                <a:lnTo>
                  <a:pt x="0" y="329184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9" name="Text 56"/>
          <p:cNvSpPr txBox="1"/>
          <p:nvPr/>
        </p:nvSpPr>
        <p:spPr>
          <a:xfrm>
            <a:off x="502920" y="27706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F36"/>
                </a:solidFill>
              </a:rPr>
              <a:t>QA-01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1234440" y="27706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</a:rPr>
              <a:t>Line item in &lt; 1 s: no external call while scanning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4681728" y="2852928"/>
            <a:ext cx="566928" cy="219456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H, M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411480" y="3227832"/>
            <a:ext cx="4937760" cy="384048"/>
          </a:xfrm>
          <a:custGeom>
            <a:avLst/>
            <a:gdLst/>
            <a:ahLst/>
            <a:cxnLst/>
            <a:rect l="l" t="t" r="r" b="b"/>
            <a:pathLst>
              <a:path w="4937760" h="384048">
                <a:moveTo>
                  <a:pt x="0" y="0"/>
                </a:moveTo>
                <a:lnTo>
                  <a:pt x="4937760" y="0"/>
                </a:lnTo>
                <a:lnTo>
                  <a:pt x="4937760" y="329184"/>
                </a:lnTo>
                <a:lnTo>
                  <a:pt x="4865146" y="384048"/>
                </a:lnTo>
                <a:lnTo>
                  <a:pt x="4792532" y="329184"/>
                </a:lnTo>
                <a:lnTo>
                  <a:pt x="4719918" y="384048"/>
                </a:lnTo>
                <a:lnTo>
                  <a:pt x="4647304" y="329184"/>
                </a:lnTo>
                <a:lnTo>
                  <a:pt x="4574689" y="384048"/>
                </a:lnTo>
                <a:lnTo>
                  <a:pt x="4502075" y="329184"/>
                </a:lnTo>
                <a:lnTo>
                  <a:pt x="4429461" y="384048"/>
                </a:lnTo>
                <a:lnTo>
                  <a:pt x="4356847" y="329184"/>
                </a:lnTo>
                <a:lnTo>
                  <a:pt x="4284233" y="384048"/>
                </a:lnTo>
                <a:lnTo>
                  <a:pt x="4211619" y="329184"/>
                </a:lnTo>
                <a:lnTo>
                  <a:pt x="4139005" y="384048"/>
                </a:lnTo>
                <a:lnTo>
                  <a:pt x="4066391" y="329184"/>
                </a:lnTo>
                <a:lnTo>
                  <a:pt x="3993776" y="384048"/>
                </a:lnTo>
                <a:lnTo>
                  <a:pt x="3921162" y="329184"/>
                </a:lnTo>
                <a:lnTo>
                  <a:pt x="3848548" y="384048"/>
                </a:lnTo>
                <a:lnTo>
                  <a:pt x="3775934" y="329184"/>
                </a:lnTo>
                <a:lnTo>
                  <a:pt x="3703320" y="384048"/>
                </a:lnTo>
                <a:lnTo>
                  <a:pt x="3630706" y="329184"/>
                </a:lnTo>
                <a:lnTo>
                  <a:pt x="3558092" y="384048"/>
                </a:lnTo>
                <a:lnTo>
                  <a:pt x="3485478" y="329184"/>
                </a:lnTo>
                <a:lnTo>
                  <a:pt x="3412864" y="384048"/>
                </a:lnTo>
                <a:lnTo>
                  <a:pt x="3340249" y="329184"/>
                </a:lnTo>
                <a:lnTo>
                  <a:pt x="3267635" y="384048"/>
                </a:lnTo>
                <a:lnTo>
                  <a:pt x="3195021" y="329184"/>
                </a:lnTo>
                <a:lnTo>
                  <a:pt x="3122407" y="384048"/>
                </a:lnTo>
                <a:lnTo>
                  <a:pt x="3049793" y="329184"/>
                </a:lnTo>
                <a:lnTo>
                  <a:pt x="2977179" y="384048"/>
                </a:lnTo>
                <a:lnTo>
                  <a:pt x="2904565" y="329184"/>
                </a:lnTo>
                <a:lnTo>
                  <a:pt x="2831951" y="384048"/>
                </a:lnTo>
                <a:lnTo>
                  <a:pt x="2759336" y="329184"/>
                </a:lnTo>
                <a:lnTo>
                  <a:pt x="2686722" y="384048"/>
                </a:lnTo>
                <a:lnTo>
                  <a:pt x="2614108" y="329184"/>
                </a:lnTo>
                <a:lnTo>
                  <a:pt x="2541494" y="384048"/>
                </a:lnTo>
                <a:lnTo>
                  <a:pt x="2468880" y="329184"/>
                </a:lnTo>
                <a:lnTo>
                  <a:pt x="2396266" y="384048"/>
                </a:lnTo>
                <a:lnTo>
                  <a:pt x="2323652" y="329184"/>
                </a:lnTo>
                <a:lnTo>
                  <a:pt x="2251038" y="384048"/>
                </a:lnTo>
                <a:lnTo>
                  <a:pt x="2178424" y="329184"/>
                </a:lnTo>
                <a:lnTo>
                  <a:pt x="2105809" y="384048"/>
                </a:lnTo>
                <a:lnTo>
                  <a:pt x="2033195" y="329184"/>
                </a:lnTo>
                <a:lnTo>
                  <a:pt x="1960581" y="384048"/>
                </a:lnTo>
                <a:lnTo>
                  <a:pt x="1887967" y="329184"/>
                </a:lnTo>
                <a:lnTo>
                  <a:pt x="1815353" y="384048"/>
                </a:lnTo>
                <a:lnTo>
                  <a:pt x="1742739" y="329184"/>
                </a:lnTo>
                <a:lnTo>
                  <a:pt x="1670125" y="384048"/>
                </a:lnTo>
                <a:lnTo>
                  <a:pt x="1597511" y="329184"/>
                </a:lnTo>
                <a:lnTo>
                  <a:pt x="1524896" y="384048"/>
                </a:lnTo>
                <a:lnTo>
                  <a:pt x="1452282" y="329184"/>
                </a:lnTo>
                <a:lnTo>
                  <a:pt x="1379668" y="384048"/>
                </a:lnTo>
                <a:lnTo>
                  <a:pt x="1307054" y="329184"/>
                </a:lnTo>
                <a:lnTo>
                  <a:pt x="1234440" y="384048"/>
                </a:lnTo>
                <a:lnTo>
                  <a:pt x="1161826" y="329184"/>
                </a:lnTo>
                <a:lnTo>
                  <a:pt x="1089212" y="384048"/>
                </a:lnTo>
                <a:lnTo>
                  <a:pt x="1016598" y="329184"/>
                </a:lnTo>
                <a:lnTo>
                  <a:pt x="943984" y="384048"/>
                </a:lnTo>
                <a:lnTo>
                  <a:pt x="871369" y="329184"/>
                </a:lnTo>
                <a:lnTo>
                  <a:pt x="798755" y="384048"/>
                </a:lnTo>
                <a:lnTo>
                  <a:pt x="726141" y="329184"/>
                </a:lnTo>
                <a:lnTo>
                  <a:pt x="653527" y="384048"/>
                </a:lnTo>
                <a:lnTo>
                  <a:pt x="580913" y="329184"/>
                </a:lnTo>
                <a:lnTo>
                  <a:pt x="508299" y="384048"/>
                </a:lnTo>
                <a:lnTo>
                  <a:pt x="435685" y="329184"/>
                </a:lnTo>
                <a:lnTo>
                  <a:pt x="363071" y="384048"/>
                </a:lnTo>
                <a:lnTo>
                  <a:pt x="290456" y="329184"/>
                </a:lnTo>
                <a:lnTo>
                  <a:pt x="217842" y="384048"/>
                </a:lnTo>
                <a:lnTo>
                  <a:pt x="145228" y="329184"/>
                </a:lnTo>
                <a:lnTo>
                  <a:pt x="72614" y="384048"/>
                </a:lnTo>
                <a:lnTo>
                  <a:pt x="0" y="329184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3" name="Text 60"/>
          <p:cNvSpPr txBox="1"/>
          <p:nvPr/>
        </p:nvSpPr>
        <p:spPr>
          <a:xfrm>
            <a:off x="502920" y="32278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F36"/>
                </a:solidFill>
              </a:rPr>
              <a:t>QA-08/09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1234440" y="32278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</a:rPr>
              <a:t>Roles for overrides; no card data stored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4681728" y="3310128"/>
            <a:ext cx="566928" cy="219456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H, M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411480" y="3685032"/>
            <a:ext cx="4937760" cy="384048"/>
          </a:xfrm>
          <a:custGeom>
            <a:avLst/>
            <a:gdLst/>
            <a:ahLst/>
            <a:cxnLst/>
            <a:rect l="l" t="t" r="r" b="b"/>
            <a:pathLst>
              <a:path w="4937760" h="384048">
                <a:moveTo>
                  <a:pt x="0" y="0"/>
                </a:moveTo>
                <a:lnTo>
                  <a:pt x="4937760" y="0"/>
                </a:lnTo>
                <a:lnTo>
                  <a:pt x="4937760" y="329184"/>
                </a:lnTo>
                <a:lnTo>
                  <a:pt x="4865146" y="384048"/>
                </a:lnTo>
                <a:lnTo>
                  <a:pt x="4792532" y="329184"/>
                </a:lnTo>
                <a:lnTo>
                  <a:pt x="4719918" y="384048"/>
                </a:lnTo>
                <a:lnTo>
                  <a:pt x="4647304" y="329184"/>
                </a:lnTo>
                <a:lnTo>
                  <a:pt x="4574689" y="384048"/>
                </a:lnTo>
                <a:lnTo>
                  <a:pt x="4502075" y="329184"/>
                </a:lnTo>
                <a:lnTo>
                  <a:pt x="4429461" y="384048"/>
                </a:lnTo>
                <a:lnTo>
                  <a:pt x="4356847" y="329184"/>
                </a:lnTo>
                <a:lnTo>
                  <a:pt x="4284233" y="384048"/>
                </a:lnTo>
                <a:lnTo>
                  <a:pt x="4211619" y="329184"/>
                </a:lnTo>
                <a:lnTo>
                  <a:pt x="4139005" y="384048"/>
                </a:lnTo>
                <a:lnTo>
                  <a:pt x="4066391" y="329184"/>
                </a:lnTo>
                <a:lnTo>
                  <a:pt x="3993776" y="384048"/>
                </a:lnTo>
                <a:lnTo>
                  <a:pt x="3921162" y="329184"/>
                </a:lnTo>
                <a:lnTo>
                  <a:pt x="3848548" y="384048"/>
                </a:lnTo>
                <a:lnTo>
                  <a:pt x="3775934" y="329184"/>
                </a:lnTo>
                <a:lnTo>
                  <a:pt x="3703320" y="384048"/>
                </a:lnTo>
                <a:lnTo>
                  <a:pt x="3630706" y="329184"/>
                </a:lnTo>
                <a:lnTo>
                  <a:pt x="3558092" y="384048"/>
                </a:lnTo>
                <a:lnTo>
                  <a:pt x="3485478" y="329184"/>
                </a:lnTo>
                <a:lnTo>
                  <a:pt x="3412864" y="384048"/>
                </a:lnTo>
                <a:lnTo>
                  <a:pt x="3340249" y="329184"/>
                </a:lnTo>
                <a:lnTo>
                  <a:pt x="3267635" y="384048"/>
                </a:lnTo>
                <a:lnTo>
                  <a:pt x="3195021" y="329184"/>
                </a:lnTo>
                <a:lnTo>
                  <a:pt x="3122407" y="384048"/>
                </a:lnTo>
                <a:lnTo>
                  <a:pt x="3049793" y="329184"/>
                </a:lnTo>
                <a:lnTo>
                  <a:pt x="2977179" y="384048"/>
                </a:lnTo>
                <a:lnTo>
                  <a:pt x="2904565" y="329184"/>
                </a:lnTo>
                <a:lnTo>
                  <a:pt x="2831951" y="384048"/>
                </a:lnTo>
                <a:lnTo>
                  <a:pt x="2759336" y="329184"/>
                </a:lnTo>
                <a:lnTo>
                  <a:pt x="2686722" y="384048"/>
                </a:lnTo>
                <a:lnTo>
                  <a:pt x="2614108" y="329184"/>
                </a:lnTo>
                <a:lnTo>
                  <a:pt x="2541494" y="384048"/>
                </a:lnTo>
                <a:lnTo>
                  <a:pt x="2468880" y="329184"/>
                </a:lnTo>
                <a:lnTo>
                  <a:pt x="2396266" y="384048"/>
                </a:lnTo>
                <a:lnTo>
                  <a:pt x="2323652" y="329184"/>
                </a:lnTo>
                <a:lnTo>
                  <a:pt x="2251038" y="384048"/>
                </a:lnTo>
                <a:lnTo>
                  <a:pt x="2178424" y="329184"/>
                </a:lnTo>
                <a:lnTo>
                  <a:pt x="2105809" y="384048"/>
                </a:lnTo>
                <a:lnTo>
                  <a:pt x="2033195" y="329184"/>
                </a:lnTo>
                <a:lnTo>
                  <a:pt x="1960581" y="384048"/>
                </a:lnTo>
                <a:lnTo>
                  <a:pt x="1887967" y="329184"/>
                </a:lnTo>
                <a:lnTo>
                  <a:pt x="1815353" y="384048"/>
                </a:lnTo>
                <a:lnTo>
                  <a:pt x="1742739" y="329184"/>
                </a:lnTo>
                <a:lnTo>
                  <a:pt x="1670125" y="384048"/>
                </a:lnTo>
                <a:lnTo>
                  <a:pt x="1597511" y="329184"/>
                </a:lnTo>
                <a:lnTo>
                  <a:pt x="1524896" y="384048"/>
                </a:lnTo>
                <a:lnTo>
                  <a:pt x="1452282" y="329184"/>
                </a:lnTo>
                <a:lnTo>
                  <a:pt x="1379668" y="384048"/>
                </a:lnTo>
                <a:lnTo>
                  <a:pt x="1307054" y="329184"/>
                </a:lnTo>
                <a:lnTo>
                  <a:pt x="1234440" y="384048"/>
                </a:lnTo>
                <a:lnTo>
                  <a:pt x="1161826" y="329184"/>
                </a:lnTo>
                <a:lnTo>
                  <a:pt x="1089212" y="384048"/>
                </a:lnTo>
                <a:lnTo>
                  <a:pt x="1016598" y="329184"/>
                </a:lnTo>
                <a:lnTo>
                  <a:pt x="943984" y="384048"/>
                </a:lnTo>
                <a:lnTo>
                  <a:pt x="871369" y="329184"/>
                </a:lnTo>
                <a:lnTo>
                  <a:pt x="798755" y="384048"/>
                </a:lnTo>
                <a:lnTo>
                  <a:pt x="726141" y="329184"/>
                </a:lnTo>
                <a:lnTo>
                  <a:pt x="653527" y="384048"/>
                </a:lnTo>
                <a:lnTo>
                  <a:pt x="580913" y="329184"/>
                </a:lnTo>
                <a:lnTo>
                  <a:pt x="508299" y="384048"/>
                </a:lnTo>
                <a:lnTo>
                  <a:pt x="435685" y="329184"/>
                </a:lnTo>
                <a:lnTo>
                  <a:pt x="363071" y="384048"/>
                </a:lnTo>
                <a:lnTo>
                  <a:pt x="290456" y="329184"/>
                </a:lnTo>
                <a:lnTo>
                  <a:pt x="217842" y="384048"/>
                </a:lnTo>
                <a:lnTo>
                  <a:pt x="145228" y="329184"/>
                </a:lnTo>
                <a:lnTo>
                  <a:pt x="72614" y="384048"/>
                </a:lnTo>
                <a:lnTo>
                  <a:pt x="0" y="329184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67" name="Text 64"/>
          <p:cNvSpPr txBox="1"/>
          <p:nvPr/>
        </p:nvSpPr>
        <p:spPr>
          <a:xfrm>
            <a:off x="502920" y="36850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F36"/>
                </a:solidFill>
              </a:rPr>
              <a:t>QA-13/14</a:t>
            </a:r>
            <a:endParaRPr lang="en-US" sz="850" dirty="0"/>
          </a:p>
        </p:txBody>
      </p:sp>
      <p:sp>
        <p:nvSpPr>
          <p:cNvPr id="68" name="Text 65"/>
          <p:cNvSpPr txBox="1"/>
          <p:nvPr/>
        </p:nvSpPr>
        <p:spPr>
          <a:xfrm>
            <a:off x="1234440" y="36850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126"/>
                </a:solidFill>
              </a:rPr>
              <a:t>New payment method or real external system: change one adapter</a:t>
            </a:r>
            <a:endParaRPr lang="en-US" sz="850" dirty="0"/>
          </a:p>
        </p:txBody>
      </p:sp>
      <p:sp>
        <p:nvSpPr>
          <p:cNvPr id="69" name="Text 66"/>
          <p:cNvSpPr txBox="1"/>
          <p:nvPr/>
        </p:nvSpPr>
        <p:spPr>
          <a:xfrm>
            <a:off x="4681728" y="3767328"/>
            <a:ext cx="566928" cy="219456"/>
          </a:xfrm>
          <a:prstGeom prst="rect">
            <a:avLst/>
          </a:prstGeom>
          <a:solidFill>
            <a:srgbClr val="2B2F3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M, H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5577840" y="1600200"/>
            <a:ext cx="3154680" cy="251460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571500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Decisions to take (W08–W09)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5715000" y="1993392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4E6EA"/>
                </a:solidFill>
              </a:rPr>
              <a:t>AD-01 Architecture style (layers?)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4E6EA"/>
                </a:solidFill>
              </a:rPr>
              <a:t>AD-02/03 Desktop or web · language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4E6EA"/>
                </a:solidFill>
              </a:rPr>
              <a:t>AD-04 One adapter per external system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4E6EA"/>
                </a:solidFill>
              </a:rPr>
              <a:t>AD-05/06 Local storage and accounting queue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4E6EA"/>
                </a:solidFill>
              </a:rPr>
              <a:t>AD-07 Timeouts and fallbacks</a:t>
            </a:r>
            <a:endParaRPr lang="en-US" sz="9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E4E6EA"/>
                </a:solidFill>
              </a:rPr>
              <a:t>AD-08 Payment methods behind one interface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  EXPERIMENTAL PROGRESS / DELIVERABLES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Assignment 1 delivered: SRS v1.0 and supporting documents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11/14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8321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05840"/>
                <a:gridCol w="2468880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SRS (ISO/IEC/IEEE 29148)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Alfonso (integration) + team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interfaces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Haifa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Glossary and business rules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Avni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NFRs · requirements conventions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Josué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prototype + guide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Haifa, Yasmine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F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model · SSD UC1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 · 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Borja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(incr. 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 contracts UC1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Josué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(incr. 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drivers · architecture skeleton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1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Alfonso · Haifa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4D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 (incr. 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411480" y="39776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17B"/>
                </a:solidFill>
              </a:rPr>
              <a:t>All documents in GitHub (bhsei/26D) · one document per commit · every document reviewed in a GitHub Issue.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#02  EXPERIMENTAL PROGRESS / DELIVERABLES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From draft to baseline: reviews made the SRS consistent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12/14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822960" y="1280160"/>
            <a:ext cx="7498080" cy="0"/>
          </a:xfrm>
          <a:prstGeom prst="line">
            <a:avLst/>
          </a:prstGeom>
          <a:noFill/>
          <a:ln w="25400">
            <a:solidFill>
              <a:srgbClr val="D3D6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051560"/>
            <a:ext cx="457200" cy="457200"/>
          </a:xfrm>
          <a:prstGeom prst="ellipse">
            <a:avLst/>
          </a:prstGeom>
          <a:solidFill>
            <a:srgbClr val="2B2F3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0.1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27432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17B"/>
                </a:solidFill>
              </a:rPr>
              <a:t>21 Oct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§1–2, UC1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468880" y="1051560"/>
            <a:ext cx="457200" cy="457200"/>
          </a:xfrm>
          <a:prstGeom prst="ellipse">
            <a:avLst/>
          </a:prstGeom>
          <a:solidFill>
            <a:srgbClr val="2B2F3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4688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0.3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214884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17B"/>
                </a:solidFill>
              </a:rPr>
              <a:t>21 Oct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review #19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343400" y="1051560"/>
            <a:ext cx="457200" cy="457200"/>
          </a:xfrm>
          <a:prstGeom prst="ellipse">
            <a:avLst/>
          </a:prstGeom>
          <a:solidFill>
            <a:srgbClr val="2B2F3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3434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0.4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402336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17B"/>
                </a:solidFill>
              </a:rPr>
              <a:t>27 Oct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retry (#23)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217920" y="1051560"/>
            <a:ext cx="457200" cy="457200"/>
          </a:xfrm>
          <a:prstGeom prst="ellipse">
            <a:avLst/>
          </a:prstGeom>
          <a:solidFill>
            <a:srgbClr val="16181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179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0.9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89788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17B"/>
                </a:solidFill>
              </a:rPr>
              <a:t>27 Oct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all sections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092440" y="1051560"/>
            <a:ext cx="457200" cy="457200"/>
          </a:xfrm>
          <a:prstGeom prst="ellipse">
            <a:avLst/>
          </a:prstGeom>
          <a:solidFill>
            <a:srgbClr val="FF4D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9244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1.0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777240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17B"/>
                </a:solidFill>
              </a:rPr>
              <a:t>28 Oct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baseline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11480" y="2194560"/>
            <a:ext cx="2011680" cy="1463040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548640" y="2286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4D2E"/>
                </a:solidFill>
              </a:rPr>
              <a:t>Issue #23 · Borja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548640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34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DD3"/>
                </a:solidFill>
              </a:rPr>
              <a:t>findings · §1–3.2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560320" y="2194560"/>
            <a:ext cx="2011680" cy="1463040"/>
          </a:xfrm>
          <a:custGeom>
            <a:avLst/>
            <a:gdLst/>
            <a:ahLst/>
            <a:cxnLst/>
            <a:rect l="l" t="t" r="r" b="b"/>
            <a:pathLst>
              <a:path w="2011680" h="1463040">
                <a:moveTo>
                  <a:pt x="0" y="0"/>
                </a:moveTo>
                <a:lnTo>
                  <a:pt x="2011680" y="0"/>
                </a:lnTo>
                <a:lnTo>
                  <a:pt x="2011680" y="1408176"/>
                </a:lnTo>
                <a:lnTo>
                  <a:pt x="1939834" y="1463040"/>
                </a:lnTo>
                <a:lnTo>
                  <a:pt x="1867989" y="1408176"/>
                </a:lnTo>
                <a:lnTo>
                  <a:pt x="1796143" y="1463040"/>
                </a:lnTo>
                <a:lnTo>
                  <a:pt x="1724297" y="1408176"/>
                </a:lnTo>
                <a:lnTo>
                  <a:pt x="1652451" y="1463040"/>
                </a:lnTo>
                <a:lnTo>
                  <a:pt x="1580606" y="1408176"/>
                </a:lnTo>
                <a:lnTo>
                  <a:pt x="1508760" y="1463040"/>
                </a:lnTo>
                <a:lnTo>
                  <a:pt x="1436914" y="1408176"/>
                </a:lnTo>
                <a:lnTo>
                  <a:pt x="1365069" y="1463040"/>
                </a:lnTo>
                <a:lnTo>
                  <a:pt x="1293223" y="1408176"/>
                </a:lnTo>
                <a:lnTo>
                  <a:pt x="1221377" y="1463040"/>
                </a:lnTo>
                <a:lnTo>
                  <a:pt x="1149531" y="1408176"/>
                </a:lnTo>
                <a:lnTo>
                  <a:pt x="1077686" y="1463040"/>
                </a:lnTo>
                <a:lnTo>
                  <a:pt x="1005840" y="1408176"/>
                </a:lnTo>
                <a:lnTo>
                  <a:pt x="933994" y="1463040"/>
                </a:lnTo>
                <a:lnTo>
                  <a:pt x="862149" y="1408176"/>
                </a:lnTo>
                <a:lnTo>
                  <a:pt x="790303" y="1463040"/>
                </a:lnTo>
                <a:lnTo>
                  <a:pt x="718457" y="1408176"/>
                </a:lnTo>
                <a:lnTo>
                  <a:pt x="646611" y="1463040"/>
                </a:lnTo>
                <a:lnTo>
                  <a:pt x="574766" y="1408176"/>
                </a:lnTo>
                <a:lnTo>
                  <a:pt x="502920" y="1463040"/>
                </a:lnTo>
                <a:lnTo>
                  <a:pt x="431074" y="1408176"/>
                </a:lnTo>
                <a:lnTo>
                  <a:pt x="359229" y="1463040"/>
                </a:lnTo>
                <a:lnTo>
                  <a:pt x="287383" y="1408176"/>
                </a:lnTo>
                <a:lnTo>
                  <a:pt x="215537" y="1463040"/>
                </a:lnTo>
                <a:lnTo>
                  <a:pt x="143691" y="1408176"/>
                </a:lnTo>
                <a:lnTo>
                  <a:pt x="71846" y="1463040"/>
                </a:lnTo>
                <a:lnTo>
                  <a:pt x="0" y="140817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2697480" y="2286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2F36"/>
                </a:solidFill>
              </a:rPr>
              <a:t>Issue #24 · Haifa</a:t>
            </a:r>
            <a:endParaRPr lang="en-US" sz="850" dirty="0"/>
          </a:p>
        </p:txBody>
      </p:sp>
      <p:sp>
        <p:nvSpPr>
          <p:cNvPr id="48" name="Text 45"/>
          <p:cNvSpPr txBox="1"/>
          <p:nvPr/>
        </p:nvSpPr>
        <p:spPr>
          <a:xfrm>
            <a:off x="2697480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3400" dirty="0"/>
          </a:p>
        </p:txBody>
      </p:sp>
      <p:sp>
        <p:nvSpPr>
          <p:cNvPr id="49" name="Text 46"/>
          <p:cNvSpPr txBox="1"/>
          <p:nvPr/>
        </p:nvSpPr>
        <p:spPr>
          <a:xfrm>
            <a:off x="269748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B"/>
                </a:solidFill>
              </a:rPr>
              <a:t>findings · §3.3–5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800600" y="2194560"/>
            <a:ext cx="3931920" cy="1463040"/>
          </a:xfrm>
          <a:custGeom>
            <a:avLst/>
            <a:gdLst/>
            <a:ahLst/>
            <a:cxnLst/>
            <a:rect l="l" t="t" r="r" b="b"/>
            <a:pathLst>
              <a:path w="3931920" h="1463040">
                <a:moveTo>
                  <a:pt x="0" y="0"/>
                </a:moveTo>
                <a:lnTo>
                  <a:pt x="3931920" y="0"/>
                </a:lnTo>
                <a:lnTo>
                  <a:pt x="3931920" y="1408176"/>
                </a:lnTo>
                <a:lnTo>
                  <a:pt x="3859107" y="1463040"/>
                </a:lnTo>
                <a:lnTo>
                  <a:pt x="3786293" y="1408176"/>
                </a:lnTo>
                <a:lnTo>
                  <a:pt x="3713480" y="1463040"/>
                </a:lnTo>
                <a:lnTo>
                  <a:pt x="3640667" y="1408176"/>
                </a:lnTo>
                <a:lnTo>
                  <a:pt x="3567853" y="1463040"/>
                </a:lnTo>
                <a:lnTo>
                  <a:pt x="3495040" y="1408176"/>
                </a:lnTo>
                <a:lnTo>
                  <a:pt x="3422227" y="1463040"/>
                </a:lnTo>
                <a:lnTo>
                  <a:pt x="3349413" y="1408176"/>
                </a:lnTo>
                <a:lnTo>
                  <a:pt x="3276600" y="1463040"/>
                </a:lnTo>
                <a:lnTo>
                  <a:pt x="3203787" y="1408176"/>
                </a:lnTo>
                <a:lnTo>
                  <a:pt x="3130973" y="1463040"/>
                </a:lnTo>
                <a:lnTo>
                  <a:pt x="3058160" y="1408176"/>
                </a:lnTo>
                <a:lnTo>
                  <a:pt x="2985347" y="1463040"/>
                </a:lnTo>
                <a:lnTo>
                  <a:pt x="2912533" y="1408176"/>
                </a:lnTo>
                <a:lnTo>
                  <a:pt x="2839720" y="1463040"/>
                </a:lnTo>
                <a:lnTo>
                  <a:pt x="2766907" y="1408176"/>
                </a:lnTo>
                <a:lnTo>
                  <a:pt x="2694093" y="1463040"/>
                </a:lnTo>
                <a:lnTo>
                  <a:pt x="2621280" y="1408176"/>
                </a:lnTo>
                <a:lnTo>
                  <a:pt x="2548467" y="1463040"/>
                </a:lnTo>
                <a:lnTo>
                  <a:pt x="2475653" y="1408176"/>
                </a:lnTo>
                <a:lnTo>
                  <a:pt x="2402840" y="1463040"/>
                </a:lnTo>
                <a:lnTo>
                  <a:pt x="2330027" y="1408176"/>
                </a:lnTo>
                <a:lnTo>
                  <a:pt x="2257213" y="1463040"/>
                </a:lnTo>
                <a:lnTo>
                  <a:pt x="2184400" y="1408176"/>
                </a:lnTo>
                <a:lnTo>
                  <a:pt x="2111587" y="1463040"/>
                </a:lnTo>
                <a:lnTo>
                  <a:pt x="2038773" y="1408176"/>
                </a:lnTo>
                <a:lnTo>
                  <a:pt x="1965960" y="1463040"/>
                </a:lnTo>
                <a:lnTo>
                  <a:pt x="1893147" y="1408176"/>
                </a:lnTo>
                <a:lnTo>
                  <a:pt x="1820333" y="1463040"/>
                </a:lnTo>
                <a:lnTo>
                  <a:pt x="1747520" y="1408176"/>
                </a:lnTo>
                <a:lnTo>
                  <a:pt x="1674707" y="1463040"/>
                </a:lnTo>
                <a:lnTo>
                  <a:pt x="1601893" y="1408176"/>
                </a:lnTo>
                <a:lnTo>
                  <a:pt x="1529080" y="1463040"/>
                </a:lnTo>
                <a:lnTo>
                  <a:pt x="1456267" y="1408176"/>
                </a:lnTo>
                <a:lnTo>
                  <a:pt x="1383453" y="1463040"/>
                </a:lnTo>
                <a:lnTo>
                  <a:pt x="1310640" y="1408176"/>
                </a:lnTo>
                <a:lnTo>
                  <a:pt x="1237827" y="1463040"/>
                </a:lnTo>
                <a:lnTo>
                  <a:pt x="1165013" y="1408176"/>
                </a:lnTo>
                <a:lnTo>
                  <a:pt x="1092200" y="1463040"/>
                </a:lnTo>
                <a:lnTo>
                  <a:pt x="1019387" y="1408176"/>
                </a:lnTo>
                <a:lnTo>
                  <a:pt x="946573" y="1463040"/>
                </a:lnTo>
                <a:lnTo>
                  <a:pt x="873760" y="1408176"/>
                </a:lnTo>
                <a:lnTo>
                  <a:pt x="800947" y="1463040"/>
                </a:lnTo>
                <a:lnTo>
                  <a:pt x="728133" y="1408176"/>
                </a:lnTo>
                <a:lnTo>
                  <a:pt x="655320" y="1463040"/>
                </a:lnTo>
                <a:lnTo>
                  <a:pt x="582507" y="1408176"/>
                </a:lnTo>
                <a:lnTo>
                  <a:pt x="509693" y="1463040"/>
                </a:lnTo>
                <a:lnTo>
                  <a:pt x="436880" y="1408176"/>
                </a:lnTo>
                <a:lnTo>
                  <a:pt x="364067" y="1463040"/>
                </a:lnTo>
                <a:lnTo>
                  <a:pt x="291253" y="1408176"/>
                </a:lnTo>
                <a:lnTo>
                  <a:pt x="218440" y="1463040"/>
                </a:lnTo>
                <a:lnTo>
                  <a:pt x="145627" y="1408176"/>
                </a:lnTo>
                <a:lnTo>
                  <a:pt x="72813" y="1463040"/>
                </a:lnTo>
                <a:lnTo>
                  <a:pt x="0" y="140817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1" name="Text 48"/>
          <p:cNvSpPr txBox="1"/>
          <p:nvPr/>
        </p:nvSpPr>
        <p:spPr>
          <a:xfrm>
            <a:off x="4937760" y="2267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181D"/>
                </a:solidFill>
              </a:rPr>
              <a:t>What the reviews found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4937760" y="2523744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126"/>
                </a:solidFill>
              </a:rPr>
              <a:t>Retry rule different in IR-02, FR-11, UC1 and UC3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126"/>
                </a:solidFill>
              </a:rPr>
              <a:t>Deposit rule contradictory for damaged items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126"/>
                </a:solidFill>
              </a:rPr>
              <a:t>Missing cases: empty sale, invalid quantity, new customer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126"/>
                </a:solidFill>
              </a:rPr>
              <a:t>Requirements without a verification method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411480" y="37947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181D"/>
                </a:solidFill>
              </a:rPr>
              <a:t>28 findings, all answered in the Issue and fixed by their owner before v1.0. </a:t>
            </a:r>
            <a:pPr indent="0" marL="0">
              <a:buNone/>
            </a:pPr>
            <a:r>
              <a:rPr lang="en-US" sz="900" dirty="0">
                <a:solidFill>
                  <a:srgbClr val="1E2126"/>
                </a:solidFill>
              </a:rPr>
              <a:t>Version history in the SRS records every change.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#03  TEAM COLLABORATION AND MANAGEMENT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411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</a:rPr>
              <a:t>Team work this week and what we improve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6692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" name="Shape 3"/>
          <p:cNvSpPr/>
          <p:nvPr/>
        </p:nvSpPr>
        <p:spPr>
          <a:xfrm>
            <a:off x="585216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0" y="4572000"/>
            <a:ext cx="109728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5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0"/>
            <a:ext cx="60350" cy="25603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0" y="4498848"/>
            <a:ext cx="109728" cy="329184"/>
          </a:xfrm>
          <a:prstGeom prst="rect">
            <a:avLst/>
          </a:prstGeom>
          <a:solidFill>
            <a:srgbClr val="FF4D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SRS</a:t>
            </a:r>
            <a:endParaRPr lang="en-US" sz="500" dirty="0"/>
          </a:p>
        </p:txBody>
      </p:sp>
      <p:sp>
        <p:nvSpPr>
          <p:cNvPr id="13" name="Shape 11"/>
          <p:cNvSpPr/>
          <p:nvPr/>
        </p:nvSpPr>
        <p:spPr>
          <a:xfrm>
            <a:off x="69494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237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768096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4572000"/>
            <a:ext cx="60350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0" y="4572000"/>
            <a:ext cx="109728" cy="256032"/>
          </a:xfrm>
          <a:prstGeom prst="rect">
            <a:avLst/>
          </a:prstGeom>
          <a:solidFill>
            <a:srgbClr val="C4C8C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38160" y="484632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1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W07 · 13/14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11480" y="914400"/>
            <a:ext cx="2487168" cy="804672"/>
          </a:xfrm>
          <a:custGeom>
            <a:avLst/>
            <a:gdLst/>
            <a:ahLst/>
            <a:cxnLst/>
            <a:rect l="l" t="t" r="r" b="b"/>
            <a:pathLst>
              <a:path w="2487168" h="804672">
                <a:moveTo>
                  <a:pt x="0" y="0"/>
                </a:moveTo>
                <a:lnTo>
                  <a:pt x="2487168" y="0"/>
                </a:lnTo>
                <a:lnTo>
                  <a:pt x="2487168" y="749808"/>
                </a:lnTo>
                <a:lnTo>
                  <a:pt x="2414016" y="804672"/>
                </a:lnTo>
                <a:lnTo>
                  <a:pt x="2340864" y="749808"/>
                </a:lnTo>
                <a:lnTo>
                  <a:pt x="2267712" y="804672"/>
                </a:lnTo>
                <a:lnTo>
                  <a:pt x="2194560" y="749808"/>
                </a:lnTo>
                <a:lnTo>
                  <a:pt x="2121408" y="804672"/>
                </a:lnTo>
                <a:lnTo>
                  <a:pt x="2048256" y="749808"/>
                </a:lnTo>
                <a:lnTo>
                  <a:pt x="1975104" y="804672"/>
                </a:lnTo>
                <a:lnTo>
                  <a:pt x="1901952" y="749808"/>
                </a:lnTo>
                <a:lnTo>
                  <a:pt x="1828800" y="804672"/>
                </a:lnTo>
                <a:lnTo>
                  <a:pt x="1755648" y="749808"/>
                </a:lnTo>
                <a:lnTo>
                  <a:pt x="1682496" y="804672"/>
                </a:lnTo>
                <a:lnTo>
                  <a:pt x="1609344" y="749808"/>
                </a:lnTo>
                <a:lnTo>
                  <a:pt x="1536192" y="804672"/>
                </a:lnTo>
                <a:lnTo>
                  <a:pt x="1463040" y="749808"/>
                </a:lnTo>
                <a:lnTo>
                  <a:pt x="1389888" y="804672"/>
                </a:lnTo>
                <a:lnTo>
                  <a:pt x="1316736" y="749808"/>
                </a:lnTo>
                <a:lnTo>
                  <a:pt x="1243584" y="804672"/>
                </a:lnTo>
                <a:lnTo>
                  <a:pt x="1170432" y="749808"/>
                </a:lnTo>
                <a:lnTo>
                  <a:pt x="1097280" y="804672"/>
                </a:lnTo>
                <a:lnTo>
                  <a:pt x="1024128" y="749808"/>
                </a:lnTo>
                <a:lnTo>
                  <a:pt x="950976" y="804672"/>
                </a:lnTo>
                <a:lnTo>
                  <a:pt x="877824" y="749808"/>
                </a:lnTo>
                <a:lnTo>
                  <a:pt x="804672" y="804672"/>
                </a:lnTo>
                <a:lnTo>
                  <a:pt x="731520" y="749808"/>
                </a:lnTo>
                <a:lnTo>
                  <a:pt x="658368" y="804672"/>
                </a:lnTo>
                <a:lnTo>
                  <a:pt x="585216" y="749808"/>
                </a:lnTo>
                <a:lnTo>
                  <a:pt x="512064" y="804672"/>
                </a:lnTo>
                <a:lnTo>
                  <a:pt x="438912" y="749808"/>
                </a:lnTo>
                <a:lnTo>
                  <a:pt x="365760" y="804672"/>
                </a:lnTo>
                <a:lnTo>
                  <a:pt x="292608" y="749808"/>
                </a:lnTo>
                <a:lnTo>
                  <a:pt x="219456" y="804672"/>
                </a:lnTo>
                <a:lnTo>
                  <a:pt x="146304" y="749808"/>
                </a:lnTo>
                <a:lnTo>
                  <a:pt x="73152" y="804672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21208" y="1042416"/>
            <a:ext cx="365760" cy="36576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21208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978408" y="987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Alfonso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78408" y="12070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W07 plan · UC5 · SRS integration · architecture drivers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017520" y="914400"/>
            <a:ext cx="2487168" cy="804672"/>
          </a:xfrm>
          <a:custGeom>
            <a:avLst/>
            <a:gdLst/>
            <a:ahLst/>
            <a:cxnLst/>
            <a:rect l="l" t="t" r="r" b="b"/>
            <a:pathLst>
              <a:path w="2487168" h="804672">
                <a:moveTo>
                  <a:pt x="0" y="0"/>
                </a:moveTo>
                <a:lnTo>
                  <a:pt x="2487168" y="0"/>
                </a:lnTo>
                <a:lnTo>
                  <a:pt x="2487168" y="749808"/>
                </a:lnTo>
                <a:lnTo>
                  <a:pt x="2414016" y="804672"/>
                </a:lnTo>
                <a:lnTo>
                  <a:pt x="2340864" y="749808"/>
                </a:lnTo>
                <a:lnTo>
                  <a:pt x="2267712" y="804672"/>
                </a:lnTo>
                <a:lnTo>
                  <a:pt x="2194560" y="749808"/>
                </a:lnTo>
                <a:lnTo>
                  <a:pt x="2121408" y="804672"/>
                </a:lnTo>
                <a:lnTo>
                  <a:pt x="2048256" y="749808"/>
                </a:lnTo>
                <a:lnTo>
                  <a:pt x="1975104" y="804672"/>
                </a:lnTo>
                <a:lnTo>
                  <a:pt x="1901952" y="749808"/>
                </a:lnTo>
                <a:lnTo>
                  <a:pt x="1828800" y="804672"/>
                </a:lnTo>
                <a:lnTo>
                  <a:pt x="1755648" y="749808"/>
                </a:lnTo>
                <a:lnTo>
                  <a:pt x="1682496" y="804672"/>
                </a:lnTo>
                <a:lnTo>
                  <a:pt x="1609344" y="749808"/>
                </a:lnTo>
                <a:lnTo>
                  <a:pt x="1536192" y="804672"/>
                </a:lnTo>
                <a:lnTo>
                  <a:pt x="1463040" y="749808"/>
                </a:lnTo>
                <a:lnTo>
                  <a:pt x="1389888" y="804672"/>
                </a:lnTo>
                <a:lnTo>
                  <a:pt x="1316736" y="749808"/>
                </a:lnTo>
                <a:lnTo>
                  <a:pt x="1243584" y="804672"/>
                </a:lnTo>
                <a:lnTo>
                  <a:pt x="1170432" y="749808"/>
                </a:lnTo>
                <a:lnTo>
                  <a:pt x="1097280" y="804672"/>
                </a:lnTo>
                <a:lnTo>
                  <a:pt x="1024128" y="749808"/>
                </a:lnTo>
                <a:lnTo>
                  <a:pt x="950976" y="804672"/>
                </a:lnTo>
                <a:lnTo>
                  <a:pt x="877824" y="749808"/>
                </a:lnTo>
                <a:lnTo>
                  <a:pt x="804672" y="804672"/>
                </a:lnTo>
                <a:lnTo>
                  <a:pt x="731520" y="749808"/>
                </a:lnTo>
                <a:lnTo>
                  <a:pt x="658368" y="804672"/>
                </a:lnTo>
                <a:lnTo>
                  <a:pt x="585216" y="749808"/>
                </a:lnTo>
                <a:lnTo>
                  <a:pt x="512064" y="804672"/>
                </a:lnTo>
                <a:lnTo>
                  <a:pt x="438912" y="749808"/>
                </a:lnTo>
                <a:lnTo>
                  <a:pt x="365760" y="804672"/>
                </a:lnTo>
                <a:lnTo>
                  <a:pt x="292608" y="749808"/>
                </a:lnTo>
                <a:lnTo>
                  <a:pt x="219456" y="804672"/>
                </a:lnTo>
                <a:lnTo>
                  <a:pt x="146304" y="749808"/>
                </a:lnTo>
                <a:lnTo>
                  <a:pt x="73152" y="804672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127248" y="1042416"/>
            <a:ext cx="365760" cy="36576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127248" y="1042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BN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3584448" y="987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Borja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3584448" y="12070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Domain model · SSD UC1 · data requirements · review #23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11480" y="1828800"/>
            <a:ext cx="2487168" cy="804672"/>
          </a:xfrm>
          <a:custGeom>
            <a:avLst/>
            <a:gdLst/>
            <a:ahLst/>
            <a:cxnLst/>
            <a:rect l="l" t="t" r="r" b="b"/>
            <a:pathLst>
              <a:path w="2487168" h="804672">
                <a:moveTo>
                  <a:pt x="0" y="0"/>
                </a:moveTo>
                <a:lnTo>
                  <a:pt x="2487168" y="0"/>
                </a:lnTo>
                <a:lnTo>
                  <a:pt x="2487168" y="749808"/>
                </a:lnTo>
                <a:lnTo>
                  <a:pt x="2414016" y="804672"/>
                </a:lnTo>
                <a:lnTo>
                  <a:pt x="2340864" y="749808"/>
                </a:lnTo>
                <a:lnTo>
                  <a:pt x="2267712" y="804672"/>
                </a:lnTo>
                <a:lnTo>
                  <a:pt x="2194560" y="749808"/>
                </a:lnTo>
                <a:lnTo>
                  <a:pt x="2121408" y="804672"/>
                </a:lnTo>
                <a:lnTo>
                  <a:pt x="2048256" y="749808"/>
                </a:lnTo>
                <a:lnTo>
                  <a:pt x="1975104" y="804672"/>
                </a:lnTo>
                <a:lnTo>
                  <a:pt x="1901952" y="749808"/>
                </a:lnTo>
                <a:lnTo>
                  <a:pt x="1828800" y="804672"/>
                </a:lnTo>
                <a:lnTo>
                  <a:pt x="1755648" y="749808"/>
                </a:lnTo>
                <a:lnTo>
                  <a:pt x="1682496" y="804672"/>
                </a:lnTo>
                <a:lnTo>
                  <a:pt x="1609344" y="749808"/>
                </a:lnTo>
                <a:lnTo>
                  <a:pt x="1536192" y="804672"/>
                </a:lnTo>
                <a:lnTo>
                  <a:pt x="1463040" y="749808"/>
                </a:lnTo>
                <a:lnTo>
                  <a:pt x="1389888" y="804672"/>
                </a:lnTo>
                <a:lnTo>
                  <a:pt x="1316736" y="749808"/>
                </a:lnTo>
                <a:lnTo>
                  <a:pt x="1243584" y="804672"/>
                </a:lnTo>
                <a:lnTo>
                  <a:pt x="1170432" y="749808"/>
                </a:lnTo>
                <a:lnTo>
                  <a:pt x="1097280" y="804672"/>
                </a:lnTo>
                <a:lnTo>
                  <a:pt x="1024128" y="749808"/>
                </a:lnTo>
                <a:lnTo>
                  <a:pt x="950976" y="804672"/>
                </a:lnTo>
                <a:lnTo>
                  <a:pt x="877824" y="749808"/>
                </a:lnTo>
                <a:lnTo>
                  <a:pt x="804672" y="804672"/>
                </a:lnTo>
                <a:lnTo>
                  <a:pt x="731520" y="749808"/>
                </a:lnTo>
                <a:lnTo>
                  <a:pt x="658368" y="804672"/>
                </a:lnTo>
                <a:lnTo>
                  <a:pt x="585216" y="749808"/>
                </a:lnTo>
                <a:lnTo>
                  <a:pt x="512064" y="804672"/>
                </a:lnTo>
                <a:lnTo>
                  <a:pt x="438912" y="749808"/>
                </a:lnTo>
                <a:lnTo>
                  <a:pt x="365760" y="804672"/>
                </a:lnTo>
                <a:lnTo>
                  <a:pt x="292608" y="749808"/>
                </a:lnTo>
                <a:lnTo>
                  <a:pt x="219456" y="804672"/>
                </a:lnTo>
                <a:lnTo>
                  <a:pt x="146304" y="749808"/>
                </a:lnTo>
                <a:lnTo>
                  <a:pt x="73152" y="804672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21208" y="1956816"/>
            <a:ext cx="365760" cy="36576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2120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978408" y="1901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Josué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978408" y="21214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NFRs · verification · traceability · contracts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017520" y="1828800"/>
            <a:ext cx="2487168" cy="804672"/>
          </a:xfrm>
          <a:custGeom>
            <a:avLst/>
            <a:gdLst/>
            <a:ahLst/>
            <a:cxnLst/>
            <a:rect l="l" t="t" r="r" b="b"/>
            <a:pathLst>
              <a:path w="2487168" h="804672">
                <a:moveTo>
                  <a:pt x="0" y="0"/>
                </a:moveTo>
                <a:lnTo>
                  <a:pt x="2487168" y="0"/>
                </a:lnTo>
                <a:lnTo>
                  <a:pt x="2487168" y="749808"/>
                </a:lnTo>
                <a:lnTo>
                  <a:pt x="2414016" y="804672"/>
                </a:lnTo>
                <a:lnTo>
                  <a:pt x="2340864" y="749808"/>
                </a:lnTo>
                <a:lnTo>
                  <a:pt x="2267712" y="804672"/>
                </a:lnTo>
                <a:lnTo>
                  <a:pt x="2194560" y="749808"/>
                </a:lnTo>
                <a:lnTo>
                  <a:pt x="2121408" y="804672"/>
                </a:lnTo>
                <a:lnTo>
                  <a:pt x="2048256" y="749808"/>
                </a:lnTo>
                <a:lnTo>
                  <a:pt x="1975104" y="804672"/>
                </a:lnTo>
                <a:lnTo>
                  <a:pt x="1901952" y="749808"/>
                </a:lnTo>
                <a:lnTo>
                  <a:pt x="1828800" y="804672"/>
                </a:lnTo>
                <a:lnTo>
                  <a:pt x="1755648" y="749808"/>
                </a:lnTo>
                <a:lnTo>
                  <a:pt x="1682496" y="804672"/>
                </a:lnTo>
                <a:lnTo>
                  <a:pt x="1609344" y="749808"/>
                </a:lnTo>
                <a:lnTo>
                  <a:pt x="1536192" y="804672"/>
                </a:lnTo>
                <a:lnTo>
                  <a:pt x="1463040" y="749808"/>
                </a:lnTo>
                <a:lnTo>
                  <a:pt x="1389888" y="804672"/>
                </a:lnTo>
                <a:lnTo>
                  <a:pt x="1316736" y="749808"/>
                </a:lnTo>
                <a:lnTo>
                  <a:pt x="1243584" y="804672"/>
                </a:lnTo>
                <a:lnTo>
                  <a:pt x="1170432" y="749808"/>
                </a:lnTo>
                <a:lnTo>
                  <a:pt x="1097280" y="804672"/>
                </a:lnTo>
                <a:lnTo>
                  <a:pt x="1024128" y="749808"/>
                </a:lnTo>
                <a:lnTo>
                  <a:pt x="950976" y="804672"/>
                </a:lnTo>
                <a:lnTo>
                  <a:pt x="877824" y="749808"/>
                </a:lnTo>
                <a:lnTo>
                  <a:pt x="804672" y="804672"/>
                </a:lnTo>
                <a:lnTo>
                  <a:pt x="731520" y="749808"/>
                </a:lnTo>
                <a:lnTo>
                  <a:pt x="658368" y="804672"/>
                </a:lnTo>
                <a:lnTo>
                  <a:pt x="585216" y="749808"/>
                </a:lnTo>
                <a:lnTo>
                  <a:pt x="512064" y="804672"/>
                </a:lnTo>
                <a:lnTo>
                  <a:pt x="438912" y="749808"/>
                </a:lnTo>
                <a:lnTo>
                  <a:pt x="365760" y="804672"/>
                </a:lnTo>
                <a:lnTo>
                  <a:pt x="292608" y="749808"/>
                </a:lnTo>
                <a:lnTo>
                  <a:pt x="219456" y="804672"/>
                </a:lnTo>
                <a:lnTo>
                  <a:pt x="146304" y="749808"/>
                </a:lnTo>
                <a:lnTo>
                  <a:pt x="73152" y="804672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3127248" y="1956816"/>
            <a:ext cx="365760" cy="36576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312724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YC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3584448" y="19019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Yasmine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3584448" y="21214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UC2 · user interfaces · usability NFRs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411480" y="2743200"/>
            <a:ext cx="2487168" cy="804672"/>
          </a:xfrm>
          <a:custGeom>
            <a:avLst/>
            <a:gdLst/>
            <a:ahLst/>
            <a:cxnLst/>
            <a:rect l="l" t="t" r="r" b="b"/>
            <a:pathLst>
              <a:path w="2487168" h="804672">
                <a:moveTo>
                  <a:pt x="0" y="0"/>
                </a:moveTo>
                <a:lnTo>
                  <a:pt x="2487168" y="0"/>
                </a:lnTo>
                <a:lnTo>
                  <a:pt x="2487168" y="749808"/>
                </a:lnTo>
                <a:lnTo>
                  <a:pt x="2414016" y="804672"/>
                </a:lnTo>
                <a:lnTo>
                  <a:pt x="2340864" y="749808"/>
                </a:lnTo>
                <a:lnTo>
                  <a:pt x="2267712" y="804672"/>
                </a:lnTo>
                <a:lnTo>
                  <a:pt x="2194560" y="749808"/>
                </a:lnTo>
                <a:lnTo>
                  <a:pt x="2121408" y="804672"/>
                </a:lnTo>
                <a:lnTo>
                  <a:pt x="2048256" y="749808"/>
                </a:lnTo>
                <a:lnTo>
                  <a:pt x="1975104" y="804672"/>
                </a:lnTo>
                <a:lnTo>
                  <a:pt x="1901952" y="749808"/>
                </a:lnTo>
                <a:lnTo>
                  <a:pt x="1828800" y="804672"/>
                </a:lnTo>
                <a:lnTo>
                  <a:pt x="1755648" y="749808"/>
                </a:lnTo>
                <a:lnTo>
                  <a:pt x="1682496" y="804672"/>
                </a:lnTo>
                <a:lnTo>
                  <a:pt x="1609344" y="749808"/>
                </a:lnTo>
                <a:lnTo>
                  <a:pt x="1536192" y="804672"/>
                </a:lnTo>
                <a:lnTo>
                  <a:pt x="1463040" y="749808"/>
                </a:lnTo>
                <a:lnTo>
                  <a:pt x="1389888" y="804672"/>
                </a:lnTo>
                <a:lnTo>
                  <a:pt x="1316736" y="749808"/>
                </a:lnTo>
                <a:lnTo>
                  <a:pt x="1243584" y="804672"/>
                </a:lnTo>
                <a:lnTo>
                  <a:pt x="1170432" y="749808"/>
                </a:lnTo>
                <a:lnTo>
                  <a:pt x="1097280" y="804672"/>
                </a:lnTo>
                <a:lnTo>
                  <a:pt x="1024128" y="749808"/>
                </a:lnTo>
                <a:lnTo>
                  <a:pt x="950976" y="804672"/>
                </a:lnTo>
                <a:lnTo>
                  <a:pt x="877824" y="749808"/>
                </a:lnTo>
                <a:lnTo>
                  <a:pt x="804672" y="804672"/>
                </a:lnTo>
                <a:lnTo>
                  <a:pt x="731520" y="749808"/>
                </a:lnTo>
                <a:lnTo>
                  <a:pt x="658368" y="804672"/>
                </a:lnTo>
                <a:lnTo>
                  <a:pt x="585216" y="749808"/>
                </a:lnTo>
                <a:lnTo>
                  <a:pt x="512064" y="804672"/>
                </a:lnTo>
                <a:lnTo>
                  <a:pt x="438912" y="749808"/>
                </a:lnTo>
                <a:lnTo>
                  <a:pt x="365760" y="804672"/>
                </a:lnTo>
                <a:lnTo>
                  <a:pt x="292608" y="749808"/>
                </a:lnTo>
                <a:lnTo>
                  <a:pt x="219456" y="804672"/>
                </a:lnTo>
                <a:lnTo>
                  <a:pt x="146304" y="749808"/>
                </a:lnTo>
                <a:lnTo>
                  <a:pt x="73152" y="804672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521208" y="2871216"/>
            <a:ext cx="365760" cy="36576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21208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HC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978408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Haifa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8408" y="30358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Interfaces · design constraints · architecture skeleton · review #24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017520" y="2743200"/>
            <a:ext cx="2487168" cy="804672"/>
          </a:xfrm>
          <a:custGeom>
            <a:avLst/>
            <a:gdLst/>
            <a:ahLst/>
            <a:cxnLst/>
            <a:rect l="l" t="t" r="r" b="b"/>
            <a:pathLst>
              <a:path w="2487168" h="804672">
                <a:moveTo>
                  <a:pt x="0" y="0"/>
                </a:moveTo>
                <a:lnTo>
                  <a:pt x="2487168" y="0"/>
                </a:lnTo>
                <a:lnTo>
                  <a:pt x="2487168" y="749808"/>
                </a:lnTo>
                <a:lnTo>
                  <a:pt x="2414016" y="804672"/>
                </a:lnTo>
                <a:lnTo>
                  <a:pt x="2340864" y="749808"/>
                </a:lnTo>
                <a:lnTo>
                  <a:pt x="2267712" y="804672"/>
                </a:lnTo>
                <a:lnTo>
                  <a:pt x="2194560" y="749808"/>
                </a:lnTo>
                <a:lnTo>
                  <a:pt x="2121408" y="804672"/>
                </a:lnTo>
                <a:lnTo>
                  <a:pt x="2048256" y="749808"/>
                </a:lnTo>
                <a:lnTo>
                  <a:pt x="1975104" y="804672"/>
                </a:lnTo>
                <a:lnTo>
                  <a:pt x="1901952" y="749808"/>
                </a:lnTo>
                <a:lnTo>
                  <a:pt x="1828800" y="804672"/>
                </a:lnTo>
                <a:lnTo>
                  <a:pt x="1755648" y="749808"/>
                </a:lnTo>
                <a:lnTo>
                  <a:pt x="1682496" y="804672"/>
                </a:lnTo>
                <a:lnTo>
                  <a:pt x="1609344" y="749808"/>
                </a:lnTo>
                <a:lnTo>
                  <a:pt x="1536192" y="804672"/>
                </a:lnTo>
                <a:lnTo>
                  <a:pt x="1463040" y="749808"/>
                </a:lnTo>
                <a:lnTo>
                  <a:pt x="1389888" y="804672"/>
                </a:lnTo>
                <a:lnTo>
                  <a:pt x="1316736" y="749808"/>
                </a:lnTo>
                <a:lnTo>
                  <a:pt x="1243584" y="804672"/>
                </a:lnTo>
                <a:lnTo>
                  <a:pt x="1170432" y="749808"/>
                </a:lnTo>
                <a:lnTo>
                  <a:pt x="1097280" y="804672"/>
                </a:lnTo>
                <a:lnTo>
                  <a:pt x="1024128" y="749808"/>
                </a:lnTo>
                <a:lnTo>
                  <a:pt x="950976" y="804672"/>
                </a:lnTo>
                <a:lnTo>
                  <a:pt x="877824" y="749808"/>
                </a:lnTo>
                <a:lnTo>
                  <a:pt x="804672" y="804672"/>
                </a:lnTo>
                <a:lnTo>
                  <a:pt x="731520" y="749808"/>
                </a:lnTo>
                <a:lnTo>
                  <a:pt x="658368" y="804672"/>
                </a:lnTo>
                <a:lnTo>
                  <a:pt x="585216" y="749808"/>
                </a:lnTo>
                <a:lnTo>
                  <a:pt x="512064" y="804672"/>
                </a:lnTo>
                <a:lnTo>
                  <a:pt x="438912" y="749808"/>
                </a:lnTo>
                <a:lnTo>
                  <a:pt x="365760" y="804672"/>
                </a:lnTo>
                <a:lnTo>
                  <a:pt x="292608" y="749808"/>
                </a:lnTo>
                <a:lnTo>
                  <a:pt x="219456" y="804672"/>
                </a:lnTo>
                <a:lnTo>
                  <a:pt x="146304" y="749808"/>
                </a:lnTo>
                <a:lnTo>
                  <a:pt x="73152" y="804672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3127248" y="2871216"/>
            <a:ext cx="365760" cy="36576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3127248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3584448" y="28163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181D"/>
                </a:solidFill>
              </a:rPr>
              <a:t>Avni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3584448" y="30358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B717B"/>
                </a:solidFill>
              </a:rPr>
              <a:t>UC3 · UC4 · acceptance criteria · glossary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5760720" y="914400"/>
            <a:ext cx="2971800" cy="2633472"/>
          </a:xfrm>
          <a:prstGeom prst="rect">
            <a:avLst/>
          </a:prstGeom>
          <a:solidFill>
            <a:srgbClr val="16181D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5897880" y="1005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2E"/>
                </a:solidFill>
              </a:rPr>
              <a:t>Lessons → changes for W08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5897880" y="1325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Integration was late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589788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CDD3"/>
                </a:solidFill>
              </a:rPr>
              <a:t>→ integration deadline one day before the reviews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5897880" y="2057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Merge commits in main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589788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CDD3"/>
                </a:solidFill>
              </a:rPr>
              <a:t>→ git pull --rebase checked before every push</a:t>
            </a:r>
            <a:endParaRPr lang="en-US" sz="850" dirty="0"/>
          </a:p>
        </p:txBody>
      </p:sp>
      <p:sp>
        <p:nvSpPr>
          <p:cNvPr id="62" name="Text 59"/>
          <p:cNvSpPr txBox="1"/>
          <p:nvPr/>
        </p:nvSpPr>
        <p:spPr>
          <a:xfrm>
            <a:off x="5897880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Texts rewritten in two places</a:t>
            </a:r>
            <a:endParaRPr lang="en-US" sz="950" dirty="0"/>
          </a:p>
        </p:txBody>
      </p:sp>
      <p:sp>
        <p:nvSpPr>
          <p:cNvPr id="63" name="Text 60"/>
          <p:cNvSpPr txBox="1"/>
          <p:nvPr/>
        </p:nvSpPr>
        <p:spPr>
          <a:xfrm>
            <a:off x="589788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CDD3"/>
                </a:solidFill>
              </a:rPr>
              <a:t>→ copy from the SRS: one source of truth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411480" y="37490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17B"/>
                </a:solidFill>
              </a:rPr>
              <a:t>70 commits this week · 2 review Issues · every member owns at least one SRS section.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#END  CONCLUSION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Increment 1 is closed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14600" cy="1920240"/>
          </a:xfrm>
          <a:custGeom>
            <a:avLst/>
            <a:gdLst/>
            <a:ahLst/>
            <a:cxnLst/>
            <a:rect l="l" t="t" r="r" b="b"/>
            <a:pathLst>
              <a:path w="2514600" h="1920240">
                <a:moveTo>
                  <a:pt x="0" y="0"/>
                </a:moveTo>
                <a:lnTo>
                  <a:pt x="2514600" y="0"/>
                </a:lnTo>
                <a:lnTo>
                  <a:pt x="2514600" y="1865376"/>
                </a:lnTo>
                <a:lnTo>
                  <a:pt x="2440641" y="1920240"/>
                </a:lnTo>
                <a:lnTo>
                  <a:pt x="2366682" y="1865376"/>
                </a:lnTo>
                <a:lnTo>
                  <a:pt x="2292724" y="1920240"/>
                </a:lnTo>
                <a:lnTo>
                  <a:pt x="2218765" y="1865376"/>
                </a:lnTo>
                <a:lnTo>
                  <a:pt x="2144806" y="1920240"/>
                </a:lnTo>
                <a:lnTo>
                  <a:pt x="2070847" y="1865376"/>
                </a:lnTo>
                <a:lnTo>
                  <a:pt x="1996888" y="1920240"/>
                </a:lnTo>
                <a:lnTo>
                  <a:pt x="1922929" y="1865376"/>
                </a:lnTo>
                <a:lnTo>
                  <a:pt x="1848971" y="1920240"/>
                </a:lnTo>
                <a:lnTo>
                  <a:pt x="1775012" y="1865376"/>
                </a:lnTo>
                <a:lnTo>
                  <a:pt x="1701053" y="1920240"/>
                </a:lnTo>
                <a:lnTo>
                  <a:pt x="1627094" y="1865376"/>
                </a:lnTo>
                <a:lnTo>
                  <a:pt x="1553135" y="1920240"/>
                </a:lnTo>
                <a:lnTo>
                  <a:pt x="1479176" y="1865376"/>
                </a:lnTo>
                <a:lnTo>
                  <a:pt x="1405218" y="1920240"/>
                </a:lnTo>
                <a:lnTo>
                  <a:pt x="1331259" y="1865376"/>
                </a:lnTo>
                <a:lnTo>
                  <a:pt x="1257300" y="1920240"/>
                </a:lnTo>
                <a:lnTo>
                  <a:pt x="1183341" y="1865376"/>
                </a:lnTo>
                <a:lnTo>
                  <a:pt x="1109382" y="1920240"/>
                </a:lnTo>
                <a:lnTo>
                  <a:pt x="1035424" y="1865376"/>
                </a:lnTo>
                <a:lnTo>
                  <a:pt x="961465" y="1920240"/>
                </a:lnTo>
                <a:lnTo>
                  <a:pt x="887506" y="1865376"/>
                </a:lnTo>
                <a:lnTo>
                  <a:pt x="813547" y="1920240"/>
                </a:lnTo>
                <a:lnTo>
                  <a:pt x="739588" y="1865376"/>
                </a:lnTo>
                <a:lnTo>
                  <a:pt x="665629" y="1920240"/>
                </a:lnTo>
                <a:lnTo>
                  <a:pt x="591671" y="1865376"/>
                </a:lnTo>
                <a:lnTo>
                  <a:pt x="517712" y="1920240"/>
                </a:lnTo>
                <a:lnTo>
                  <a:pt x="443753" y="1865376"/>
                </a:lnTo>
                <a:lnTo>
                  <a:pt x="369794" y="1920240"/>
                </a:lnTo>
                <a:lnTo>
                  <a:pt x="295835" y="1865376"/>
                </a:lnTo>
                <a:lnTo>
                  <a:pt x="221876" y="1920240"/>
                </a:lnTo>
                <a:lnTo>
                  <a:pt x="147918" y="1865376"/>
                </a:lnTo>
                <a:lnTo>
                  <a:pt x="73959" y="1920240"/>
                </a:lnTo>
                <a:lnTo>
                  <a:pt x="0" y="186537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SRS v1.0 baselined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762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17B"/>
                </a:solidFill>
              </a:rPr>
              <a:t>5 use cases fully dressed, 132 requirements with ID, priority, source and verification method.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514600" cy="1920240"/>
          </a:xfrm>
          <a:custGeom>
            <a:avLst/>
            <a:gdLst/>
            <a:ahLst/>
            <a:cxnLst/>
            <a:rect l="l" t="t" r="r" b="b"/>
            <a:pathLst>
              <a:path w="2514600" h="1920240">
                <a:moveTo>
                  <a:pt x="0" y="0"/>
                </a:moveTo>
                <a:lnTo>
                  <a:pt x="2514600" y="0"/>
                </a:lnTo>
                <a:lnTo>
                  <a:pt x="2514600" y="1865376"/>
                </a:lnTo>
                <a:lnTo>
                  <a:pt x="2440641" y="1920240"/>
                </a:lnTo>
                <a:lnTo>
                  <a:pt x="2366682" y="1865376"/>
                </a:lnTo>
                <a:lnTo>
                  <a:pt x="2292724" y="1920240"/>
                </a:lnTo>
                <a:lnTo>
                  <a:pt x="2218765" y="1865376"/>
                </a:lnTo>
                <a:lnTo>
                  <a:pt x="2144806" y="1920240"/>
                </a:lnTo>
                <a:lnTo>
                  <a:pt x="2070847" y="1865376"/>
                </a:lnTo>
                <a:lnTo>
                  <a:pt x="1996888" y="1920240"/>
                </a:lnTo>
                <a:lnTo>
                  <a:pt x="1922929" y="1865376"/>
                </a:lnTo>
                <a:lnTo>
                  <a:pt x="1848971" y="1920240"/>
                </a:lnTo>
                <a:lnTo>
                  <a:pt x="1775012" y="1865376"/>
                </a:lnTo>
                <a:lnTo>
                  <a:pt x="1701053" y="1920240"/>
                </a:lnTo>
                <a:lnTo>
                  <a:pt x="1627094" y="1865376"/>
                </a:lnTo>
                <a:lnTo>
                  <a:pt x="1553135" y="1920240"/>
                </a:lnTo>
                <a:lnTo>
                  <a:pt x="1479176" y="1865376"/>
                </a:lnTo>
                <a:lnTo>
                  <a:pt x="1405218" y="1920240"/>
                </a:lnTo>
                <a:lnTo>
                  <a:pt x="1331259" y="1865376"/>
                </a:lnTo>
                <a:lnTo>
                  <a:pt x="1257300" y="1920240"/>
                </a:lnTo>
                <a:lnTo>
                  <a:pt x="1183341" y="1865376"/>
                </a:lnTo>
                <a:lnTo>
                  <a:pt x="1109382" y="1920240"/>
                </a:lnTo>
                <a:lnTo>
                  <a:pt x="1035424" y="1865376"/>
                </a:lnTo>
                <a:lnTo>
                  <a:pt x="961465" y="1920240"/>
                </a:lnTo>
                <a:lnTo>
                  <a:pt x="887506" y="1865376"/>
                </a:lnTo>
                <a:lnTo>
                  <a:pt x="813547" y="1920240"/>
                </a:lnTo>
                <a:lnTo>
                  <a:pt x="739588" y="1865376"/>
                </a:lnTo>
                <a:lnTo>
                  <a:pt x="665629" y="1920240"/>
                </a:lnTo>
                <a:lnTo>
                  <a:pt x="591671" y="1865376"/>
                </a:lnTo>
                <a:lnTo>
                  <a:pt x="517712" y="1920240"/>
                </a:lnTo>
                <a:lnTo>
                  <a:pt x="443753" y="1865376"/>
                </a:lnTo>
                <a:lnTo>
                  <a:pt x="369794" y="1920240"/>
                </a:lnTo>
                <a:lnTo>
                  <a:pt x="295835" y="1865376"/>
                </a:lnTo>
                <a:lnTo>
                  <a:pt x="221876" y="1920240"/>
                </a:lnTo>
                <a:lnTo>
                  <a:pt x="147918" y="1865376"/>
                </a:lnTo>
                <a:lnTo>
                  <a:pt x="73959" y="1920240"/>
                </a:lnTo>
                <a:lnTo>
                  <a:pt x="0" y="186537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10712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Consistent and reviewed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1762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17B"/>
                </a:solidFill>
              </a:rPr>
              <a:t>28 review findings fixed; one rule for external failures in every use case.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1325880"/>
            <a:ext cx="2514600" cy="1920240"/>
          </a:xfrm>
          <a:custGeom>
            <a:avLst/>
            <a:gdLst/>
            <a:ahLst/>
            <a:cxnLst/>
            <a:rect l="l" t="t" r="r" b="b"/>
            <a:pathLst>
              <a:path w="2514600" h="1920240">
                <a:moveTo>
                  <a:pt x="0" y="0"/>
                </a:moveTo>
                <a:lnTo>
                  <a:pt x="2514600" y="0"/>
                </a:lnTo>
                <a:lnTo>
                  <a:pt x="2514600" y="1865376"/>
                </a:lnTo>
                <a:lnTo>
                  <a:pt x="2440641" y="1920240"/>
                </a:lnTo>
                <a:lnTo>
                  <a:pt x="2366682" y="1865376"/>
                </a:lnTo>
                <a:lnTo>
                  <a:pt x="2292724" y="1920240"/>
                </a:lnTo>
                <a:lnTo>
                  <a:pt x="2218765" y="1865376"/>
                </a:lnTo>
                <a:lnTo>
                  <a:pt x="2144806" y="1920240"/>
                </a:lnTo>
                <a:lnTo>
                  <a:pt x="2070847" y="1865376"/>
                </a:lnTo>
                <a:lnTo>
                  <a:pt x="1996888" y="1920240"/>
                </a:lnTo>
                <a:lnTo>
                  <a:pt x="1922929" y="1865376"/>
                </a:lnTo>
                <a:lnTo>
                  <a:pt x="1848971" y="1920240"/>
                </a:lnTo>
                <a:lnTo>
                  <a:pt x="1775012" y="1865376"/>
                </a:lnTo>
                <a:lnTo>
                  <a:pt x="1701053" y="1920240"/>
                </a:lnTo>
                <a:lnTo>
                  <a:pt x="1627094" y="1865376"/>
                </a:lnTo>
                <a:lnTo>
                  <a:pt x="1553135" y="1920240"/>
                </a:lnTo>
                <a:lnTo>
                  <a:pt x="1479176" y="1865376"/>
                </a:lnTo>
                <a:lnTo>
                  <a:pt x="1405218" y="1920240"/>
                </a:lnTo>
                <a:lnTo>
                  <a:pt x="1331259" y="1865376"/>
                </a:lnTo>
                <a:lnTo>
                  <a:pt x="1257300" y="1920240"/>
                </a:lnTo>
                <a:lnTo>
                  <a:pt x="1183341" y="1865376"/>
                </a:lnTo>
                <a:lnTo>
                  <a:pt x="1109382" y="1920240"/>
                </a:lnTo>
                <a:lnTo>
                  <a:pt x="1035424" y="1865376"/>
                </a:lnTo>
                <a:lnTo>
                  <a:pt x="961465" y="1920240"/>
                </a:lnTo>
                <a:lnTo>
                  <a:pt x="887506" y="1865376"/>
                </a:lnTo>
                <a:lnTo>
                  <a:pt x="813547" y="1920240"/>
                </a:lnTo>
                <a:lnTo>
                  <a:pt x="739588" y="1865376"/>
                </a:lnTo>
                <a:lnTo>
                  <a:pt x="665629" y="1920240"/>
                </a:lnTo>
                <a:lnTo>
                  <a:pt x="591671" y="1865376"/>
                </a:lnTo>
                <a:lnTo>
                  <a:pt x="517712" y="1920240"/>
                </a:lnTo>
                <a:lnTo>
                  <a:pt x="443753" y="1865376"/>
                </a:lnTo>
                <a:lnTo>
                  <a:pt x="369794" y="1920240"/>
                </a:lnTo>
                <a:lnTo>
                  <a:pt x="295835" y="1865376"/>
                </a:lnTo>
                <a:lnTo>
                  <a:pt x="221876" y="1920240"/>
                </a:lnTo>
                <a:lnTo>
                  <a:pt x="147918" y="1865376"/>
                </a:lnTo>
                <a:lnTo>
                  <a:pt x="73959" y="1920240"/>
                </a:lnTo>
                <a:lnTo>
                  <a:pt x="0" y="1865376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08192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108192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</a:rPr>
              <a:t>Design started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08192" y="21762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17B"/>
                </a:solidFill>
              </a:rPr>
              <a:t>Domain model, SSD and contracts for UC1; architecture drivers ready for the style decision.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· W08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system interfaces from the SSDs, contracts for UC2–UC5, architecture style and technology (AD-01 to AD-03).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 · Questions?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75120" y="4160520"/>
            <a:ext cx="6400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771132" y="4160520"/>
            <a:ext cx="3200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99148" y="4160520"/>
            <a:ext cx="3200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995160" y="4160520"/>
            <a:ext cx="3200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059168" y="4160520"/>
            <a:ext cx="6400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19188" y="4160520"/>
            <a:ext cx="3200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283196" y="4160520"/>
            <a:ext cx="6400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379208" y="4160520"/>
            <a:ext cx="9601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507224" y="4160520"/>
            <a:ext cx="3200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603236" y="4160520"/>
            <a:ext cx="3200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699248" y="4160520"/>
            <a:ext cx="96012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827264" y="4160520"/>
            <a:ext cx="64008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923276" y="4160520"/>
            <a:ext cx="3200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1292" y="4160520"/>
            <a:ext cx="64008" cy="41148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W07</dc:title>
  <dc:subject>PptxGenJS Presentation</dc:subject>
  <dc:creator>Team D</dc:creator>
  <cp:lastModifiedBy>Team D</cp:lastModifiedBy>
  <cp:revision>1</cp:revision>
  <dcterms:created xsi:type="dcterms:W3CDTF">2026-10-28T09:54:21Z</dcterms:created>
  <dcterms:modified xsi:type="dcterms:W3CDTF">2026-10-28T09:54:21Z</dcterms:modified>
</cp:coreProperties>
</file>