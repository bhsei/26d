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72fb662-0e9f-f9f4-9c22-207445240c6a}">
          <p14:sldIdLst>
            <p14:sldId id="256"/>
          </p14:sldIdLst>
        </p14:section>
        <p14:section name="Technical progress" id="{03a4ac36-aca1-99a6-2bbc-b694c1ce558a}">
          <p14:sldIdLst>
            <p14:sldId id="257"/>
            <p14:sldId id="258"/>
            <p14:sldId id="259"/>
            <p14:sldId id="260"/>
            <p14:sldId id="261"/>
          </p14:sldIdLst>
        </p14:section>
        <p14:section name="Deliverables" id="{b113f033-f9e0-8eda-a783-da9426d7655c}">
          <p14:sldIdLst>
            <p14:sldId id="262"/>
            <p14:sldId id="263"/>
          </p14:sldIdLst>
        </p14:section>
        <p14:section name="Team" id="{d59e3305-4dfd-eb6c-3f68-2a6ac3348bfa}">
          <p14:sldIdLst>
            <p14:sldId id="264"/>
            <p14:sldId id="265"/>
          </p14:sldIdLst>
        </p14:section>
        <p14:section name="Conclusion" id="{68f7e5b4-44c8-6e81-5c48-7dad8d29fa2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(max 10 min): 1) Technical progress – system development; 2) Experimental progress – deliverables; 3) Team collaboration and management (max 2 min). Course topics covered so far: program quality, software characteristics, SE overview and software process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use case diagram of the whole system: one primary actor (Cashier), four use cases and four supporting actors (external systems). Process Sale is the core use case and will be the first one we specify. Based on the NextGen/NuevaEra POS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can build on. The case is proven, so effort goes into the engineering process, not inventing a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Criteria from the process-models lecture: how well defined and volatile the requirements are, team experience, size/complexity and whether partial deliveries are needed. Waterfall fails on feedback, spiral is overkill, prototyping is a support technique. Iterative-incremental (Unified Process style)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now at the start of increment 1. Each increment ends with a course milestone, which gives us feedback from the other teams before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classification is fixed now. The detail of each requirement is the work of increment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the status column to the real state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owns one part of the SRS; Alfonso integrates. Drafts reviewed with GitHub Issues before week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proposed from each member's strengths; to be confirmed by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chart of the 16-week course (also in plans/project_schedule.md as Mermaid). We are in week 5, starting the requirements increment. Owners are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in 30 seconds: what we have, how we will work, what comes next.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4D5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800" b="1" dirty="0">
                <a:solidFill>
                  <a:srgbClr val="FFFFFF"/>
                </a:solidFill>
              </a:rPr>
              <a:t>NewEra POS — Progress Report</a:t>
            </a:r>
            <a:endParaRPr lang="en-US" sz="3800" dirty="0"/>
          </a:p>
        </p:txBody>
      </p:sp>
      <p:sp>
        <p:nvSpPr>
          <p:cNvPr id="3" name="Text 1"/>
          <p:cNvSpPr txBox="1"/>
          <p:nvPr/>
        </p:nvSpPr>
        <p:spPr>
          <a:xfrm>
            <a:off x="548640" y="2331720"/>
            <a:ext cx="8046720" cy="411480"/>
          </a:xfrm>
          <a:prstGeom prst="rect">
            <a:avLst/>
          </a:prstGeom>
          <a:noFill/>
          <a:ln/>
        </p:spPr>
        <p:txBody>
          <a:bodyPr wrap="square" lIns="0" tIns="0" rIns="0" bIns="0" rtlCol="0" anchor="ctr"/>
          <a:lstStyle/>
          <a:p>
            <a:pPr indent="0" marL="0">
              <a:buNone/>
            </a:pPr>
            <a:r>
              <a:rPr lang="en-US" sz="1800" dirty="0">
                <a:solidFill>
                  <a:srgbClr val="CFE3E1"/>
                </a:solidFill>
              </a:rPr>
              <a:t>Weekly Report W05 · Foundations: quality, software process model and project plan</a:t>
            </a:r>
            <a:endParaRPr lang="en-US" sz="1800" dirty="0"/>
          </a:p>
        </p:txBody>
      </p:sp>
      <p:sp>
        <p:nvSpPr>
          <p:cNvPr id="4" name="Text 2"/>
          <p:cNvSpPr txBox="1"/>
          <p:nvPr/>
        </p:nvSpPr>
        <p:spPr>
          <a:xfrm>
            <a:off x="548640" y="4023360"/>
            <a:ext cx="8046720" cy="320040"/>
          </a:xfrm>
          <a:prstGeom prst="rect">
            <a:avLst/>
          </a:prstGeom>
          <a:noFill/>
          <a:ln/>
        </p:spPr>
        <p:txBody>
          <a:bodyPr wrap="square" lIns="0" tIns="0" rIns="0" bIns="0" rtlCol="0" anchor="ctr"/>
          <a:lstStyle/>
          <a:p>
            <a:pPr indent="0" marL="0">
              <a:buNone/>
            </a:pPr>
            <a:r>
              <a:rPr lang="en-US" sz="1300" dirty="0">
                <a:solidFill>
                  <a:srgbClr val="CFE3E1"/>
                </a:solidFill>
              </a:rPr>
              <a:t>Team D · Software Engineering · Beihang University (BUAA) · github.com/bhsei/26D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What the system must do: use case diagram</a:t>
            </a:r>
            <a:endParaRPr lang="en-US" sz="2800" dirty="0"/>
          </a:p>
        </p:txBody>
      </p:sp>
      <p:sp>
        <p:nvSpPr>
          <p:cNvPr id="43" name="Text 41"/>
          <p:cNvSpPr txBox="1"/>
          <p:nvPr/>
        </p:nvSpPr>
        <p:spPr>
          <a:xfrm>
            <a:off x="457200" y="1005840"/>
            <a:ext cx="8229600" cy="365760"/>
          </a:xfrm>
          <a:prstGeom prst="rect">
            <a:avLst/>
          </a:prstGeom>
          <a:noFill/>
          <a:ln/>
        </p:spPr>
        <p:txBody>
          <a:bodyPr wrap="square" lIns="0" tIns="0" rIns="0" bIns="0" rtlCol="0" anchor="ctr"/>
          <a:lstStyle/>
          <a:p>
            <a:pPr indent="0" marL="0">
              <a:buNone/>
            </a:pPr>
            <a:r>
              <a:rPr lang="en-US" sz="1200" dirty="0">
                <a:solidFill>
                  <a:srgbClr val="1F2A30"/>
                </a:solidFill>
              </a:rPr>
              <a:t>The cashier records purchases, calculates totals and taxes, takes payment, updates inventory and prints the receipt — plus returns and equipment rentals.</a:t>
            </a:r>
            <a:endParaRPr lang="en-US" sz="1200" dirty="0"/>
          </a:p>
        </p:txBody>
      </p:sp>
      <p:sp>
        <p:nvSpPr>
          <p:cNvPr id="44" name="Shape 42"/>
          <p:cNvSpPr/>
          <p:nvPr/>
        </p:nvSpPr>
        <p:spPr>
          <a:xfrm>
            <a:off x="2103120" y="1463040"/>
            <a:ext cx="3657600" cy="2880360"/>
          </a:xfrm>
          <a:prstGeom prst="rect">
            <a:avLst/>
          </a:prstGeom>
          <a:solidFill>
            <a:srgbClr val="F4F8F8"/>
          </a:solidFill>
          <a:ln w="15875">
            <a:solidFill>
              <a:srgbClr val="0E4D5C"/>
            </a:solidFill>
            <a:prstDash val="solid"/>
          </a:ln>
        </p:spPr>
      </p:sp>
      <p:sp>
        <p:nvSpPr>
          <p:cNvPr id="45" name="Text 43"/>
          <p:cNvSpPr txBox="1"/>
          <p:nvPr/>
        </p:nvSpPr>
        <p:spPr>
          <a:xfrm>
            <a:off x="2194560" y="1490472"/>
            <a:ext cx="1828800" cy="228600"/>
          </a:xfrm>
          <a:prstGeom prst="rect">
            <a:avLst/>
          </a:prstGeom>
          <a:noFill/>
          <a:ln/>
        </p:spPr>
        <p:txBody>
          <a:bodyPr wrap="square" lIns="0" tIns="0" rIns="0" bIns="0" rtlCol="0" anchor="ctr"/>
          <a:lstStyle/>
          <a:p>
            <a:pPr indent="0" marL="0">
              <a:buNone/>
            </a:pPr>
            <a:r>
              <a:rPr lang="en-US" sz="1100" b="1" dirty="0">
                <a:solidFill>
                  <a:srgbClr val="0E4D5C"/>
                </a:solidFill>
              </a:rPr>
              <a:t>NewEra POS</a:t>
            </a:r>
            <a:endParaRPr lang="en-US" sz="1100" dirty="0"/>
          </a:p>
        </p:txBody>
      </p:sp>
      <p:sp>
        <p:nvSpPr>
          <p:cNvPr id="46" name="Shape 44"/>
          <p:cNvSpPr/>
          <p:nvPr/>
        </p:nvSpPr>
        <p:spPr>
          <a:xfrm>
            <a:off x="795528" y="2286000"/>
            <a:ext cx="237744" cy="237744"/>
          </a:xfrm>
          <a:prstGeom prst="ellipse">
            <a:avLst/>
          </a:prstGeom>
          <a:solidFill>
            <a:srgbClr val="FFFFFF"/>
          </a:solidFill>
          <a:ln w="19050">
            <a:solidFill>
              <a:srgbClr val="34495E"/>
            </a:solidFill>
            <a:prstDash val="solid"/>
          </a:ln>
        </p:spPr>
      </p:sp>
      <p:sp>
        <p:nvSpPr>
          <p:cNvPr id="47" name="Shape 45"/>
          <p:cNvSpPr/>
          <p:nvPr/>
        </p:nvSpPr>
        <p:spPr>
          <a:xfrm>
            <a:off x="914400" y="2523744"/>
            <a:ext cx="9144" cy="402336"/>
          </a:xfrm>
          <a:prstGeom prst="line">
            <a:avLst/>
          </a:prstGeom>
          <a:noFill/>
          <a:ln w="19050">
            <a:solidFill>
              <a:srgbClr val="34495E"/>
            </a:solidFill>
            <a:prstDash val="solid"/>
          </a:ln>
        </p:spPr>
      </p:sp>
      <p:sp>
        <p:nvSpPr>
          <p:cNvPr id="48" name="Shape 46"/>
          <p:cNvSpPr/>
          <p:nvPr/>
        </p:nvSpPr>
        <p:spPr>
          <a:xfrm>
            <a:off x="685800" y="2651760"/>
            <a:ext cx="457200" cy="9144"/>
          </a:xfrm>
          <a:prstGeom prst="line">
            <a:avLst/>
          </a:prstGeom>
          <a:noFill/>
          <a:ln w="19050">
            <a:solidFill>
              <a:srgbClr val="34495E"/>
            </a:solidFill>
            <a:prstDash val="solid"/>
          </a:ln>
        </p:spPr>
      </p:sp>
      <p:sp>
        <p:nvSpPr>
          <p:cNvPr id="49" name="Shape 47"/>
          <p:cNvSpPr/>
          <p:nvPr/>
        </p:nvSpPr>
        <p:spPr>
          <a:xfrm flipV="1">
            <a:off x="731520" y="2926080"/>
            <a:ext cx="182880" cy="274320"/>
          </a:xfrm>
          <a:prstGeom prst="line">
            <a:avLst/>
          </a:prstGeom>
          <a:noFill/>
          <a:ln w="19050">
            <a:solidFill>
              <a:srgbClr val="34495E"/>
            </a:solidFill>
            <a:prstDash val="solid"/>
          </a:ln>
        </p:spPr>
      </p:sp>
      <p:sp>
        <p:nvSpPr>
          <p:cNvPr id="50" name="Shape 48"/>
          <p:cNvSpPr/>
          <p:nvPr/>
        </p:nvSpPr>
        <p:spPr>
          <a:xfrm>
            <a:off x="914400" y="2926080"/>
            <a:ext cx="182880" cy="274320"/>
          </a:xfrm>
          <a:prstGeom prst="line">
            <a:avLst/>
          </a:prstGeom>
          <a:noFill/>
          <a:ln w="19050">
            <a:solidFill>
              <a:srgbClr val="34495E"/>
            </a:solidFill>
            <a:prstDash val="solid"/>
          </a:ln>
        </p:spPr>
      </p:sp>
      <p:sp>
        <p:nvSpPr>
          <p:cNvPr id="51" name="Text 49"/>
          <p:cNvSpPr txBox="1"/>
          <p:nvPr/>
        </p:nvSpPr>
        <p:spPr>
          <a:xfrm>
            <a:off x="274320" y="3227832"/>
            <a:ext cx="1280160" cy="228600"/>
          </a:xfrm>
          <a:prstGeom prst="rect">
            <a:avLst/>
          </a:prstGeom>
          <a:noFill/>
          <a:ln/>
        </p:spPr>
        <p:txBody>
          <a:bodyPr wrap="square" lIns="0" tIns="0" rIns="0" bIns="0" rtlCol="0" anchor="ctr"/>
          <a:lstStyle/>
          <a:p>
            <a:pPr algn="ctr" indent="0" marL="0">
              <a:buNone/>
            </a:pPr>
            <a:r>
              <a:rPr lang="en-US" sz="1200" b="1" dirty="0">
                <a:solidFill>
                  <a:srgbClr val="1F2A30"/>
                </a:solidFill>
              </a:rPr>
              <a:t>Cashier</a:t>
            </a:r>
            <a:endParaRPr lang="en-US" sz="1200" dirty="0"/>
          </a:p>
        </p:txBody>
      </p:sp>
      <p:sp>
        <p:nvSpPr>
          <p:cNvPr id="52" name="Shape 50"/>
          <p:cNvSpPr/>
          <p:nvPr/>
        </p:nvSpPr>
        <p:spPr>
          <a:xfrm flipV="1">
            <a:off x="1161288" y="2029968"/>
            <a:ext cx="1581912" cy="667512"/>
          </a:xfrm>
          <a:prstGeom prst="line">
            <a:avLst/>
          </a:prstGeom>
          <a:noFill/>
          <a:ln w="12700">
            <a:solidFill>
              <a:srgbClr val="34495E"/>
            </a:solidFill>
            <a:prstDash val="solid"/>
          </a:ln>
        </p:spPr>
      </p:sp>
      <p:sp>
        <p:nvSpPr>
          <p:cNvPr id="53" name="Shape 51"/>
          <p:cNvSpPr/>
          <p:nvPr/>
        </p:nvSpPr>
        <p:spPr>
          <a:xfrm flipV="1">
            <a:off x="1161288" y="2670048"/>
            <a:ext cx="1581912" cy="27432"/>
          </a:xfrm>
          <a:prstGeom prst="line">
            <a:avLst/>
          </a:prstGeom>
          <a:noFill/>
          <a:ln w="12700">
            <a:solidFill>
              <a:srgbClr val="34495E"/>
            </a:solidFill>
            <a:prstDash val="solid"/>
          </a:ln>
        </p:spPr>
      </p:sp>
      <p:sp>
        <p:nvSpPr>
          <p:cNvPr id="54" name="Shape 52"/>
          <p:cNvSpPr/>
          <p:nvPr/>
        </p:nvSpPr>
        <p:spPr>
          <a:xfrm>
            <a:off x="1161288" y="2697480"/>
            <a:ext cx="1581912" cy="612648"/>
          </a:xfrm>
          <a:prstGeom prst="line">
            <a:avLst/>
          </a:prstGeom>
          <a:noFill/>
          <a:ln w="12700">
            <a:solidFill>
              <a:srgbClr val="34495E"/>
            </a:solidFill>
            <a:prstDash val="solid"/>
          </a:ln>
        </p:spPr>
      </p:sp>
      <p:sp>
        <p:nvSpPr>
          <p:cNvPr id="55" name="Shape 53"/>
          <p:cNvSpPr/>
          <p:nvPr/>
        </p:nvSpPr>
        <p:spPr>
          <a:xfrm>
            <a:off x="1161288" y="2697480"/>
            <a:ext cx="1581912" cy="1252728"/>
          </a:xfrm>
          <a:prstGeom prst="line">
            <a:avLst/>
          </a:prstGeom>
          <a:noFill/>
          <a:ln w="12700">
            <a:solidFill>
              <a:srgbClr val="34495E"/>
            </a:solidFill>
            <a:prstDash val="solid"/>
          </a:ln>
        </p:spPr>
      </p:sp>
      <p:sp>
        <p:nvSpPr>
          <p:cNvPr id="56" name="Shape 54"/>
          <p:cNvSpPr/>
          <p:nvPr/>
        </p:nvSpPr>
        <p:spPr>
          <a:xfrm>
            <a:off x="2743200" y="1783080"/>
            <a:ext cx="2377440" cy="502920"/>
          </a:xfrm>
          <a:prstGeom prst="ellipse">
            <a:avLst/>
          </a:prstGeom>
          <a:solidFill>
            <a:srgbClr val="0E4D5C"/>
          </a:solidFill>
          <a:ln w="12700">
            <a:solidFill>
              <a:srgbClr val="0E4D5C"/>
            </a:solidFill>
            <a:prstDash val="solid"/>
          </a:ln>
        </p:spPr>
      </p:sp>
      <p:sp>
        <p:nvSpPr>
          <p:cNvPr id="57" name="Text 55"/>
          <p:cNvSpPr txBox="1"/>
          <p:nvPr/>
        </p:nvSpPr>
        <p:spPr>
          <a:xfrm>
            <a:off x="2743200" y="1783080"/>
            <a:ext cx="2377440" cy="502920"/>
          </a:xfrm>
          <a:prstGeom prst="rect">
            <a:avLst/>
          </a:prstGeom>
          <a:noFill/>
          <a:ln/>
        </p:spPr>
        <p:txBody>
          <a:bodyPr wrap="square" lIns="0" tIns="0" rIns="0" bIns="0" rtlCol="0" anchor="ctr"/>
          <a:lstStyle/>
          <a:p>
            <a:pPr algn="ctr" indent="0" marL="0">
              <a:buNone/>
            </a:pPr>
            <a:r>
              <a:rPr lang="en-US" sz="1300" b="1" dirty="0">
                <a:solidFill>
                  <a:srgbClr val="FFFFFF"/>
                </a:solidFill>
              </a:rPr>
              <a:t>Process Sale</a:t>
            </a:r>
            <a:endParaRPr lang="en-US" sz="1300" dirty="0"/>
          </a:p>
        </p:txBody>
      </p:sp>
      <p:sp>
        <p:nvSpPr>
          <p:cNvPr id="58" name="Shape 56"/>
          <p:cNvSpPr/>
          <p:nvPr/>
        </p:nvSpPr>
        <p:spPr>
          <a:xfrm>
            <a:off x="2743200" y="2423160"/>
            <a:ext cx="2377440" cy="502920"/>
          </a:xfrm>
          <a:prstGeom prst="ellipse">
            <a:avLst/>
          </a:prstGeom>
          <a:solidFill>
            <a:srgbClr val="EAF2F2"/>
          </a:solidFill>
          <a:ln w="12700">
            <a:solidFill>
              <a:srgbClr val="0E4D5C"/>
            </a:solidFill>
            <a:prstDash val="solid"/>
          </a:ln>
        </p:spPr>
      </p:sp>
      <p:sp>
        <p:nvSpPr>
          <p:cNvPr id="59" name="Text 57"/>
          <p:cNvSpPr txBox="1"/>
          <p:nvPr/>
        </p:nvSpPr>
        <p:spPr>
          <a:xfrm>
            <a:off x="2743200" y="2423160"/>
            <a:ext cx="2377440" cy="502920"/>
          </a:xfrm>
          <a:prstGeom prst="rect">
            <a:avLst/>
          </a:prstGeom>
          <a:noFill/>
          <a:ln/>
        </p:spPr>
        <p:txBody>
          <a:bodyPr wrap="square" lIns="0" tIns="0" rIns="0" bIns="0" rtlCol="0" anchor="ctr"/>
          <a:lstStyle/>
          <a:p>
            <a:pPr algn="ctr" indent="0" marL="0">
              <a:buNone/>
            </a:pPr>
            <a:r>
              <a:rPr lang="en-US" sz="1300" b="1" dirty="0">
                <a:solidFill>
                  <a:srgbClr val="0E4D5C"/>
                </a:solidFill>
              </a:rPr>
              <a:t>Handle Returns</a:t>
            </a:r>
            <a:endParaRPr lang="en-US" sz="1300" dirty="0"/>
          </a:p>
        </p:txBody>
      </p:sp>
      <p:sp>
        <p:nvSpPr>
          <p:cNvPr id="60" name="Shape 58"/>
          <p:cNvSpPr/>
          <p:nvPr/>
        </p:nvSpPr>
        <p:spPr>
          <a:xfrm>
            <a:off x="2743200" y="3063240"/>
            <a:ext cx="2377440" cy="502920"/>
          </a:xfrm>
          <a:prstGeom prst="ellipse">
            <a:avLst/>
          </a:prstGeom>
          <a:solidFill>
            <a:srgbClr val="EAF2F2"/>
          </a:solidFill>
          <a:ln w="12700">
            <a:solidFill>
              <a:srgbClr val="0E4D5C"/>
            </a:solidFill>
            <a:prstDash val="solid"/>
          </a:ln>
        </p:spPr>
      </p:sp>
      <p:sp>
        <p:nvSpPr>
          <p:cNvPr id="61" name="Text 59"/>
          <p:cNvSpPr txBox="1"/>
          <p:nvPr/>
        </p:nvSpPr>
        <p:spPr>
          <a:xfrm>
            <a:off x="2743200" y="3063240"/>
            <a:ext cx="2377440" cy="502920"/>
          </a:xfrm>
          <a:prstGeom prst="rect">
            <a:avLst/>
          </a:prstGeom>
          <a:noFill/>
          <a:ln/>
        </p:spPr>
        <p:txBody>
          <a:bodyPr wrap="square" lIns="0" tIns="0" rIns="0" bIns="0" rtlCol="0" anchor="ctr"/>
          <a:lstStyle/>
          <a:p>
            <a:pPr algn="ctr" indent="0" marL="0">
              <a:buNone/>
            </a:pPr>
            <a:r>
              <a:rPr lang="en-US" sz="1300" b="1" dirty="0">
                <a:solidFill>
                  <a:srgbClr val="0E4D5C"/>
                </a:solidFill>
              </a:rPr>
              <a:t>Process Rental</a:t>
            </a:r>
            <a:endParaRPr lang="en-US" sz="1300" dirty="0"/>
          </a:p>
        </p:txBody>
      </p:sp>
      <p:sp>
        <p:nvSpPr>
          <p:cNvPr id="62" name="Shape 60"/>
          <p:cNvSpPr/>
          <p:nvPr/>
        </p:nvSpPr>
        <p:spPr>
          <a:xfrm>
            <a:off x="2743200" y="3703320"/>
            <a:ext cx="2377440" cy="502920"/>
          </a:xfrm>
          <a:prstGeom prst="ellipse">
            <a:avLst/>
          </a:prstGeom>
          <a:solidFill>
            <a:srgbClr val="EAF2F2"/>
          </a:solidFill>
          <a:ln w="12700">
            <a:solidFill>
              <a:srgbClr val="0E4D5C"/>
            </a:solidFill>
            <a:prstDash val="solid"/>
          </a:ln>
        </p:spPr>
      </p:sp>
      <p:sp>
        <p:nvSpPr>
          <p:cNvPr id="63" name="Text 61"/>
          <p:cNvSpPr txBox="1"/>
          <p:nvPr/>
        </p:nvSpPr>
        <p:spPr>
          <a:xfrm>
            <a:off x="2743200" y="3703320"/>
            <a:ext cx="2377440" cy="502920"/>
          </a:xfrm>
          <a:prstGeom prst="rect">
            <a:avLst/>
          </a:prstGeom>
          <a:noFill/>
          <a:ln/>
        </p:spPr>
        <p:txBody>
          <a:bodyPr wrap="square" lIns="0" tIns="0" rIns="0" bIns="0" rtlCol="0" anchor="ctr"/>
          <a:lstStyle/>
          <a:p>
            <a:pPr algn="ctr" indent="0" marL="0">
              <a:buNone/>
            </a:pPr>
            <a:r>
              <a:rPr lang="en-US" sz="1300" b="1" dirty="0">
                <a:solidFill>
                  <a:srgbClr val="0E4D5C"/>
                </a:solidFill>
              </a:rPr>
              <a:t>Start Up</a:t>
            </a:r>
            <a:endParaRPr lang="en-US" sz="1300" dirty="0"/>
          </a:p>
        </p:txBody>
      </p:sp>
      <p:sp>
        <p:nvSpPr>
          <p:cNvPr id="64" name="Shape 62"/>
          <p:cNvSpPr/>
          <p:nvPr/>
        </p:nvSpPr>
        <p:spPr>
          <a:xfrm>
            <a:off x="6492240" y="1463040"/>
            <a:ext cx="2194560" cy="566928"/>
          </a:xfrm>
          <a:prstGeom prst="rect">
            <a:avLst/>
          </a:prstGeom>
          <a:solidFill>
            <a:srgbClr val="FFFFFF"/>
          </a:solidFill>
          <a:ln w="12700">
            <a:solidFill>
              <a:srgbClr val="34495E"/>
            </a:solidFill>
            <a:prstDash val="solid"/>
          </a:ln>
        </p:spPr>
      </p:sp>
      <p:sp>
        <p:nvSpPr>
          <p:cNvPr id="65" name="Text 63"/>
          <p:cNvSpPr txBox="1"/>
          <p:nvPr/>
        </p:nvSpPr>
        <p:spPr>
          <a:xfrm>
            <a:off x="6492240" y="146304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Payment Authorization</a:t>
            </a:r>
            <a:endParaRPr lang="en-US" sz="900" dirty="0"/>
          </a:p>
        </p:txBody>
      </p:sp>
      <p:sp>
        <p:nvSpPr>
          <p:cNvPr id="66" name="Shape 64"/>
          <p:cNvSpPr/>
          <p:nvPr/>
        </p:nvSpPr>
        <p:spPr>
          <a:xfrm>
            <a:off x="6492240" y="2194560"/>
            <a:ext cx="2194560" cy="566928"/>
          </a:xfrm>
          <a:prstGeom prst="rect">
            <a:avLst/>
          </a:prstGeom>
          <a:solidFill>
            <a:srgbClr val="FFFFFF"/>
          </a:solidFill>
          <a:ln w="12700">
            <a:solidFill>
              <a:srgbClr val="34495E"/>
            </a:solidFill>
            <a:prstDash val="solid"/>
          </a:ln>
        </p:spPr>
      </p:sp>
      <p:sp>
        <p:nvSpPr>
          <p:cNvPr id="67" name="Text 65"/>
          <p:cNvSpPr txBox="1"/>
          <p:nvPr/>
        </p:nvSpPr>
        <p:spPr>
          <a:xfrm>
            <a:off x="6492240" y="219456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Tax Calculator</a:t>
            </a:r>
            <a:endParaRPr lang="en-US" sz="900" dirty="0"/>
          </a:p>
        </p:txBody>
      </p:sp>
      <p:sp>
        <p:nvSpPr>
          <p:cNvPr id="68" name="Shape 66"/>
          <p:cNvSpPr/>
          <p:nvPr/>
        </p:nvSpPr>
        <p:spPr>
          <a:xfrm>
            <a:off x="6492240" y="2926080"/>
            <a:ext cx="2194560" cy="566928"/>
          </a:xfrm>
          <a:prstGeom prst="rect">
            <a:avLst/>
          </a:prstGeom>
          <a:solidFill>
            <a:srgbClr val="FFFFFF"/>
          </a:solidFill>
          <a:ln w="12700">
            <a:solidFill>
              <a:srgbClr val="34495E"/>
            </a:solidFill>
            <a:prstDash val="solid"/>
          </a:ln>
        </p:spPr>
      </p:sp>
      <p:sp>
        <p:nvSpPr>
          <p:cNvPr id="69" name="Text 67"/>
          <p:cNvSpPr txBox="1"/>
          <p:nvPr/>
        </p:nvSpPr>
        <p:spPr>
          <a:xfrm>
            <a:off x="6492240" y="292608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«actor»</a:t>
            </a:r>
            <a:endParaRPr lang="en-US" sz="900" dirty="0"/>
          </a:p>
          <a:p>
            <a:pPr algn="ctr" indent="0" marL="0">
              <a:buNone/>
            </a:pPr>
            <a:r>
              <a:rPr lang="en-US" sz="1200" b="1" dirty="0">
                <a:solidFill>
                  <a:srgbClr val="1F2A30"/>
                </a:solidFill>
              </a:rPr>
              <a:t>Accounting System</a:t>
            </a:r>
            <a:endParaRPr lang="en-US" sz="900" dirty="0"/>
          </a:p>
        </p:txBody>
      </p:sp>
      <p:sp>
        <p:nvSpPr>
          <p:cNvPr id="70" name="Shape 68"/>
          <p:cNvSpPr/>
          <p:nvPr/>
        </p:nvSpPr>
        <p:spPr>
          <a:xfrm>
            <a:off x="6492240" y="3657600"/>
            <a:ext cx="2194560" cy="566928"/>
          </a:xfrm>
          <a:prstGeom prst="rect">
            <a:avLst/>
          </a:prstGeom>
          <a:solidFill>
            <a:srgbClr val="FFFFFF"/>
          </a:solidFill>
          <a:ln w="12700">
            <a:solidFill>
              <a:srgbClr val="34495E"/>
            </a:solidFill>
            <a:prstDash val="solid"/>
          </a:ln>
        </p:spPr>
      </p:sp>
      <p:sp>
        <p:nvSpPr>
          <p:cNvPr id="71" name="Text 69"/>
          <p:cNvSpPr txBox="1"/>
          <p:nvPr/>
        </p:nvSpPr>
        <p:spPr>
          <a:xfrm>
            <a:off x="6492240" y="3657600"/>
            <a:ext cx="2194560" cy="566928"/>
          </a:xfrm>
          <a:prstGeom prst="rect">
            <a:avLst/>
          </a:prstGeom>
          <a:noFill/>
          <a:ln/>
        </p:spPr>
        <p:txBody>
          <a:bodyPr wrap="square" lIns="0" tIns="0" rIns="0" bIns="0" rtlCol="0" anchor="ctr"/>
          <a:lstStyle/>
          <a:p>
            <a:pPr algn="ctr" indent="0" marL="0">
              <a:buNone/>
            </a:pPr>
            <a:r>
              <a:rPr lang="en-US" sz="900" dirty="0">
                <a:solidFill>
                  <a:srgbClr val="5F6B70"/>
                </a:solidFill>
              </a:rPr>
              <a:t>«system»</a:t>
            </a:r>
            <a:endParaRPr lang="en-US" sz="900" dirty="0"/>
          </a:p>
          <a:p>
            <a:pPr algn="ctr" indent="0" marL="0">
              <a:buNone/>
            </a:pPr>
            <a:r>
              <a:rPr lang="en-US" sz="1200" b="1" dirty="0">
                <a:solidFill>
                  <a:srgbClr val="1F2A30"/>
                </a:solidFill>
              </a:rPr>
              <a:t>HR System</a:t>
            </a:r>
            <a:endParaRPr lang="en-US" sz="900" dirty="0"/>
          </a:p>
        </p:txBody>
      </p:sp>
      <p:sp>
        <p:nvSpPr>
          <p:cNvPr id="72" name="Shape 70"/>
          <p:cNvSpPr/>
          <p:nvPr/>
        </p:nvSpPr>
        <p:spPr>
          <a:xfrm flipV="1">
            <a:off x="5120640" y="1746504"/>
            <a:ext cx="1371600" cy="283464"/>
          </a:xfrm>
          <a:prstGeom prst="line">
            <a:avLst/>
          </a:prstGeom>
          <a:noFill/>
          <a:ln w="12700">
            <a:solidFill>
              <a:srgbClr val="7A9A98"/>
            </a:solidFill>
            <a:prstDash val="solid"/>
          </a:ln>
        </p:spPr>
      </p:sp>
      <p:sp>
        <p:nvSpPr>
          <p:cNvPr id="73" name="Shape 71"/>
          <p:cNvSpPr/>
          <p:nvPr/>
        </p:nvSpPr>
        <p:spPr>
          <a:xfrm>
            <a:off x="5120640" y="2029968"/>
            <a:ext cx="1371600" cy="448056"/>
          </a:xfrm>
          <a:prstGeom prst="line">
            <a:avLst/>
          </a:prstGeom>
          <a:noFill/>
          <a:ln w="12700">
            <a:solidFill>
              <a:srgbClr val="7A9A98"/>
            </a:solidFill>
            <a:prstDash val="solid"/>
          </a:ln>
        </p:spPr>
      </p:sp>
      <p:sp>
        <p:nvSpPr>
          <p:cNvPr id="74" name="Shape 72"/>
          <p:cNvSpPr/>
          <p:nvPr/>
        </p:nvSpPr>
        <p:spPr>
          <a:xfrm>
            <a:off x="5120640" y="2029968"/>
            <a:ext cx="1371600" cy="1179576"/>
          </a:xfrm>
          <a:prstGeom prst="line">
            <a:avLst/>
          </a:prstGeom>
          <a:noFill/>
          <a:ln w="12700">
            <a:solidFill>
              <a:srgbClr val="7A9A98"/>
            </a:solidFill>
            <a:prstDash val="solid"/>
          </a:ln>
        </p:spPr>
      </p:sp>
      <p:sp>
        <p:nvSpPr>
          <p:cNvPr id="75" name="Shape 73"/>
          <p:cNvSpPr/>
          <p:nvPr/>
        </p:nvSpPr>
        <p:spPr>
          <a:xfrm>
            <a:off x="5120640" y="2670048"/>
            <a:ext cx="1371600" cy="539496"/>
          </a:xfrm>
          <a:prstGeom prst="line">
            <a:avLst/>
          </a:prstGeom>
          <a:noFill/>
          <a:ln w="12700">
            <a:solidFill>
              <a:srgbClr val="7A9A98"/>
            </a:solidFill>
            <a:prstDash val="solid"/>
          </a:ln>
        </p:spPr>
      </p:sp>
      <p:sp>
        <p:nvSpPr>
          <p:cNvPr id="76" name="Shape 74"/>
          <p:cNvSpPr/>
          <p:nvPr/>
        </p:nvSpPr>
        <p:spPr>
          <a:xfrm flipV="1">
            <a:off x="5120640" y="1746504"/>
            <a:ext cx="1371600" cy="1563624"/>
          </a:xfrm>
          <a:prstGeom prst="line">
            <a:avLst/>
          </a:prstGeom>
          <a:noFill/>
          <a:ln w="12700">
            <a:solidFill>
              <a:srgbClr val="7A9A98"/>
            </a:solidFill>
            <a:prstDash val="solid"/>
          </a:ln>
        </p:spPr>
      </p:sp>
      <p:sp>
        <p:nvSpPr>
          <p:cNvPr id="77" name="Shape 75"/>
          <p:cNvSpPr/>
          <p:nvPr/>
        </p:nvSpPr>
        <p:spPr>
          <a:xfrm flipV="1">
            <a:off x="5120640" y="3941064"/>
            <a:ext cx="1371600" cy="9144"/>
          </a:xfrm>
          <a:prstGeom prst="line">
            <a:avLst/>
          </a:prstGeom>
          <a:noFill/>
          <a:ln w="12700">
            <a:solidFill>
              <a:srgbClr val="7A9A98"/>
            </a:solidFill>
            <a:prstDash val="solid"/>
          </a:ln>
        </p:spPr>
      </p:sp>
      <p:sp>
        <p:nvSpPr>
          <p:cNvPr id="78" name="Text 76"/>
          <p:cNvSpPr txBox="1"/>
          <p:nvPr/>
        </p:nvSpPr>
        <p:spPr>
          <a:xfrm>
            <a:off x="274320" y="3657600"/>
            <a:ext cx="1783080" cy="685800"/>
          </a:xfrm>
          <a:prstGeom prst="rect">
            <a:avLst/>
          </a:prstGeom>
          <a:noFill/>
          <a:ln/>
        </p:spPr>
        <p:txBody>
          <a:bodyPr wrap="square" lIns="0" tIns="0" rIns="0" bIns="0" rtlCol="0" anchor="ctr"/>
          <a:lstStyle/>
          <a:p>
            <a:pPr indent="0" marL="0">
              <a:buNone/>
            </a:pPr>
            <a:r>
              <a:rPr lang="en-US" sz="900" i="1" dirty="0">
                <a:solidFill>
                  <a:srgbClr val="5F6B70"/>
                </a:solidFill>
              </a:rPr>
              <a:t>Customer: buys, returns or rents at the counter (interacts through the Cashier)</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Existing foundation</a:t>
            </a:r>
            <a:endParaRPr lang="en-US" sz="2800" dirty="0"/>
          </a:p>
        </p:txBody>
      </p:sp>
      <p:sp>
        <p:nvSpPr>
          <p:cNvPr id="43" name="Shape 41"/>
          <p:cNvSpPr/>
          <p:nvPr/>
        </p:nvSpPr>
        <p:spPr>
          <a:xfrm>
            <a:off x="457200" y="1143000"/>
            <a:ext cx="411480" cy="411480"/>
          </a:xfrm>
          <a:prstGeom prst="ellipse">
            <a:avLst/>
          </a:prstGeom>
          <a:solidFill>
            <a:srgbClr val="1B7F79"/>
          </a:solidFill>
          <a:ln w="12700">
            <a:solidFill>
              <a:srgbClr val="1B7F79"/>
            </a:solidFill>
            <a:prstDash val="solid"/>
          </a:ln>
        </p:spPr>
      </p:sp>
      <p:sp>
        <p:nvSpPr>
          <p:cNvPr id="44" name="Text 42"/>
          <p:cNvSpPr txBox="1"/>
          <p:nvPr/>
        </p:nvSpPr>
        <p:spPr>
          <a:xfrm>
            <a:off x="457200" y="1143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45" name="Text 43"/>
          <p:cNvSpPr txBox="1"/>
          <p:nvPr/>
        </p:nvSpPr>
        <p:spPr>
          <a:xfrm>
            <a:off x="1005840" y="1069848"/>
            <a:ext cx="7680960" cy="594360"/>
          </a:xfrm>
          <a:prstGeom prst="rect">
            <a:avLst/>
          </a:prstGeom>
          <a:noFill/>
          <a:ln/>
        </p:spPr>
        <p:txBody>
          <a:bodyPr wrap="square" lIns="0" tIns="0" rIns="0" bIns="0" rtlCol="0" anchor="t"/>
          <a:lstStyle/>
          <a:p>
            <a:pPr indent="0" marL="0">
              <a:buNone/>
            </a:pPr>
            <a:r>
              <a:rPr lang="en-US" sz="1400" b="1" dirty="0">
                <a:solidFill>
                  <a:srgbClr val="0E4D5C"/>
                </a:solidFill>
              </a:rPr>
              <a:t>Proven case study</a:t>
            </a:r>
            <a:endParaRPr lang="en-US" sz="1400" dirty="0"/>
          </a:p>
          <a:p>
            <a:pPr indent="0" marL="0">
              <a:buNone/>
            </a:pPr>
            <a:r>
              <a:rPr lang="en-US" sz="1200" dirty="0">
                <a:solidFill>
                  <a:srgbClr val="1F2A30"/>
                </a:solidFill>
              </a:rPr>
              <a:t>Same POS case used at UPM to teach object-oriented analysis and design: actors, scope and business rules already validated.</a:t>
            </a:r>
            <a:endParaRPr lang="en-US" sz="1400" dirty="0"/>
          </a:p>
        </p:txBody>
      </p:sp>
      <p:sp>
        <p:nvSpPr>
          <p:cNvPr id="46" name="Shape 44"/>
          <p:cNvSpPr/>
          <p:nvPr/>
        </p:nvSpPr>
        <p:spPr>
          <a:xfrm>
            <a:off x="457200" y="1828800"/>
            <a:ext cx="411480" cy="411480"/>
          </a:xfrm>
          <a:prstGeom prst="ellipse">
            <a:avLst/>
          </a:prstGeom>
          <a:solidFill>
            <a:srgbClr val="1B7F79"/>
          </a:solidFill>
          <a:ln w="12700">
            <a:solidFill>
              <a:srgbClr val="1B7F79"/>
            </a:solidFill>
            <a:prstDash val="solid"/>
          </a:ln>
        </p:spPr>
      </p:sp>
      <p:sp>
        <p:nvSpPr>
          <p:cNvPr id="47" name="Text 45"/>
          <p:cNvSpPr txBox="1"/>
          <p:nvPr/>
        </p:nvSpPr>
        <p:spPr>
          <a:xfrm>
            <a:off x="457200" y="1828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48" name="Text 46"/>
          <p:cNvSpPr txBox="1"/>
          <p:nvPr/>
        </p:nvSpPr>
        <p:spPr>
          <a:xfrm>
            <a:off x="1005840" y="1755648"/>
            <a:ext cx="7680960" cy="594360"/>
          </a:xfrm>
          <a:prstGeom prst="rect">
            <a:avLst/>
          </a:prstGeom>
          <a:noFill/>
          <a:ln/>
        </p:spPr>
        <p:txBody>
          <a:bodyPr wrap="square" lIns="0" tIns="0" rIns="0" bIns="0" rtlCol="0" anchor="t"/>
          <a:lstStyle/>
          <a:p>
            <a:pPr indent="0" marL="0">
              <a:buNone/>
            </a:pPr>
            <a:r>
              <a:rPr lang="en-US" sz="1400" b="1" dirty="0">
                <a:solidFill>
                  <a:srgbClr val="0E4D5C"/>
                </a:solidFill>
              </a:rPr>
              <a:t>Scope fixed</a:t>
            </a:r>
            <a:endParaRPr lang="en-US" sz="1400" dirty="0"/>
          </a:p>
          <a:p>
            <a:pPr indent="0" marL="0">
              <a:buNone/>
            </a:pPr>
            <a:r>
              <a:rPr lang="en-US" sz="1200" dirty="0">
                <a:solidFill>
                  <a:srgbClr val="1F2A30"/>
                </a:solidFill>
              </a:rPr>
              <a:t>4 use cases, 2 actors, 4 external systems, 2 payment methods — agreed in the W01 proposal.</a:t>
            </a:r>
            <a:endParaRPr lang="en-US" sz="1400" dirty="0"/>
          </a:p>
        </p:txBody>
      </p:sp>
      <p:sp>
        <p:nvSpPr>
          <p:cNvPr id="49" name="Shape 47"/>
          <p:cNvSpPr/>
          <p:nvPr/>
        </p:nvSpPr>
        <p:spPr>
          <a:xfrm>
            <a:off x="457200" y="2514600"/>
            <a:ext cx="411480" cy="411480"/>
          </a:xfrm>
          <a:prstGeom prst="ellipse">
            <a:avLst/>
          </a:prstGeom>
          <a:solidFill>
            <a:srgbClr val="1B7F79"/>
          </a:solidFill>
          <a:ln w="12700">
            <a:solidFill>
              <a:srgbClr val="1B7F79"/>
            </a:solidFill>
            <a:prstDash val="solid"/>
          </a:ln>
        </p:spPr>
      </p:sp>
      <p:sp>
        <p:nvSpPr>
          <p:cNvPr id="50" name="Text 48"/>
          <p:cNvSpPr txBox="1"/>
          <p:nvPr/>
        </p:nvSpPr>
        <p:spPr>
          <a:xfrm>
            <a:off x="457200" y="25146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51" name="Text 49"/>
          <p:cNvSpPr txBox="1"/>
          <p:nvPr/>
        </p:nvSpPr>
        <p:spPr>
          <a:xfrm>
            <a:off x="1005840" y="2441448"/>
            <a:ext cx="7680960" cy="594360"/>
          </a:xfrm>
          <a:prstGeom prst="rect">
            <a:avLst/>
          </a:prstGeom>
          <a:noFill/>
          <a:ln/>
        </p:spPr>
        <p:txBody>
          <a:bodyPr wrap="square" lIns="0" tIns="0" rIns="0" bIns="0" rtlCol="0" anchor="t"/>
          <a:lstStyle/>
          <a:p>
            <a:pPr indent="0" marL="0">
              <a:buNone/>
            </a:pPr>
            <a:r>
              <a:rPr lang="en-US" sz="1400" b="1" dirty="0">
                <a:solidFill>
                  <a:srgbClr val="0E4D5C"/>
                </a:solidFill>
              </a:rPr>
              <a:t>Quality goals identified</a:t>
            </a:r>
            <a:endParaRPr lang="en-US" sz="1400" dirty="0"/>
          </a:p>
          <a:p>
            <a:pPr indent="0" marL="0">
              <a:buNone/>
            </a:pPr>
            <a:r>
              <a:rPr lang="en-US" sz="1200" dirty="0">
                <a:solidFill>
                  <a:srgbClr val="1F2A30"/>
                </a:solidFill>
              </a:rPr>
              <a:t>Industrial software, not a student program: reliability, usability, efficiency and maintainability (ISO/IEC 25010).</a:t>
            </a:r>
            <a:endParaRPr lang="en-US" sz="1400" dirty="0"/>
          </a:p>
        </p:txBody>
      </p:sp>
      <p:sp>
        <p:nvSpPr>
          <p:cNvPr id="52" name="Shape 50"/>
          <p:cNvSpPr/>
          <p:nvPr/>
        </p:nvSpPr>
        <p:spPr>
          <a:xfrm>
            <a:off x="457200" y="3200400"/>
            <a:ext cx="411480" cy="411480"/>
          </a:xfrm>
          <a:prstGeom prst="ellipse">
            <a:avLst/>
          </a:prstGeom>
          <a:solidFill>
            <a:srgbClr val="1B7F79"/>
          </a:solidFill>
          <a:ln w="12700">
            <a:solidFill>
              <a:srgbClr val="1B7F79"/>
            </a:solidFill>
            <a:prstDash val="solid"/>
          </a:ln>
        </p:spPr>
      </p:sp>
      <p:sp>
        <p:nvSpPr>
          <p:cNvPr id="53" name="Text 51"/>
          <p:cNvSpPr txBox="1"/>
          <p:nvPr/>
        </p:nvSpPr>
        <p:spPr>
          <a:xfrm>
            <a:off x="457200" y="32004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54" name="Text 52"/>
          <p:cNvSpPr txBox="1"/>
          <p:nvPr/>
        </p:nvSpPr>
        <p:spPr>
          <a:xfrm>
            <a:off x="1005840" y="3127248"/>
            <a:ext cx="7680960" cy="594360"/>
          </a:xfrm>
          <a:prstGeom prst="rect">
            <a:avLst/>
          </a:prstGeom>
          <a:noFill/>
          <a:ln/>
        </p:spPr>
        <p:txBody>
          <a:bodyPr wrap="square" lIns="0" tIns="0" rIns="0" bIns="0" rtlCol="0" anchor="t"/>
          <a:lstStyle/>
          <a:p>
            <a:pPr indent="0" marL="0">
              <a:buNone/>
            </a:pPr>
            <a:r>
              <a:rPr lang="en-US" sz="1400" b="1" dirty="0">
                <a:solidFill>
                  <a:srgbClr val="0E4D5C"/>
                </a:solidFill>
              </a:rPr>
              <a:t>Process model chosen</a:t>
            </a:r>
            <a:endParaRPr lang="en-US" sz="1400" dirty="0"/>
          </a:p>
          <a:p>
            <a:pPr indent="0" marL="0">
              <a:buNone/>
            </a:pPr>
            <a:r>
              <a:rPr lang="en-US" sz="1200" dirty="0">
                <a:solidFill>
                  <a:srgbClr val="1F2A30"/>
                </a:solidFill>
              </a:rPr>
              <a:t>Iterative-incremental life cycle aligned with the course milestones (next two slides).</a:t>
            </a:r>
            <a:endParaRPr lang="en-US" sz="1400" dirty="0"/>
          </a:p>
        </p:txBody>
      </p:sp>
      <p:sp>
        <p:nvSpPr>
          <p:cNvPr id="55" name="Shape 53"/>
          <p:cNvSpPr/>
          <p:nvPr/>
        </p:nvSpPr>
        <p:spPr>
          <a:xfrm>
            <a:off x="457200" y="3886200"/>
            <a:ext cx="411480" cy="411480"/>
          </a:xfrm>
          <a:prstGeom prst="ellipse">
            <a:avLst/>
          </a:prstGeom>
          <a:solidFill>
            <a:srgbClr val="1B7F79"/>
          </a:solidFill>
          <a:ln w="12700">
            <a:solidFill>
              <a:srgbClr val="1B7F79"/>
            </a:solidFill>
            <a:prstDash val="solid"/>
          </a:ln>
        </p:spPr>
      </p:sp>
      <p:sp>
        <p:nvSpPr>
          <p:cNvPr id="56" name="Text 54"/>
          <p:cNvSpPr txBox="1"/>
          <p:nvPr/>
        </p:nvSpPr>
        <p:spPr>
          <a:xfrm>
            <a:off x="457200" y="38862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57" name="Text 55"/>
          <p:cNvSpPr txBox="1"/>
          <p:nvPr/>
        </p:nvSpPr>
        <p:spPr>
          <a:xfrm>
            <a:off x="1005840" y="3813048"/>
            <a:ext cx="7680960" cy="594360"/>
          </a:xfrm>
          <a:prstGeom prst="rect">
            <a:avLst/>
          </a:prstGeom>
          <a:noFill/>
          <a:ln/>
        </p:spPr>
        <p:txBody>
          <a:bodyPr wrap="square" lIns="0" tIns="0" rIns="0" bIns="0" rtlCol="0" anchor="t"/>
          <a:lstStyle/>
          <a:p>
            <a:pPr indent="0" marL="0">
              <a:buNone/>
            </a:pPr>
            <a:r>
              <a:rPr lang="en-US" sz="1400" b="1" dirty="0">
                <a:solidFill>
                  <a:srgbClr val="0E4D5C"/>
                </a:solidFill>
              </a:rPr>
              <a:t>Repository ready</a:t>
            </a:r>
            <a:endParaRPr lang="en-US" sz="1400" dirty="0"/>
          </a:p>
          <a:p>
            <a:pPr indent="0" marL="0">
              <a:buNone/>
            </a:pPr>
            <a:r>
              <a:rPr lang="en-US" sz="1200" dirty="0">
                <a:solidFill>
                  <a:srgbClr val="1F2A30"/>
                </a:solidFill>
              </a:rPr>
              <a:t>bhsei/26D with the course folder structure, README, Mermaid Gantt schedule and work logs.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Choosing our software process model</a:t>
            </a:r>
            <a:endParaRPr lang="en-US" sz="2800" dirty="0"/>
          </a:p>
        </p:txBody>
      </p:sp>
      <p:sp>
        <p:nvSpPr>
          <p:cNvPr id="43" name="Shape 41"/>
          <p:cNvSpPr/>
          <p:nvPr/>
        </p:nvSpPr>
        <p:spPr>
          <a:xfrm>
            <a:off x="457200" y="1188720"/>
            <a:ext cx="1920240" cy="2514600"/>
          </a:xfrm>
          <a:prstGeom prst="roundRect">
            <a:avLst>
              <a:gd name="adj" fmla="val 3810"/>
            </a:avLst>
          </a:prstGeom>
          <a:solidFill>
            <a:srgbClr val="EAF2F2"/>
          </a:solidFill>
          <a:ln w="12700">
            <a:solidFill>
              <a:srgbClr val="EAF2F2"/>
            </a:solidFill>
            <a:prstDash val="solid"/>
          </a:ln>
        </p:spPr>
      </p:sp>
      <p:sp>
        <p:nvSpPr>
          <p:cNvPr id="44" name="Text 42"/>
          <p:cNvSpPr txBox="1"/>
          <p:nvPr/>
        </p:nvSpPr>
        <p:spPr>
          <a:xfrm>
            <a:off x="594360" y="1280160"/>
            <a:ext cx="1645920" cy="502920"/>
          </a:xfrm>
          <a:prstGeom prst="rect">
            <a:avLst/>
          </a:prstGeom>
          <a:noFill/>
          <a:ln/>
        </p:spPr>
        <p:txBody>
          <a:bodyPr wrap="square" lIns="0" tIns="0" rIns="0" bIns="0" rtlCol="0" anchor="t"/>
          <a:lstStyle/>
          <a:p>
            <a:pPr indent="0" marL="0">
              <a:buNone/>
            </a:pPr>
            <a:r>
              <a:rPr lang="en-US" sz="1500" b="1" dirty="0">
                <a:solidFill>
                  <a:srgbClr val="0E4D5C"/>
                </a:solidFill>
              </a:rPr>
              <a:t>Waterfall</a:t>
            </a:r>
            <a:endParaRPr lang="en-US" sz="1500" dirty="0"/>
          </a:p>
        </p:txBody>
      </p:sp>
      <p:sp>
        <p:nvSpPr>
          <p:cNvPr id="45" name="Text 43"/>
          <p:cNvSpPr txBox="1"/>
          <p:nvPr/>
        </p:nvSpPr>
        <p:spPr>
          <a:xfrm>
            <a:off x="594360" y="1783080"/>
            <a:ext cx="1645920" cy="1737360"/>
          </a:xfrm>
          <a:prstGeom prst="rect">
            <a:avLst/>
          </a:prstGeom>
          <a:noFill/>
          <a:ln/>
        </p:spPr>
        <p:txBody>
          <a:bodyPr wrap="square" lIns="0" tIns="0" rIns="0" bIns="0" rtlCol="0" anchor="t"/>
          <a:lstStyle/>
          <a:p>
            <a:pPr indent="0" marL="0">
              <a:buNone/>
            </a:pPr>
            <a:r>
              <a:rPr lang="en-US" sz="1200" dirty="0">
                <a:solidFill>
                  <a:srgbClr val="1F2A30"/>
                </a:solidFill>
              </a:rPr>
              <a:t>Linear, document-driven. Needs stable requirements and one big delivery — no room for feedback between milestones.</a:t>
            </a:r>
            <a:endParaRPr lang="en-US" sz="1200" dirty="0"/>
          </a:p>
        </p:txBody>
      </p:sp>
      <p:sp>
        <p:nvSpPr>
          <p:cNvPr id="46" name="Shape 44"/>
          <p:cNvSpPr/>
          <p:nvPr/>
        </p:nvSpPr>
        <p:spPr>
          <a:xfrm>
            <a:off x="2560320" y="1188720"/>
            <a:ext cx="1920240" cy="2514600"/>
          </a:xfrm>
          <a:prstGeom prst="roundRect">
            <a:avLst>
              <a:gd name="adj" fmla="val 3810"/>
            </a:avLst>
          </a:prstGeom>
          <a:solidFill>
            <a:srgbClr val="EAF2F2"/>
          </a:solidFill>
          <a:ln w="12700">
            <a:solidFill>
              <a:srgbClr val="EAF2F2"/>
            </a:solidFill>
            <a:prstDash val="solid"/>
          </a:ln>
        </p:spPr>
      </p:sp>
      <p:sp>
        <p:nvSpPr>
          <p:cNvPr id="47" name="Text 45"/>
          <p:cNvSpPr txBox="1"/>
          <p:nvPr/>
        </p:nvSpPr>
        <p:spPr>
          <a:xfrm>
            <a:off x="2697480" y="1280160"/>
            <a:ext cx="1645920" cy="502920"/>
          </a:xfrm>
          <a:prstGeom prst="rect">
            <a:avLst/>
          </a:prstGeom>
          <a:noFill/>
          <a:ln/>
        </p:spPr>
        <p:txBody>
          <a:bodyPr wrap="square" lIns="0" tIns="0" rIns="0" bIns="0" rtlCol="0" anchor="t"/>
          <a:lstStyle/>
          <a:p>
            <a:pPr indent="0" marL="0">
              <a:buNone/>
            </a:pPr>
            <a:r>
              <a:rPr lang="en-US" sz="1500" b="1" dirty="0">
                <a:solidFill>
                  <a:srgbClr val="0E4D5C"/>
                </a:solidFill>
              </a:rPr>
              <a:t>Prototyping</a:t>
            </a:r>
            <a:endParaRPr lang="en-US" sz="1500" dirty="0"/>
          </a:p>
        </p:txBody>
      </p:sp>
      <p:sp>
        <p:nvSpPr>
          <p:cNvPr id="48" name="Text 46"/>
          <p:cNvSpPr txBox="1"/>
          <p:nvPr/>
        </p:nvSpPr>
        <p:spPr>
          <a:xfrm>
            <a:off x="2697480" y="1783080"/>
            <a:ext cx="1645920" cy="1737360"/>
          </a:xfrm>
          <a:prstGeom prst="rect">
            <a:avLst/>
          </a:prstGeom>
          <a:noFill/>
          <a:ln/>
        </p:spPr>
        <p:txBody>
          <a:bodyPr wrap="square" lIns="0" tIns="0" rIns="0" bIns="0" rtlCol="0" anchor="t"/>
          <a:lstStyle/>
          <a:p>
            <a:pPr indent="0" marL="0">
              <a:buNone/>
            </a:pPr>
            <a:r>
              <a:rPr lang="en-US" sz="1200" dirty="0">
                <a:solidFill>
                  <a:srgbClr val="1F2A30"/>
                </a:solidFill>
              </a:rPr>
              <a:t>Great to validate requirements, but the prototype is thrown away. We use it only for the cashier UI.</a:t>
            </a:r>
            <a:endParaRPr lang="en-US" sz="1200" dirty="0"/>
          </a:p>
        </p:txBody>
      </p:sp>
      <p:sp>
        <p:nvSpPr>
          <p:cNvPr id="49" name="Shape 47"/>
          <p:cNvSpPr/>
          <p:nvPr/>
        </p:nvSpPr>
        <p:spPr>
          <a:xfrm>
            <a:off x="4663440" y="1188720"/>
            <a:ext cx="1920240" cy="2514600"/>
          </a:xfrm>
          <a:prstGeom prst="roundRect">
            <a:avLst>
              <a:gd name="adj" fmla="val 3810"/>
            </a:avLst>
          </a:prstGeom>
          <a:solidFill>
            <a:srgbClr val="EAF2F2"/>
          </a:solidFill>
          <a:ln w="12700">
            <a:solidFill>
              <a:srgbClr val="EAF2F2"/>
            </a:solidFill>
            <a:prstDash val="solid"/>
          </a:ln>
        </p:spPr>
      </p:sp>
      <p:sp>
        <p:nvSpPr>
          <p:cNvPr id="50" name="Text 48"/>
          <p:cNvSpPr txBox="1"/>
          <p:nvPr/>
        </p:nvSpPr>
        <p:spPr>
          <a:xfrm>
            <a:off x="4800600" y="1280160"/>
            <a:ext cx="1645920" cy="502920"/>
          </a:xfrm>
          <a:prstGeom prst="rect">
            <a:avLst/>
          </a:prstGeom>
          <a:noFill/>
          <a:ln/>
        </p:spPr>
        <p:txBody>
          <a:bodyPr wrap="square" lIns="0" tIns="0" rIns="0" bIns="0" rtlCol="0" anchor="t"/>
          <a:lstStyle/>
          <a:p>
            <a:pPr indent="0" marL="0">
              <a:buNone/>
            </a:pPr>
            <a:r>
              <a:rPr lang="en-US" sz="1500" b="1" dirty="0">
                <a:solidFill>
                  <a:srgbClr val="0E4D5C"/>
                </a:solidFill>
              </a:rPr>
              <a:t>Spiral / Evolutionary</a:t>
            </a:r>
            <a:endParaRPr lang="en-US" sz="1500" dirty="0"/>
          </a:p>
        </p:txBody>
      </p:sp>
      <p:sp>
        <p:nvSpPr>
          <p:cNvPr id="51" name="Text 49"/>
          <p:cNvSpPr txBox="1"/>
          <p:nvPr/>
        </p:nvSpPr>
        <p:spPr>
          <a:xfrm>
            <a:off x="4800600" y="1783080"/>
            <a:ext cx="1645920" cy="1737360"/>
          </a:xfrm>
          <a:prstGeom prst="rect">
            <a:avLst/>
          </a:prstGeom>
          <a:noFill/>
          <a:ln/>
        </p:spPr>
        <p:txBody>
          <a:bodyPr wrap="square" lIns="0" tIns="0" rIns="0" bIns="0" rtlCol="0" anchor="t"/>
          <a:lstStyle/>
          <a:p>
            <a:pPr indent="0" marL="0">
              <a:buNone/>
            </a:pPr>
            <a:r>
              <a:rPr lang="en-US" sz="1200" dirty="0">
                <a:solidFill>
                  <a:srgbClr val="1F2A30"/>
                </a:solidFill>
              </a:rPr>
              <a:t>Risk-driven, for unclear requirements. Our domain is already well understood — too heavy.</a:t>
            </a:r>
            <a:endParaRPr lang="en-US" sz="1200" dirty="0"/>
          </a:p>
        </p:txBody>
      </p:sp>
      <p:sp>
        <p:nvSpPr>
          <p:cNvPr id="52" name="Shape 50"/>
          <p:cNvSpPr/>
          <p:nvPr/>
        </p:nvSpPr>
        <p:spPr>
          <a:xfrm>
            <a:off x="6766560" y="1188720"/>
            <a:ext cx="1920240" cy="2514600"/>
          </a:xfrm>
          <a:prstGeom prst="roundRect">
            <a:avLst>
              <a:gd name="adj" fmla="val 3810"/>
            </a:avLst>
          </a:prstGeom>
          <a:solidFill>
            <a:srgbClr val="0E4D5C"/>
          </a:solidFill>
          <a:ln w="12700">
            <a:solidFill>
              <a:srgbClr val="0E4D5C"/>
            </a:solidFill>
            <a:prstDash val="solid"/>
          </a:ln>
        </p:spPr>
      </p:sp>
      <p:sp>
        <p:nvSpPr>
          <p:cNvPr id="53" name="Text 51"/>
          <p:cNvSpPr txBox="1"/>
          <p:nvPr/>
        </p:nvSpPr>
        <p:spPr>
          <a:xfrm>
            <a:off x="6903720" y="1280160"/>
            <a:ext cx="1645920" cy="502920"/>
          </a:xfrm>
          <a:prstGeom prst="rect">
            <a:avLst/>
          </a:prstGeom>
          <a:noFill/>
          <a:ln/>
        </p:spPr>
        <p:txBody>
          <a:bodyPr wrap="square" lIns="0" tIns="0" rIns="0" bIns="0" rtlCol="0" anchor="t"/>
          <a:lstStyle/>
          <a:p>
            <a:pPr indent="0" marL="0">
              <a:buNone/>
            </a:pPr>
            <a:r>
              <a:rPr lang="en-US" sz="1500" b="1" dirty="0">
                <a:solidFill>
                  <a:srgbClr val="FFFFFF"/>
                </a:solidFill>
              </a:rPr>
              <a:t>Iterative-incremental</a:t>
            </a:r>
            <a:endParaRPr lang="en-US" sz="1500" dirty="0"/>
          </a:p>
        </p:txBody>
      </p:sp>
      <p:sp>
        <p:nvSpPr>
          <p:cNvPr id="54" name="Text 52"/>
          <p:cNvSpPr txBox="1"/>
          <p:nvPr/>
        </p:nvSpPr>
        <p:spPr>
          <a:xfrm>
            <a:off x="6903720" y="1783080"/>
            <a:ext cx="1645920" cy="1737360"/>
          </a:xfrm>
          <a:prstGeom prst="rect">
            <a:avLst/>
          </a:prstGeom>
          <a:noFill/>
          <a:ln/>
        </p:spPr>
        <p:txBody>
          <a:bodyPr wrap="square" lIns="0" tIns="0" rIns="0" bIns="0" rtlCol="0" anchor="t"/>
          <a:lstStyle/>
          <a:p>
            <a:pPr indent="0" marL="0">
              <a:buNone/>
            </a:pPr>
            <a:r>
              <a:rPr lang="en-US" sz="1200" dirty="0">
                <a:solidFill>
                  <a:srgbClr val="E6F0EF"/>
                </a:solidFill>
              </a:rPr>
              <a:t>Requirements are known; we deliver working increments at each course milestone and refine after peer review.</a:t>
            </a:r>
            <a:endParaRPr lang="en-US" sz="1200" dirty="0"/>
          </a:p>
        </p:txBody>
      </p:sp>
      <p:sp>
        <p:nvSpPr>
          <p:cNvPr id="55" name="Text 53"/>
          <p:cNvSpPr txBox="1"/>
          <p:nvPr/>
        </p:nvSpPr>
        <p:spPr>
          <a:xfrm>
            <a:off x="6903720" y="3383280"/>
            <a:ext cx="1645920" cy="256032"/>
          </a:xfrm>
          <a:prstGeom prst="rect">
            <a:avLst/>
          </a:prstGeom>
          <a:noFill/>
          <a:ln/>
        </p:spPr>
        <p:txBody>
          <a:bodyPr wrap="square" lIns="0" tIns="0" rIns="0" bIns="0" rtlCol="0" anchor="ctr"/>
          <a:lstStyle/>
          <a:p>
            <a:pPr indent="0" marL="0">
              <a:buNone/>
            </a:pPr>
            <a:r>
              <a:rPr lang="en-US" sz="1000" b="1" dirty="0">
                <a:solidFill>
                  <a:srgbClr val="E09F3E"/>
                </a:solidFill>
              </a:rPr>
              <a:t>OUR CHOICE</a:t>
            </a:r>
            <a:endParaRPr lang="en-US" sz="1000" dirty="0"/>
          </a:p>
        </p:txBody>
      </p:sp>
      <p:sp>
        <p:nvSpPr>
          <p:cNvPr id="56" name="Text 54"/>
          <p:cNvSpPr txBox="1"/>
          <p:nvPr/>
        </p:nvSpPr>
        <p:spPr>
          <a:xfrm>
            <a:off x="457200" y="3886200"/>
            <a:ext cx="8229600" cy="548640"/>
          </a:xfrm>
          <a:prstGeom prst="rect">
            <a:avLst/>
          </a:prstGeom>
          <a:noFill/>
          <a:ln/>
        </p:spPr>
        <p:txBody>
          <a:bodyPr wrap="square" lIns="0" tIns="0" rIns="0" bIns="0" rtlCol="0" anchor="ctr"/>
          <a:lstStyle/>
          <a:p>
            <a:pPr indent="0" marL="0">
              <a:buNone/>
            </a:pPr>
            <a:r>
              <a:rPr lang="en-US" sz="1200" b="1" dirty="0">
                <a:solidFill>
                  <a:srgbClr val="0E4D5C"/>
                </a:solidFill>
              </a:rPr>
              <a:t>Selection criteria: </a:t>
            </a:r>
            <a:pPr indent="0" marL="0">
              <a:buNone/>
            </a:pPr>
            <a:r>
              <a:rPr lang="en-US" sz="1200" dirty="0">
                <a:solidFill>
                  <a:srgbClr val="1F2A30"/>
                </a:solidFill>
              </a:rPr>
              <a:t>requirements well defined and stable · small new team · fixed deliveries in weeks 7, 11 and 16 · partial functionality wanted early · peer review after each milestone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Our life cycle: three increments to the launch</a:t>
            </a:r>
            <a:endParaRPr lang="en-US" sz="2800" dirty="0"/>
          </a:p>
        </p:txBody>
      </p:sp>
      <p:sp>
        <p:nvSpPr>
          <p:cNvPr id="43" name="Shape 41"/>
          <p:cNvSpPr/>
          <p:nvPr/>
        </p:nvSpPr>
        <p:spPr>
          <a:xfrm>
            <a:off x="457200" y="1234440"/>
            <a:ext cx="2011680" cy="594360"/>
          </a:xfrm>
          <a:prstGeom prst="chevron">
            <a:avLst/>
          </a:prstGeom>
          <a:solidFill>
            <a:srgbClr val="0E4D5C"/>
          </a:solidFill>
          <a:ln w="12700">
            <a:solidFill>
              <a:srgbClr val="0E4D5C"/>
            </a:solidFill>
            <a:prstDash val="solid"/>
          </a:ln>
        </p:spPr>
      </p:sp>
      <p:sp>
        <p:nvSpPr>
          <p:cNvPr id="44" name="Text 42"/>
          <p:cNvSpPr txBox="1"/>
          <p:nvPr/>
        </p:nvSpPr>
        <p:spPr>
          <a:xfrm>
            <a:off x="685800" y="1234440"/>
            <a:ext cx="1645920" cy="594360"/>
          </a:xfrm>
          <a:prstGeom prst="rect">
            <a:avLst/>
          </a:prstGeom>
          <a:noFill/>
          <a:ln/>
        </p:spPr>
        <p:txBody>
          <a:bodyPr wrap="square" lIns="0" tIns="0" rIns="0" bIns="0" rtlCol="0" anchor="ctr"/>
          <a:lstStyle/>
          <a:p>
            <a:pPr algn="ctr" indent="0" marL="0">
              <a:buNone/>
            </a:pPr>
            <a:r>
              <a:rPr lang="en-US" sz="1200" b="1" dirty="0">
                <a:solidFill>
                  <a:srgbClr val="FFFFFF"/>
                </a:solidFill>
              </a:rPr>
              <a:t>Increment 1 · W4–W7</a:t>
            </a:r>
            <a:endParaRPr lang="en-US" sz="1200" dirty="0"/>
          </a:p>
        </p:txBody>
      </p:sp>
      <p:sp>
        <p:nvSpPr>
          <p:cNvPr id="45" name="Text 43"/>
          <p:cNvSpPr txBox="1"/>
          <p:nvPr/>
        </p:nvSpPr>
        <p:spPr>
          <a:xfrm>
            <a:off x="457200" y="1965960"/>
            <a:ext cx="1920240" cy="320040"/>
          </a:xfrm>
          <a:prstGeom prst="rect">
            <a:avLst/>
          </a:prstGeom>
          <a:noFill/>
          <a:ln/>
        </p:spPr>
        <p:txBody>
          <a:bodyPr wrap="square" lIns="0" tIns="0" rIns="0" bIns="0" rtlCol="0" anchor="ctr"/>
          <a:lstStyle/>
          <a:p>
            <a:pPr indent="0" marL="0">
              <a:buNone/>
            </a:pPr>
            <a:r>
              <a:rPr lang="en-US" sz="1500" b="1" dirty="0">
                <a:solidFill>
                  <a:srgbClr val="0E4D5C"/>
                </a:solidFill>
              </a:rPr>
              <a:t>Requirements</a:t>
            </a:r>
            <a:endParaRPr lang="en-US" sz="1500" dirty="0"/>
          </a:p>
        </p:txBody>
      </p:sp>
      <p:sp>
        <p:nvSpPr>
          <p:cNvPr id="46" name="Text 44"/>
          <p:cNvSpPr txBox="1"/>
          <p:nvPr/>
        </p:nvSpPr>
        <p:spPr>
          <a:xfrm>
            <a:off x="457200" y="2286000"/>
            <a:ext cx="1920240" cy="1005840"/>
          </a:xfrm>
          <a:prstGeom prst="rect">
            <a:avLst/>
          </a:prstGeom>
          <a:noFill/>
          <a:ln/>
        </p:spPr>
        <p:txBody>
          <a:bodyPr wrap="square" lIns="0" tIns="0" rIns="0" bIns="0" rtlCol="0" anchor="t"/>
          <a:lstStyle/>
          <a:p>
            <a:pPr indent="0" marL="0">
              <a:buNone/>
            </a:pPr>
            <a:r>
              <a:rPr lang="en-US" sz="1200" dirty="0">
                <a:solidFill>
                  <a:srgbClr val="1F2A30"/>
                </a:solidFill>
              </a:rPr>
              <a:t>SRS (ISO/IEC/IEEE 29148): use cases, quality attributes, business rules, interfaces</a:t>
            </a:r>
            <a:endParaRPr lang="en-US" sz="1200" dirty="0"/>
          </a:p>
        </p:txBody>
      </p:sp>
      <p:sp>
        <p:nvSpPr>
          <p:cNvPr id="47" name="Shape 45"/>
          <p:cNvSpPr/>
          <p:nvPr/>
        </p:nvSpPr>
        <p:spPr>
          <a:xfrm>
            <a:off x="2560320" y="1234440"/>
            <a:ext cx="2011680" cy="594360"/>
          </a:xfrm>
          <a:prstGeom prst="chevron">
            <a:avLst/>
          </a:prstGeom>
          <a:solidFill>
            <a:srgbClr val="1B7F79"/>
          </a:solidFill>
          <a:ln w="12700">
            <a:solidFill>
              <a:srgbClr val="1B7F79"/>
            </a:solidFill>
            <a:prstDash val="solid"/>
          </a:ln>
        </p:spPr>
      </p:sp>
      <p:sp>
        <p:nvSpPr>
          <p:cNvPr id="48" name="Text 46"/>
          <p:cNvSpPr txBox="1"/>
          <p:nvPr/>
        </p:nvSpPr>
        <p:spPr>
          <a:xfrm>
            <a:off x="2788920" y="1234440"/>
            <a:ext cx="1645920" cy="594360"/>
          </a:xfrm>
          <a:prstGeom prst="rect">
            <a:avLst/>
          </a:prstGeom>
          <a:noFill/>
          <a:ln/>
        </p:spPr>
        <p:txBody>
          <a:bodyPr wrap="square" lIns="0" tIns="0" rIns="0" bIns="0" rtlCol="0" anchor="ctr"/>
          <a:lstStyle/>
          <a:p>
            <a:pPr algn="ctr" indent="0" marL="0">
              <a:buNone/>
            </a:pPr>
            <a:r>
              <a:rPr lang="en-US" sz="1200" b="1" dirty="0">
                <a:solidFill>
                  <a:srgbClr val="FFFFFF"/>
                </a:solidFill>
              </a:rPr>
              <a:t>Increment 2 · W8–W11</a:t>
            </a:r>
            <a:endParaRPr lang="en-US" sz="1200" dirty="0"/>
          </a:p>
        </p:txBody>
      </p:sp>
      <p:sp>
        <p:nvSpPr>
          <p:cNvPr id="49" name="Text 47"/>
          <p:cNvSpPr txBox="1"/>
          <p:nvPr/>
        </p:nvSpPr>
        <p:spPr>
          <a:xfrm>
            <a:off x="2560320" y="1965960"/>
            <a:ext cx="1920240" cy="320040"/>
          </a:xfrm>
          <a:prstGeom prst="rect">
            <a:avLst/>
          </a:prstGeom>
          <a:noFill/>
          <a:ln/>
        </p:spPr>
        <p:txBody>
          <a:bodyPr wrap="square" lIns="0" tIns="0" rIns="0" bIns="0" rtlCol="0" anchor="ctr"/>
          <a:lstStyle/>
          <a:p>
            <a:pPr indent="0" marL="0">
              <a:buNone/>
            </a:pPr>
            <a:r>
              <a:rPr lang="en-US" sz="1500" b="1" dirty="0">
                <a:solidFill>
                  <a:srgbClr val="0E4D5C"/>
                </a:solidFill>
              </a:rPr>
              <a:t>Design</a:t>
            </a:r>
            <a:endParaRPr lang="en-US" sz="1500" dirty="0"/>
          </a:p>
        </p:txBody>
      </p:sp>
      <p:sp>
        <p:nvSpPr>
          <p:cNvPr id="50" name="Text 48"/>
          <p:cNvSpPr txBox="1"/>
          <p:nvPr/>
        </p:nvSpPr>
        <p:spPr>
          <a:xfrm>
            <a:off x="2560320" y="2286000"/>
            <a:ext cx="1920240" cy="1005840"/>
          </a:xfrm>
          <a:prstGeom prst="rect">
            <a:avLst/>
          </a:prstGeom>
          <a:noFill/>
          <a:ln/>
        </p:spPr>
        <p:txBody>
          <a:bodyPr wrap="square" lIns="0" tIns="0" rIns="0" bIns="0" rtlCol="0" anchor="t"/>
          <a:lstStyle/>
          <a:p>
            <a:pPr indent="0" marL="0">
              <a:buNone/>
            </a:pPr>
            <a:r>
              <a:rPr lang="en-US" sz="1200" dirty="0">
                <a:solidFill>
                  <a:srgbClr val="1F2A30"/>
                </a:solidFill>
              </a:rPr>
              <a:t>Architecture &amp; detailed design (ISO/IEC/IEEE 42010), UI design</a:t>
            </a:r>
            <a:endParaRPr lang="en-US" sz="1200" dirty="0"/>
          </a:p>
        </p:txBody>
      </p:sp>
      <p:sp>
        <p:nvSpPr>
          <p:cNvPr id="51" name="Shape 49"/>
          <p:cNvSpPr/>
          <p:nvPr/>
        </p:nvSpPr>
        <p:spPr>
          <a:xfrm>
            <a:off x="4663440" y="1234440"/>
            <a:ext cx="2011680" cy="594360"/>
          </a:xfrm>
          <a:prstGeom prst="chevron">
            <a:avLst/>
          </a:prstGeom>
          <a:solidFill>
            <a:srgbClr val="1B7F79"/>
          </a:solidFill>
          <a:ln w="12700">
            <a:solidFill>
              <a:srgbClr val="1B7F79"/>
            </a:solidFill>
            <a:prstDash val="solid"/>
          </a:ln>
        </p:spPr>
      </p:sp>
      <p:sp>
        <p:nvSpPr>
          <p:cNvPr id="52" name="Text 50"/>
          <p:cNvSpPr txBox="1"/>
          <p:nvPr/>
        </p:nvSpPr>
        <p:spPr>
          <a:xfrm>
            <a:off x="4892040" y="1234440"/>
            <a:ext cx="1645920" cy="594360"/>
          </a:xfrm>
          <a:prstGeom prst="rect">
            <a:avLst/>
          </a:prstGeom>
          <a:noFill/>
          <a:ln/>
        </p:spPr>
        <p:txBody>
          <a:bodyPr wrap="square" lIns="0" tIns="0" rIns="0" bIns="0" rtlCol="0" anchor="ctr"/>
          <a:lstStyle/>
          <a:p>
            <a:pPr algn="ctr" indent="0" marL="0">
              <a:buNone/>
            </a:pPr>
            <a:r>
              <a:rPr lang="en-US" sz="1200" b="1" dirty="0">
                <a:solidFill>
                  <a:srgbClr val="FFFFFF"/>
                </a:solidFill>
              </a:rPr>
              <a:t>Increment 3 · W12–W15</a:t>
            </a:r>
            <a:endParaRPr lang="en-US" sz="1200" dirty="0"/>
          </a:p>
        </p:txBody>
      </p:sp>
      <p:sp>
        <p:nvSpPr>
          <p:cNvPr id="53" name="Text 51"/>
          <p:cNvSpPr txBox="1"/>
          <p:nvPr/>
        </p:nvSpPr>
        <p:spPr>
          <a:xfrm>
            <a:off x="4663440" y="1965960"/>
            <a:ext cx="1920240" cy="320040"/>
          </a:xfrm>
          <a:prstGeom prst="rect">
            <a:avLst/>
          </a:prstGeom>
          <a:noFill/>
          <a:ln/>
        </p:spPr>
        <p:txBody>
          <a:bodyPr wrap="square" lIns="0" tIns="0" rIns="0" bIns="0" rtlCol="0" anchor="ctr"/>
          <a:lstStyle/>
          <a:p>
            <a:pPr indent="0" marL="0">
              <a:buNone/>
            </a:pPr>
            <a:r>
              <a:rPr lang="en-US" sz="1500" b="1" dirty="0">
                <a:solidFill>
                  <a:srgbClr val="0E4D5C"/>
                </a:solidFill>
              </a:rPr>
              <a:t>Build &amp; test</a:t>
            </a:r>
            <a:endParaRPr lang="en-US" sz="1500" dirty="0"/>
          </a:p>
        </p:txBody>
      </p:sp>
      <p:sp>
        <p:nvSpPr>
          <p:cNvPr id="54" name="Text 52"/>
          <p:cNvSpPr txBox="1"/>
          <p:nvPr/>
        </p:nvSpPr>
        <p:spPr>
          <a:xfrm>
            <a:off x="4663440" y="2286000"/>
            <a:ext cx="1920240" cy="1005840"/>
          </a:xfrm>
          <a:prstGeom prst="rect">
            <a:avLst/>
          </a:prstGeom>
          <a:noFill/>
          <a:ln/>
        </p:spPr>
        <p:txBody>
          <a:bodyPr wrap="square" lIns="0" tIns="0" rIns="0" bIns="0" rtlCol="0" anchor="t"/>
          <a:lstStyle/>
          <a:p>
            <a:pPr indent="0" marL="0">
              <a:buNone/>
            </a:pPr>
            <a:r>
              <a:rPr lang="en-US" sz="1200" dirty="0">
                <a:solidFill>
                  <a:srgbClr val="1F2A30"/>
                </a:solidFill>
              </a:rPr>
              <a:t>Process Sale first, then Returns, Rental, Start Up; tests per increment</a:t>
            </a:r>
            <a:endParaRPr lang="en-US" sz="1200" dirty="0"/>
          </a:p>
        </p:txBody>
      </p:sp>
      <p:sp>
        <p:nvSpPr>
          <p:cNvPr id="55" name="Shape 53"/>
          <p:cNvSpPr/>
          <p:nvPr/>
        </p:nvSpPr>
        <p:spPr>
          <a:xfrm>
            <a:off x="6766560" y="1234440"/>
            <a:ext cx="2011680" cy="594360"/>
          </a:xfrm>
          <a:prstGeom prst="chevron">
            <a:avLst/>
          </a:prstGeom>
          <a:solidFill>
            <a:srgbClr val="E09F3E"/>
          </a:solidFill>
          <a:ln w="12700">
            <a:solidFill>
              <a:srgbClr val="E09F3E"/>
            </a:solidFill>
            <a:prstDash val="solid"/>
          </a:ln>
        </p:spPr>
      </p:sp>
      <p:sp>
        <p:nvSpPr>
          <p:cNvPr id="56" name="Text 54"/>
          <p:cNvSpPr txBox="1"/>
          <p:nvPr/>
        </p:nvSpPr>
        <p:spPr>
          <a:xfrm>
            <a:off x="6995160" y="1234440"/>
            <a:ext cx="1645920" cy="594360"/>
          </a:xfrm>
          <a:prstGeom prst="rect">
            <a:avLst/>
          </a:prstGeom>
          <a:noFill/>
          <a:ln/>
        </p:spPr>
        <p:txBody>
          <a:bodyPr wrap="square" lIns="0" tIns="0" rIns="0" bIns="0" rtlCol="0" anchor="ctr"/>
          <a:lstStyle/>
          <a:p>
            <a:pPr algn="ctr" indent="0" marL="0">
              <a:buNone/>
            </a:pPr>
            <a:r>
              <a:rPr lang="en-US" sz="1200" b="1" dirty="0">
                <a:solidFill>
                  <a:srgbClr val="FFFFFF"/>
                </a:solidFill>
              </a:rPr>
              <a:t>Release · W16</a:t>
            </a:r>
            <a:endParaRPr lang="en-US" sz="1200" dirty="0"/>
          </a:p>
        </p:txBody>
      </p:sp>
      <p:sp>
        <p:nvSpPr>
          <p:cNvPr id="57" name="Text 55"/>
          <p:cNvSpPr txBox="1"/>
          <p:nvPr/>
        </p:nvSpPr>
        <p:spPr>
          <a:xfrm>
            <a:off x="6766560" y="1965960"/>
            <a:ext cx="1920240" cy="320040"/>
          </a:xfrm>
          <a:prstGeom prst="rect">
            <a:avLst/>
          </a:prstGeom>
          <a:noFill/>
          <a:ln/>
        </p:spPr>
        <p:txBody>
          <a:bodyPr wrap="square" lIns="0" tIns="0" rIns="0" bIns="0" rtlCol="0" anchor="ctr"/>
          <a:lstStyle/>
          <a:p>
            <a:pPr indent="0" marL="0">
              <a:buNone/>
            </a:pPr>
            <a:r>
              <a:rPr lang="en-US" sz="1500" b="1" dirty="0">
                <a:solidFill>
                  <a:srgbClr val="0E4D5C"/>
                </a:solidFill>
              </a:rPr>
              <a:t>Launch</a:t>
            </a:r>
            <a:endParaRPr lang="en-US" sz="1500" dirty="0"/>
          </a:p>
        </p:txBody>
      </p:sp>
      <p:sp>
        <p:nvSpPr>
          <p:cNvPr id="58" name="Text 56"/>
          <p:cNvSpPr txBox="1"/>
          <p:nvPr/>
        </p:nvSpPr>
        <p:spPr>
          <a:xfrm>
            <a:off x="6766560" y="2286000"/>
            <a:ext cx="1920240" cy="1005840"/>
          </a:xfrm>
          <a:prstGeom prst="rect">
            <a:avLst/>
          </a:prstGeom>
          <a:noFill/>
          <a:ln/>
        </p:spPr>
        <p:txBody>
          <a:bodyPr wrap="square" lIns="0" tIns="0" rIns="0" bIns="0" rtlCol="0" anchor="t"/>
          <a:lstStyle/>
          <a:p>
            <a:pPr indent="0" marL="0">
              <a:buNone/>
            </a:pPr>
            <a:r>
              <a:rPr lang="en-US" sz="1200" dirty="0">
                <a:solidFill>
                  <a:srgbClr val="1F2A30"/>
                </a:solidFill>
              </a:rPr>
              <a:t>Product launch &amp; investment pitch</a:t>
            </a:r>
            <a:endParaRPr lang="en-US" sz="1200" dirty="0"/>
          </a:p>
        </p:txBody>
      </p:sp>
      <p:sp>
        <p:nvSpPr>
          <p:cNvPr id="59" name="Text 57"/>
          <p:cNvSpPr txBox="1"/>
          <p:nvPr/>
        </p:nvSpPr>
        <p:spPr>
          <a:xfrm>
            <a:off x="457200" y="3401568"/>
            <a:ext cx="1828800" cy="274320"/>
          </a:xfrm>
          <a:prstGeom prst="rect">
            <a:avLst/>
          </a:prstGeom>
          <a:noFill/>
          <a:ln/>
        </p:spPr>
        <p:txBody>
          <a:bodyPr wrap="square" lIns="0" tIns="0" rIns="0" bIns="0" rtlCol="0" anchor="ctr"/>
          <a:lstStyle/>
          <a:p>
            <a:pPr indent="0" marL="0">
              <a:buNone/>
            </a:pPr>
            <a:r>
              <a:rPr lang="en-US" sz="1200" b="1" dirty="0">
                <a:solidFill>
                  <a:srgbClr val="0E4D5C"/>
                </a:solidFill>
              </a:rPr>
              <a:t>Inside every increment:</a:t>
            </a:r>
            <a:endParaRPr lang="en-US" sz="1200" dirty="0"/>
          </a:p>
        </p:txBody>
      </p:sp>
      <p:sp>
        <p:nvSpPr>
          <p:cNvPr id="60" name="Shape 58"/>
          <p:cNvSpPr/>
          <p:nvPr/>
        </p:nvSpPr>
        <p:spPr>
          <a:xfrm>
            <a:off x="457200" y="3703320"/>
            <a:ext cx="1097280" cy="411480"/>
          </a:xfrm>
          <a:prstGeom prst="roundRect">
            <a:avLst>
              <a:gd name="adj" fmla="val 17778"/>
            </a:avLst>
          </a:prstGeom>
          <a:solidFill>
            <a:srgbClr val="EAF2F2"/>
          </a:solidFill>
          <a:ln w="12700">
            <a:solidFill>
              <a:srgbClr val="1B7F79"/>
            </a:solidFill>
            <a:prstDash val="solid"/>
          </a:ln>
        </p:spPr>
      </p:sp>
      <p:sp>
        <p:nvSpPr>
          <p:cNvPr id="61" name="Text 59"/>
          <p:cNvSpPr txBox="1"/>
          <p:nvPr/>
        </p:nvSpPr>
        <p:spPr>
          <a:xfrm>
            <a:off x="4572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Plan</a:t>
            </a:r>
            <a:endParaRPr lang="en-US" sz="1200" dirty="0"/>
          </a:p>
        </p:txBody>
      </p:sp>
      <p:sp>
        <p:nvSpPr>
          <p:cNvPr id="62" name="Text 60"/>
          <p:cNvSpPr txBox="1"/>
          <p:nvPr/>
        </p:nvSpPr>
        <p:spPr>
          <a:xfrm>
            <a:off x="1554480" y="3703320"/>
            <a:ext cx="274320" cy="411480"/>
          </a:xfrm>
          <a:prstGeom prst="rect">
            <a:avLst/>
          </a:prstGeom>
          <a:noFill/>
          <a:ln/>
        </p:spPr>
        <p:txBody>
          <a:bodyPr wrap="square" lIns="0" tIns="0" rIns="0" bIns="0" rtlCol="0" anchor="ctr"/>
          <a:lstStyle/>
          <a:p>
            <a:pPr algn="ctr" indent="0" marL="0">
              <a:buNone/>
            </a:pPr>
            <a:r>
              <a:rPr lang="en-US" sz="1400" dirty="0">
                <a:solidFill>
                  <a:srgbClr val="1B7F79"/>
                </a:solidFill>
              </a:rPr>
              <a:t>→</a:t>
            </a:r>
            <a:endParaRPr lang="en-US" sz="1400" dirty="0"/>
          </a:p>
        </p:txBody>
      </p:sp>
      <p:sp>
        <p:nvSpPr>
          <p:cNvPr id="63" name="Shape 61"/>
          <p:cNvSpPr/>
          <p:nvPr/>
        </p:nvSpPr>
        <p:spPr>
          <a:xfrm>
            <a:off x="1828800" y="3703320"/>
            <a:ext cx="1097280" cy="411480"/>
          </a:xfrm>
          <a:prstGeom prst="roundRect">
            <a:avLst>
              <a:gd name="adj" fmla="val 17778"/>
            </a:avLst>
          </a:prstGeom>
          <a:solidFill>
            <a:srgbClr val="EAF2F2"/>
          </a:solidFill>
          <a:ln w="12700">
            <a:solidFill>
              <a:srgbClr val="1B7F79"/>
            </a:solidFill>
            <a:prstDash val="solid"/>
          </a:ln>
        </p:spPr>
      </p:sp>
      <p:sp>
        <p:nvSpPr>
          <p:cNvPr id="64" name="Text 62"/>
          <p:cNvSpPr txBox="1"/>
          <p:nvPr/>
        </p:nvSpPr>
        <p:spPr>
          <a:xfrm>
            <a:off x="18288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Analyse</a:t>
            </a:r>
            <a:endParaRPr lang="en-US" sz="1200" dirty="0"/>
          </a:p>
        </p:txBody>
      </p:sp>
      <p:sp>
        <p:nvSpPr>
          <p:cNvPr id="65" name="Text 63"/>
          <p:cNvSpPr txBox="1"/>
          <p:nvPr/>
        </p:nvSpPr>
        <p:spPr>
          <a:xfrm>
            <a:off x="2926080" y="3703320"/>
            <a:ext cx="274320" cy="411480"/>
          </a:xfrm>
          <a:prstGeom prst="rect">
            <a:avLst/>
          </a:prstGeom>
          <a:noFill/>
          <a:ln/>
        </p:spPr>
        <p:txBody>
          <a:bodyPr wrap="square" lIns="0" tIns="0" rIns="0" bIns="0" rtlCol="0" anchor="ctr"/>
          <a:lstStyle/>
          <a:p>
            <a:pPr algn="ctr" indent="0" marL="0">
              <a:buNone/>
            </a:pPr>
            <a:r>
              <a:rPr lang="en-US" sz="1400" dirty="0">
                <a:solidFill>
                  <a:srgbClr val="1B7F79"/>
                </a:solidFill>
              </a:rPr>
              <a:t>→</a:t>
            </a:r>
            <a:endParaRPr lang="en-US" sz="1400" dirty="0"/>
          </a:p>
        </p:txBody>
      </p:sp>
      <p:sp>
        <p:nvSpPr>
          <p:cNvPr id="66" name="Shape 64"/>
          <p:cNvSpPr/>
          <p:nvPr/>
        </p:nvSpPr>
        <p:spPr>
          <a:xfrm>
            <a:off x="3200400" y="3703320"/>
            <a:ext cx="1097280" cy="411480"/>
          </a:xfrm>
          <a:prstGeom prst="roundRect">
            <a:avLst>
              <a:gd name="adj" fmla="val 17778"/>
            </a:avLst>
          </a:prstGeom>
          <a:solidFill>
            <a:srgbClr val="EAF2F2"/>
          </a:solidFill>
          <a:ln w="12700">
            <a:solidFill>
              <a:srgbClr val="1B7F79"/>
            </a:solidFill>
            <a:prstDash val="solid"/>
          </a:ln>
        </p:spPr>
      </p:sp>
      <p:sp>
        <p:nvSpPr>
          <p:cNvPr id="67" name="Text 65"/>
          <p:cNvSpPr txBox="1"/>
          <p:nvPr/>
        </p:nvSpPr>
        <p:spPr>
          <a:xfrm>
            <a:off x="32004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Design</a:t>
            </a:r>
            <a:endParaRPr lang="en-US" sz="1200" dirty="0"/>
          </a:p>
        </p:txBody>
      </p:sp>
      <p:sp>
        <p:nvSpPr>
          <p:cNvPr id="68" name="Text 66"/>
          <p:cNvSpPr txBox="1"/>
          <p:nvPr/>
        </p:nvSpPr>
        <p:spPr>
          <a:xfrm>
            <a:off x="4297680" y="3703320"/>
            <a:ext cx="274320" cy="411480"/>
          </a:xfrm>
          <a:prstGeom prst="rect">
            <a:avLst/>
          </a:prstGeom>
          <a:noFill/>
          <a:ln/>
        </p:spPr>
        <p:txBody>
          <a:bodyPr wrap="square" lIns="0" tIns="0" rIns="0" bIns="0" rtlCol="0" anchor="ctr"/>
          <a:lstStyle/>
          <a:p>
            <a:pPr algn="ctr" indent="0" marL="0">
              <a:buNone/>
            </a:pPr>
            <a:r>
              <a:rPr lang="en-US" sz="1400" dirty="0">
                <a:solidFill>
                  <a:srgbClr val="1B7F79"/>
                </a:solidFill>
              </a:rPr>
              <a:t>→</a:t>
            </a:r>
            <a:endParaRPr lang="en-US" sz="1400" dirty="0"/>
          </a:p>
        </p:txBody>
      </p:sp>
      <p:sp>
        <p:nvSpPr>
          <p:cNvPr id="69" name="Shape 67"/>
          <p:cNvSpPr/>
          <p:nvPr/>
        </p:nvSpPr>
        <p:spPr>
          <a:xfrm>
            <a:off x="4572000" y="3703320"/>
            <a:ext cx="1097280" cy="411480"/>
          </a:xfrm>
          <a:prstGeom prst="roundRect">
            <a:avLst>
              <a:gd name="adj" fmla="val 17778"/>
            </a:avLst>
          </a:prstGeom>
          <a:solidFill>
            <a:srgbClr val="EAF2F2"/>
          </a:solidFill>
          <a:ln w="12700">
            <a:solidFill>
              <a:srgbClr val="1B7F79"/>
            </a:solidFill>
            <a:prstDash val="solid"/>
          </a:ln>
        </p:spPr>
      </p:sp>
      <p:sp>
        <p:nvSpPr>
          <p:cNvPr id="70" name="Text 68"/>
          <p:cNvSpPr txBox="1"/>
          <p:nvPr/>
        </p:nvSpPr>
        <p:spPr>
          <a:xfrm>
            <a:off x="45720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Build</a:t>
            </a:r>
            <a:endParaRPr lang="en-US" sz="1200" dirty="0"/>
          </a:p>
        </p:txBody>
      </p:sp>
      <p:sp>
        <p:nvSpPr>
          <p:cNvPr id="71" name="Text 69"/>
          <p:cNvSpPr txBox="1"/>
          <p:nvPr/>
        </p:nvSpPr>
        <p:spPr>
          <a:xfrm>
            <a:off x="5669280" y="3703320"/>
            <a:ext cx="274320" cy="411480"/>
          </a:xfrm>
          <a:prstGeom prst="rect">
            <a:avLst/>
          </a:prstGeom>
          <a:noFill/>
          <a:ln/>
        </p:spPr>
        <p:txBody>
          <a:bodyPr wrap="square" lIns="0" tIns="0" rIns="0" bIns="0" rtlCol="0" anchor="ctr"/>
          <a:lstStyle/>
          <a:p>
            <a:pPr algn="ctr" indent="0" marL="0">
              <a:buNone/>
            </a:pPr>
            <a:r>
              <a:rPr lang="en-US" sz="1400" dirty="0">
                <a:solidFill>
                  <a:srgbClr val="1B7F79"/>
                </a:solidFill>
              </a:rPr>
              <a:t>→</a:t>
            </a:r>
            <a:endParaRPr lang="en-US" sz="1400" dirty="0"/>
          </a:p>
        </p:txBody>
      </p:sp>
      <p:sp>
        <p:nvSpPr>
          <p:cNvPr id="72" name="Shape 70"/>
          <p:cNvSpPr/>
          <p:nvPr/>
        </p:nvSpPr>
        <p:spPr>
          <a:xfrm>
            <a:off x="5943600" y="3703320"/>
            <a:ext cx="1097280" cy="411480"/>
          </a:xfrm>
          <a:prstGeom prst="roundRect">
            <a:avLst>
              <a:gd name="adj" fmla="val 17778"/>
            </a:avLst>
          </a:prstGeom>
          <a:solidFill>
            <a:srgbClr val="EAF2F2"/>
          </a:solidFill>
          <a:ln w="12700">
            <a:solidFill>
              <a:srgbClr val="1B7F79"/>
            </a:solidFill>
            <a:prstDash val="solid"/>
          </a:ln>
        </p:spPr>
      </p:sp>
      <p:sp>
        <p:nvSpPr>
          <p:cNvPr id="73" name="Text 71"/>
          <p:cNvSpPr txBox="1"/>
          <p:nvPr/>
        </p:nvSpPr>
        <p:spPr>
          <a:xfrm>
            <a:off x="59436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Test</a:t>
            </a:r>
            <a:endParaRPr lang="en-US" sz="1200" dirty="0"/>
          </a:p>
        </p:txBody>
      </p:sp>
      <p:sp>
        <p:nvSpPr>
          <p:cNvPr id="74" name="Text 72"/>
          <p:cNvSpPr txBox="1"/>
          <p:nvPr/>
        </p:nvSpPr>
        <p:spPr>
          <a:xfrm>
            <a:off x="7040880" y="3703320"/>
            <a:ext cx="274320" cy="411480"/>
          </a:xfrm>
          <a:prstGeom prst="rect">
            <a:avLst/>
          </a:prstGeom>
          <a:noFill/>
          <a:ln/>
        </p:spPr>
        <p:txBody>
          <a:bodyPr wrap="square" lIns="0" tIns="0" rIns="0" bIns="0" rtlCol="0" anchor="ctr"/>
          <a:lstStyle/>
          <a:p>
            <a:pPr algn="ctr" indent="0" marL="0">
              <a:buNone/>
            </a:pPr>
            <a:r>
              <a:rPr lang="en-US" sz="1400" dirty="0">
                <a:solidFill>
                  <a:srgbClr val="1B7F79"/>
                </a:solidFill>
              </a:rPr>
              <a:t>→</a:t>
            </a:r>
            <a:endParaRPr lang="en-US" sz="1400" dirty="0"/>
          </a:p>
        </p:txBody>
      </p:sp>
      <p:sp>
        <p:nvSpPr>
          <p:cNvPr id="75" name="Shape 73"/>
          <p:cNvSpPr/>
          <p:nvPr/>
        </p:nvSpPr>
        <p:spPr>
          <a:xfrm>
            <a:off x="7315200" y="3703320"/>
            <a:ext cx="1097280" cy="411480"/>
          </a:xfrm>
          <a:prstGeom prst="roundRect">
            <a:avLst>
              <a:gd name="adj" fmla="val 17778"/>
            </a:avLst>
          </a:prstGeom>
          <a:solidFill>
            <a:srgbClr val="EAF2F2"/>
          </a:solidFill>
          <a:ln w="12700">
            <a:solidFill>
              <a:srgbClr val="1B7F79"/>
            </a:solidFill>
            <a:prstDash val="solid"/>
          </a:ln>
        </p:spPr>
      </p:sp>
      <p:sp>
        <p:nvSpPr>
          <p:cNvPr id="76" name="Text 74"/>
          <p:cNvSpPr txBox="1"/>
          <p:nvPr/>
        </p:nvSpPr>
        <p:spPr>
          <a:xfrm>
            <a:off x="7315200" y="3703320"/>
            <a:ext cx="1097280" cy="411480"/>
          </a:xfrm>
          <a:prstGeom prst="rect">
            <a:avLst/>
          </a:prstGeom>
          <a:noFill/>
          <a:ln/>
        </p:spPr>
        <p:txBody>
          <a:bodyPr wrap="square" lIns="0" tIns="0" rIns="0" bIns="0" rtlCol="0" anchor="ctr"/>
          <a:lstStyle/>
          <a:p>
            <a:pPr algn="ctr" indent="0" marL="0">
              <a:buNone/>
            </a:pPr>
            <a:r>
              <a:rPr lang="en-US" sz="1200" b="1" dirty="0">
                <a:solidFill>
                  <a:srgbClr val="0E4D5C"/>
                </a:solidFill>
              </a:rPr>
              <a:t>Peer review</a:t>
            </a:r>
            <a:endParaRPr lang="en-US" sz="1200" dirty="0"/>
          </a:p>
        </p:txBody>
      </p:sp>
      <p:sp>
        <p:nvSpPr>
          <p:cNvPr id="77" name="Text 75"/>
          <p:cNvSpPr txBox="1"/>
          <p:nvPr/>
        </p:nvSpPr>
        <p:spPr>
          <a:xfrm>
            <a:off x="6035040" y="3401568"/>
            <a:ext cx="2651760" cy="274320"/>
          </a:xfrm>
          <a:prstGeom prst="rect">
            <a:avLst/>
          </a:prstGeom>
          <a:noFill/>
          <a:ln/>
        </p:spPr>
        <p:txBody>
          <a:bodyPr wrap="square" lIns="0" tIns="0" rIns="0" bIns="0" rtlCol="0" anchor="ctr"/>
          <a:lstStyle/>
          <a:p>
            <a:pPr algn="r" indent="0" marL="0">
              <a:buNone/>
            </a:pPr>
            <a:r>
              <a:rPr lang="en-US" sz="1100" i="1" dirty="0">
                <a:solidFill>
                  <a:srgbClr val="E09F3E"/>
                </a:solidFill>
              </a:rPr>
              <a:t>↻ feedback to next increment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1 · TECHNICAL PROGRESS — SYSTEM DEVELOPMENT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Requirements still to develop: classification</a:t>
            </a:r>
            <a:endParaRPr lang="en-US" sz="2800" dirty="0"/>
          </a:p>
        </p:txBody>
      </p:sp>
      <p:sp>
        <p:nvSpPr>
          <p:cNvPr id="43" name="Shape 41"/>
          <p:cNvSpPr/>
          <p:nvPr/>
        </p:nvSpPr>
        <p:spPr>
          <a:xfrm>
            <a:off x="457200" y="1188720"/>
            <a:ext cx="1920240" cy="502920"/>
          </a:xfrm>
          <a:prstGeom prst="roundRect">
            <a:avLst>
              <a:gd name="adj" fmla="val 14545"/>
            </a:avLst>
          </a:prstGeom>
          <a:solidFill>
            <a:srgbClr val="0E4D5C"/>
          </a:solidFill>
          <a:ln w="12700">
            <a:solidFill>
              <a:srgbClr val="0E4D5C"/>
            </a:solidFill>
            <a:prstDash val="solid"/>
          </a:ln>
        </p:spPr>
      </p:sp>
      <p:sp>
        <p:nvSpPr>
          <p:cNvPr id="44" name="Text 42"/>
          <p:cNvSpPr txBox="1"/>
          <p:nvPr/>
        </p:nvSpPr>
        <p:spPr>
          <a:xfrm>
            <a:off x="548640" y="1188720"/>
            <a:ext cx="1737360" cy="502920"/>
          </a:xfrm>
          <a:prstGeom prst="rect">
            <a:avLst/>
          </a:prstGeom>
          <a:noFill/>
          <a:ln/>
        </p:spPr>
        <p:txBody>
          <a:bodyPr wrap="square" lIns="0" tIns="0" rIns="0" bIns="0" rtlCol="0" anchor="ctr"/>
          <a:lstStyle/>
          <a:p>
            <a:pPr indent="0" marL="0">
              <a:buNone/>
            </a:pPr>
            <a:r>
              <a:rPr lang="en-US" sz="1300" b="1" dirty="0">
                <a:solidFill>
                  <a:srgbClr val="FFFFFF"/>
                </a:solidFill>
              </a:rPr>
              <a:t>Functional (by use case)</a:t>
            </a:r>
            <a:endParaRPr lang="en-US" sz="1300" dirty="0"/>
          </a:p>
        </p:txBody>
      </p:sp>
      <p:sp>
        <p:nvSpPr>
          <p:cNvPr id="45" name="Shape 43"/>
          <p:cNvSpPr/>
          <p:nvPr/>
        </p:nvSpPr>
        <p:spPr>
          <a:xfrm>
            <a:off x="457200" y="1783080"/>
            <a:ext cx="1920240" cy="2194560"/>
          </a:xfrm>
          <a:prstGeom prst="roundRect">
            <a:avLst>
              <a:gd name="adj" fmla="val 3810"/>
            </a:avLst>
          </a:prstGeom>
          <a:solidFill>
            <a:srgbClr val="EAF2F2"/>
          </a:solidFill>
          <a:ln w="12700">
            <a:solidFill>
              <a:srgbClr val="EAF2F2"/>
            </a:solidFill>
            <a:prstDash val="solid"/>
          </a:ln>
        </p:spPr>
      </p:sp>
      <p:sp>
        <p:nvSpPr>
          <p:cNvPr id="46" name="Text 44"/>
          <p:cNvSpPr txBox="1"/>
          <p:nvPr/>
        </p:nvSpPr>
        <p:spPr>
          <a:xfrm>
            <a:off x="502920" y="1874520"/>
            <a:ext cx="182880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F2A30"/>
                </a:solidFill>
              </a:rPr>
              <a:t>UC1 Process Sale</a:t>
            </a:r>
            <a:endParaRPr lang="en-US" sz="1200" dirty="0"/>
          </a:p>
          <a:p>
            <a:pPr marL="342900" indent="-342900">
              <a:spcAft>
                <a:spcPts val="600"/>
              </a:spcAft>
              <a:buSzPct val="100000"/>
              <a:buChar char="•"/>
            </a:pPr>
            <a:r>
              <a:rPr lang="en-US" sz="1200" dirty="0">
                <a:solidFill>
                  <a:srgbClr val="1F2A30"/>
                </a:solidFill>
              </a:rPr>
              <a:t>UC2 Handle Returns</a:t>
            </a:r>
            <a:endParaRPr lang="en-US" sz="1200" dirty="0"/>
          </a:p>
          <a:p>
            <a:pPr marL="342900" indent="-342900">
              <a:spcAft>
                <a:spcPts val="600"/>
              </a:spcAft>
              <a:buSzPct val="100000"/>
              <a:buChar char="•"/>
            </a:pPr>
            <a:r>
              <a:rPr lang="en-US" sz="1200" dirty="0">
                <a:solidFill>
                  <a:srgbClr val="1F2A30"/>
                </a:solidFill>
              </a:rPr>
              <a:t>UC3 Process Rental</a:t>
            </a:r>
            <a:endParaRPr lang="en-US" sz="1200" dirty="0"/>
          </a:p>
          <a:p>
            <a:pPr marL="342900" indent="-342900">
              <a:spcAft>
                <a:spcPts val="600"/>
              </a:spcAft>
              <a:buSzPct val="100000"/>
              <a:buChar char="•"/>
            </a:pPr>
            <a:r>
              <a:rPr lang="en-US" sz="1200" dirty="0">
                <a:solidFill>
                  <a:srgbClr val="1F2A30"/>
                </a:solidFill>
              </a:rPr>
              <a:t>UC4 Start Up</a:t>
            </a:r>
            <a:endParaRPr lang="en-US" sz="1200" dirty="0"/>
          </a:p>
        </p:txBody>
      </p:sp>
      <p:sp>
        <p:nvSpPr>
          <p:cNvPr id="47" name="Shape 45"/>
          <p:cNvSpPr/>
          <p:nvPr/>
        </p:nvSpPr>
        <p:spPr>
          <a:xfrm>
            <a:off x="2560320" y="1188720"/>
            <a:ext cx="1920240" cy="502920"/>
          </a:xfrm>
          <a:prstGeom prst="roundRect">
            <a:avLst>
              <a:gd name="adj" fmla="val 14545"/>
            </a:avLst>
          </a:prstGeom>
          <a:solidFill>
            <a:srgbClr val="1B7F79"/>
          </a:solidFill>
          <a:ln w="12700">
            <a:solidFill>
              <a:srgbClr val="1B7F79"/>
            </a:solidFill>
            <a:prstDash val="solid"/>
          </a:ln>
        </p:spPr>
      </p:sp>
      <p:sp>
        <p:nvSpPr>
          <p:cNvPr id="48" name="Text 46"/>
          <p:cNvSpPr txBox="1"/>
          <p:nvPr/>
        </p:nvSpPr>
        <p:spPr>
          <a:xfrm>
            <a:off x="2651760" y="1188720"/>
            <a:ext cx="1737360" cy="502920"/>
          </a:xfrm>
          <a:prstGeom prst="rect">
            <a:avLst/>
          </a:prstGeom>
          <a:noFill/>
          <a:ln/>
        </p:spPr>
        <p:txBody>
          <a:bodyPr wrap="square" lIns="0" tIns="0" rIns="0" bIns="0" rtlCol="0" anchor="ctr"/>
          <a:lstStyle/>
          <a:p>
            <a:pPr indent="0" marL="0">
              <a:buNone/>
            </a:pPr>
            <a:r>
              <a:rPr lang="en-US" sz="1300" b="1" dirty="0">
                <a:solidFill>
                  <a:srgbClr val="FFFFFF"/>
                </a:solidFill>
              </a:rPr>
              <a:t>Quality attributes</a:t>
            </a:r>
            <a:endParaRPr lang="en-US" sz="1300" dirty="0"/>
          </a:p>
        </p:txBody>
      </p:sp>
      <p:sp>
        <p:nvSpPr>
          <p:cNvPr id="49" name="Shape 47"/>
          <p:cNvSpPr/>
          <p:nvPr/>
        </p:nvSpPr>
        <p:spPr>
          <a:xfrm>
            <a:off x="2560320" y="1783080"/>
            <a:ext cx="1920240" cy="2194560"/>
          </a:xfrm>
          <a:prstGeom prst="roundRect">
            <a:avLst>
              <a:gd name="adj" fmla="val 3810"/>
            </a:avLst>
          </a:prstGeom>
          <a:solidFill>
            <a:srgbClr val="EAF2F2"/>
          </a:solidFill>
          <a:ln w="12700">
            <a:solidFill>
              <a:srgbClr val="EAF2F2"/>
            </a:solidFill>
            <a:prstDash val="solid"/>
          </a:ln>
        </p:spPr>
      </p:sp>
      <p:sp>
        <p:nvSpPr>
          <p:cNvPr id="50" name="Text 48"/>
          <p:cNvSpPr txBox="1"/>
          <p:nvPr/>
        </p:nvSpPr>
        <p:spPr>
          <a:xfrm>
            <a:off x="2606040" y="1874520"/>
            <a:ext cx="182880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F2A30"/>
                </a:solidFill>
              </a:rPr>
              <a:t>Performance: response &lt; 1 s</a:t>
            </a:r>
            <a:endParaRPr lang="en-US" sz="1200" dirty="0"/>
          </a:p>
          <a:p>
            <a:pPr marL="342900" indent="-342900">
              <a:spcAft>
                <a:spcPts val="600"/>
              </a:spcAft>
              <a:buSzPct val="100000"/>
              <a:buChar char="•"/>
            </a:pPr>
            <a:r>
              <a:rPr lang="en-US" sz="1200" dirty="0">
                <a:solidFill>
                  <a:srgbClr val="1F2A30"/>
                </a:solidFill>
              </a:rPr>
              <a:t>Security: cashier login</a:t>
            </a:r>
            <a:endParaRPr lang="en-US" sz="1200" dirty="0"/>
          </a:p>
          <a:p>
            <a:pPr marL="342900" indent="-342900">
              <a:spcAft>
                <a:spcPts val="600"/>
              </a:spcAft>
              <a:buSzPct val="100000"/>
              <a:buChar char="•"/>
            </a:pPr>
            <a:r>
              <a:rPr lang="en-US" sz="1200" dirty="0">
                <a:solidFill>
                  <a:srgbClr val="1F2A30"/>
                </a:solidFill>
              </a:rPr>
              <a:t>Reliability &amp; availability</a:t>
            </a:r>
            <a:endParaRPr lang="en-US" sz="1200" dirty="0"/>
          </a:p>
          <a:p>
            <a:pPr marL="342900" indent="-342900">
              <a:spcAft>
                <a:spcPts val="600"/>
              </a:spcAft>
              <a:buSzPct val="100000"/>
              <a:buChar char="•"/>
            </a:pPr>
            <a:r>
              <a:rPr lang="en-US" sz="1200" dirty="0">
                <a:solidFill>
                  <a:srgbClr val="1F2A30"/>
                </a:solidFill>
              </a:rPr>
              <a:t>Usability of the cashier UI</a:t>
            </a:r>
            <a:endParaRPr lang="en-US" sz="1200" dirty="0"/>
          </a:p>
        </p:txBody>
      </p:sp>
      <p:sp>
        <p:nvSpPr>
          <p:cNvPr id="51" name="Shape 49"/>
          <p:cNvSpPr/>
          <p:nvPr/>
        </p:nvSpPr>
        <p:spPr>
          <a:xfrm>
            <a:off x="4663440" y="1188720"/>
            <a:ext cx="1920240" cy="502920"/>
          </a:xfrm>
          <a:prstGeom prst="roundRect">
            <a:avLst>
              <a:gd name="adj" fmla="val 14545"/>
            </a:avLst>
          </a:prstGeom>
          <a:solidFill>
            <a:srgbClr val="E09F3E"/>
          </a:solidFill>
          <a:ln w="12700">
            <a:solidFill>
              <a:srgbClr val="E09F3E"/>
            </a:solidFill>
            <a:prstDash val="solid"/>
          </a:ln>
        </p:spPr>
      </p:sp>
      <p:sp>
        <p:nvSpPr>
          <p:cNvPr id="52" name="Text 50"/>
          <p:cNvSpPr txBox="1"/>
          <p:nvPr/>
        </p:nvSpPr>
        <p:spPr>
          <a:xfrm>
            <a:off x="4754880" y="1188720"/>
            <a:ext cx="1737360" cy="502920"/>
          </a:xfrm>
          <a:prstGeom prst="rect">
            <a:avLst/>
          </a:prstGeom>
          <a:noFill/>
          <a:ln/>
        </p:spPr>
        <p:txBody>
          <a:bodyPr wrap="square" lIns="0" tIns="0" rIns="0" bIns="0" rtlCol="0" anchor="ctr"/>
          <a:lstStyle/>
          <a:p>
            <a:pPr indent="0" marL="0">
              <a:buNone/>
            </a:pPr>
            <a:r>
              <a:rPr lang="en-US" sz="1300" b="1" dirty="0">
                <a:solidFill>
                  <a:srgbClr val="FFFFFF"/>
                </a:solidFill>
              </a:rPr>
              <a:t>Business rules</a:t>
            </a:r>
            <a:endParaRPr lang="en-US" sz="1300" dirty="0"/>
          </a:p>
        </p:txBody>
      </p:sp>
      <p:sp>
        <p:nvSpPr>
          <p:cNvPr id="53" name="Shape 51"/>
          <p:cNvSpPr/>
          <p:nvPr/>
        </p:nvSpPr>
        <p:spPr>
          <a:xfrm>
            <a:off x="4663440" y="1783080"/>
            <a:ext cx="1920240" cy="2194560"/>
          </a:xfrm>
          <a:prstGeom prst="roundRect">
            <a:avLst>
              <a:gd name="adj" fmla="val 3810"/>
            </a:avLst>
          </a:prstGeom>
          <a:solidFill>
            <a:srgbClr val="EAF2F2"/>
          </a:solidFill>
          <a:ln w="12700">
            <a:solidFill>
              <a:srgbClr val="EAF2F2"/>
            </a:solidFill>
            <a:prstDash val="solid"/>
          </a:ln>
        </p:spPr>
      </p:sp>
      <p:sp>
        <p:nvSpPr>
          <p:cNvPr id="54" name="Text 52"/>
          <p:cNvSpPr txBox="1"/>
          <p:nvPr/>
        </p:nvSpPr>
        <p:spPr>
          <a:xfrm>
            <a:off x="4709160" y="1874520"/>
            <a:ext cx="182880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F2A30"/>
                </a:solidFill>
              </a:rPr>
              <a:t>Pricing rules &amp; discounts</a:t>
            </a:r>
            <a:endParaRPr lang="en-US" sz="1200" dirty="0"/>
          </a:p>
          <a:p>
            <a:pPr marL="342900" indent="-342900">
              <a:spcAft>
                <a:spcPts val="600"/>
              </a:spcAft>
              <a:buSzPct val="100000"/>
              <a:buChar char="•"/>
            </a:pPr>
            <a:r>
              <a:rPr lang="en-US" sz="1200" dirty="0">
                <a:solidFill>
                  <a:srgbClr val="1F2A30"/>
                </a:solidFill>
              </a:rPr>
              <a:t>Tax calculation</a:t>
            </a:r>
            <a:endParaRPr lang="en-US" sz="1200" dirty="0"/>
          </a:p>
          <a:p>
            <a:pPr marL="342900" indent="-342900">
              <a:spcAft>
                <a:spcPts val="600"/>
              </a:spcAft>
              <a:buSzPct val="100000"/>
              <a:buChar char="•"/>
            </a:pPr>
            <a:r>
              <a:rPr lang="en-US" sz="1200" dirty="0">
                <a:solidFill>
                  <a:srgbClr val="1F2A30"/>
                </a:solidFill>
              </a:rPr>
              <a:t>Reorder when stock &lt; 10</a:t>
            </a:r>
            <a:endParaRPr lang="en-US" sz="1200" dirty="0"/>
          </a:p>
          <a:p>
            <a:pPr marL="342900" indent="-342900">
              <a:spcAft>
                <a:spcPts val="600"/>
              </a:spcAft>
              <a:buSzPct val="100000"/>
              <a:buChar char="•"/>
            </a:pPr>
            <a:r>
              <a:rPr lang="en-US" sz="1200" dirty="0">
                <a:solidFill>
                  <a:srgbClr val="1F2A30"/>
                </a:solidFill>
              </a:rPr>
              <a:t>Refund / rental policies</a:t>
            </a:r>
            <a:endParaRPr lang="en-US" sz="1200" dirty="0"/>
          </a:p>
        </p:txBody>
      </p:sp>
      <p:sp>
        <p:nvSpPr>
          <p:cNvPr id="55" name="Shape 53"/>
          <p:cNvSpPr/>
          <p:nvPr/>
        </p:nvSpPr>
        <p:spPr>
          <a:xfrm>
            <a:off x="6766560" y="1188720"/>
            <a:ext cx="1920240" cy="502920"/>
          </a:xfrm>
          <a:prstGeom prst="roundRect">
            <a:avLst>
              <a:gd name="adj" fmla="val 14545"/>
            </a:avLst>
          </a:prstGeom>
          <a:solidFill>
            <a:srgbClr val="34495E"/>
          </a:solidFill>
          <a:ln w="12700">
            <a:solidFill>
              <a:srgbClr val="34495E"/>
            </a:solidFill>
            <a:prstDash val="solid"/>
          </a:ln>
        </p:spPr>
      </p:sp>
      <p:sp>
        <p:nvSpPr>
          <p:cNvPr id="56" name="Text 54"/>
          <p:cNvSpPr txBox="1"/>
          <p:nvPr/>
        </p:nvSpPr>
        <p:spPr>
          <a:xfrm>
            <a:off x="6858000" y="1188720"/>
            <a:ext cx="1737360" cy="502920"/>
          </a:xfrm>
          <a:prstGeom prst="rect">
            <a:avLst/>
          </a:prstGeom>
          <a:noFill/>
          <a:ln/>
        </p:spPr>
        <p:txBody>
          <a:bodyPr wrap="square" lIns="0" tIns="0" rIns="0" bIns="0" rtlCol="0" anchor="ctr"/>
          <a:lstStyle/>
          <a:p>
            <a:pPr indent="0" marL="0">
              <a:buNone/>
            </a:pPr>
            <a:r>
              <a:rPr lang="en-US" sz="1300" b="1" dirty="0">
                <a:solidFill>
                  <a:srgbClr val="FFFFFF"/>
                </a:solidFill>
              </a:rPr>
              <a:t>External interfaces</a:t>
            </a:r>
            <a:endParaRPr lang="en-US" sz="1300" dirty="0"/>
          </a:p>
        </p:txBody>
      </p:sp>
      <p:sp>
        <p:nvSpPr>
          <p:cNvPr id="57" name="Shape 55"/>
          <p:cNvSpPr/>
          <p:nvPr/>
        </p:nvSpPr>
        <p:spPr>
          <a:xfrm>
            <a:off x="6766560" y="1783080"/>
            <a:ext cx="1920240" cy="2194560"/>
          </a:xfrm>
          <a:prstGeom prst="roundRect">
            <a:avLst>
              <a:gd name="adj" fmla="val 3810"/>
            </a:avLst>
          </a:prstGeom>
          <a:solidFill>
            <a:srgbClr val="EAF2F2"/>
          </a:solidFill>
          <a:ln w="12700">
            <a:solidFill>
              <a:srgbClr val="EAF2F2"/>
            </a:solidFill>
            <a:prstDash val="solid"/>
          </a:ln>
        </p:spPr>
      </p:sp>
      <p:sp>
        <p:nvSpPr>
          <p:cNvPr id="58" name="Text 56"/>
          <p:cNvSpPr txBox="1"/>
          <p:nvPr/>
        </p:nvSpPr>
        <p:spPr>
          <a:xfrm>
            <a:off x="6812280" y="1874520"/>
            <a:ext cx="1828800" cy="2011680"/>
          </a:xfrm>
          <a:prstGeom prst="rect">
            <a:avLst/>
          </a:prstGeom>
          <a:noFill/>
          <a:ln/>
        </p:spPr>
        <p:txBody>
          <a:bodyPr wrap="square" rtlCol="0" anchor="t"/>
          <a:lstStyle/>
          <a:p>
            <a:pPr marL="342900" indent="-342900">
              <a:spcAft>
                <a:spcPts val="600"/>
              </a:spcAft>
              <a:buSzPct val="100000"/>
              <a:buChar char="•"/>
            </a:pPr>
            <a:r>
              <a:rPr lang="en-US" sz="1200" dirty="0">
                <a:solidFill>
                  <a:srgbClr val="1F2A30"/>
                </a:solidFill>
              </a:rPr>
              <a:t>Payment authorization</a:t>
            </a:r>
            <a:endParaRPr lang="en-US" sz="1200" dirty="0"/>
          </a:p>
          <a:p>
            <a:pPr marL="342900" indent="-342900">
              <a:spcAft>
                <a:spcPts val="600"/>
              </a:spcAft>
              <a:buSzPct val="100000"/>
              <a:buChar char="•"/>
            </a:pPr>
            <a:r>
              <a:rPr lang="en-US" sz="1200" dirty="0">
                <a:solidFill>
                  <a:srgbClr val="1F2A30"/>
                </a:solidFill>
              </a:rPr>
              <a:t>Tax Calculator</a:t>
            </a:r>
            <a:endParaRPr lang="en-US" sz="1200" dirty="0"/>
          </a:p>
          <a:p>
            <a:pPr marL="342900" indent="-342900">
              <a:spcAft>
                <a:spcPts val="600"/>
              </a:spcAft>
              <a:buSzPct val="100000"/>
              <a:buChar char="•"/>
            </a:pPr>
            <a:r>
              <a:rPr lang="en-US" sz="1200" dirty="0">
                <a:solidFill>
                  <a:srgbClr val="1F2A30"/>
                </a:solidFill>
              </a:rPr>
              <a:t>Accounting System</a:t>
            </a:r>
            <a:endParaRPr lang="en-US" sz="1200" dirty="0"/>
          </a:p>
          <a:p>
            <a:pPr marL="342900" indent="-342900">
              <a:spcAft>
                <a:spcPts val="600"/>
              </a:spcAft>
              <a:buSzPct val="100000"/>
              <a:buChar char="•"/>
            </a:pPr>
            <a:r>
              <a:rPr lang="en-US" sz="1200" dirty="0">
                <a:solidFill>
                  <a:srgbClr val="1F2A30"/>
                </a:solidFill>
              </a:rPr>
              <a:t>HR System</a:t>
            </a:r>
            <a:endParaRPr lang="en-US" sz="1200" dirty="0"/>
          </a:p>
        </p:txBody>
      </p:sp>
      <p:sp>
        <p:nvSpPr>
          <p:cNvPr id="59" name="Text 57"/>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200" i="1" dirty="0">
                <a:solidFill>
                  <a:srgbClr val="5F6B70"/>
                </a:solidFill>
              </a:rPr>
              <a:t>Detailed elicitation and analysis start with the next course topic: Requirements Engineering.</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2 · EXPERIMENTAL PROGRESS — DELIVERABLES</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Documentation completed so far</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206240"/>
                <a:gridCol w="2651760"/>
                <a:gridCol w="1371600"/>
              </a:tblGrid>
              <a:tr h="384048">
                <a:tc>
                  <a:txBody>
                    <a:bodyPr/>
                    <a:lstStyle/>
                    <a:p>
                      <a:pPr indent="0" marL="0">
                        <a:buNone/>
                      </a:pPr>
                      <a:r>
                        <a:rPr lang="en-US" sz="1200" b="1" dirty="0">
                          <a:solidFill>
                            <a:srgbClr val="FFFFFF"/>
                          </a:solidFill>
                        </a:rPr>
                        <a:t>Deliverable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200" b="1" dirty="0">
                          <a:solidFill>
                            <a:srgbClr val="FFFFFF"/>
                          </a:solidFill>
                        </a:rPr>
                        <a:t>Where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c>
                  <a:txBody>
                    <a:bodyPr/>
                    <a:lstStyle/>
                    <a:p>
                      <a:pPr indent="0" marL="0">
                        <a:buNone/>
                      </a:pPr>
                      <a:r>
                        <a:rPr lang="en-US" sz="1200" b="1" dirty="0">
                          <a:solidFill>
                            <a:srgbClr val="FFFFFF"/>
                          </a:solidFill>
                        </a:rPr>
                        <a:t>Status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0E4D5C"/>
                    </a:solidFill>
                  </a:tcPr>
                </a:tc>
              </a:tr>
              <a:tr h="384048">
                <a:tc>
                  <a:txBody>
                    <a:bodyPr/>
                    <a:lstStyle/>
                    <a:p>
                      <a:pPr indent="0" marL="0">
                        <a:buNone/>
                      </a:pPr>
                      <a:r>
                        <a:rPr lang="en-US" sz="1200" dirty="0">
                          <a:solidFill>
                            <a:srgbClr val="1F2A30"/>
                          </a:solidFill>
                        </a:rPr>
                        <a:t>Project proposal &amp; scope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README.md</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1B7F79"/>
                          </a:solidFill>
                        </a:rPr>
                        <a:t>Done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Repository structure &amp; working rules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bhsei/26D</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1B7F79"/>
                          </a:solidFill>
                        </a:rPr>
                        <a:t>Done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Project schedule (Gantt)</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plans/project_schedule.md</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1B7F79"/>
                          </a:solidFill>
                        </a:rPr>
                        <a:t>Done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Process model selection &amp; rationale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plans/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1B7F79"/>
                          </a:solidFill>
                        </a:rPr>
                        <a:t>Done</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Quality goals (ISO/IEC 25010)</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docs/requirements/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E09F3E"/>
                          </a:solidFill>
                        </a:rPr>
                        <a:t>Draft</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Team &amp; individual work logs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worklogs/</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E09F3E"/>
                          </a:solidFill>
                        </a:rPr>
                        <a:t>Draft</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rPr>
                        <a:t>SRS — Assignment 1</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rPr>
                        <a:t>docs/requirements/SRS.md</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c>
                  <a:txBody>
                    <a:bodyPr/>
                    <a:lstStyle/>
                    <a:p>
                      <a:pPr indent="0" marL="0">
                        <a:buNone/>
                      </a:pPr>
                      <a:r>
                        <a:rPr lang="en-US" sz="1200" b="1" dirty="0">
                          <a:solidFill>
                            <a:srgbClr val="5F6B70"/>
                          </a:solidFill>
                        </a:rPr>
                        <a:t>To do</a:t>
                      </a:r>
                      <a:endParaRPr lang="en-US" sz="1200" dirty="0"/>
                    </a:p>
                  </a:txBody>
                  <a:tcPr marL="91440" marR="91440" marT="45720" marB="45720">
                    <a:lnL w="6350" cap="flat" cmpd="sng" algn="ctr">
                      <a:solidFill>
                        <a:srgbClr val="D5E2E1"/>
                      </a:solidFill>
                      <a:prstDash val="solid"/>
                      <a:round/>
                      <a:headEnd type="none" w="med" len="med"/>
                      <a:tailEnd type="none" w="med" len="med"/>
                    </a:lnL>
                    <a:lnR w="6350" cap="flat" cmpd="sng" algn="ctr">
                      <a:solidFill>
                        <a:srgbClr val="D5E2E1"/>
                      </a:solidFill>
                      <a:prstDash val="solid"/>
                      <a:round/>
                      <a:headEnd type="none" w="med" len="med"/>
                      <a:tailEnd type="none" w="med" len="med"/>
                    </a:lnR>
                    <a:lnT w="6350" cap="flat" cmpd="sng" algn="ctr">
                      <a:solidFill>
                        <a:srgbClr val="D5E2E1"/>
                      </a:solidFill>
                      <a:prstDash val="solid"/>
                      <a:round/>
                      <a:headEnd type="none" w="med" len="med"/>
                      <a:tailEnd type="none" w="med" len="med"/>
                    </a:lnT>
                    <a:lnB w="6350" cap="flat" cmpd="sng" algn="ctr">
                      <a:solidFill>
                        <a:srgbClr val="D5E2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2 · EXPERIMENTAL PROGRESS — DELIVERABLES</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Remaining work for Assignment 1 (SRS)</a:t>
            </a:r>
            <a:endParaRPr lang="en-US" sz="2800" dirty="0"/>
          </a:p>
        </p:txBody>
      </p:sp>
      <p:sp>
        <p:nvSpPr>
          <p:cNvPr id="43" name="Shape 41"/>
          <p:cNvSpPr/>
          <p:nvPr/>
        </p:nvSpPr>
        <p:spPr>
          <a:xfrm>
            <a:off x="457200" y="1143000"/>
            <a:ext cx="4023360" cy="731520"/>
          </a:xfrm>
          <a:prstGeom prst="roundRect">
            <a:avLst>
              <a:gd name="adj" fmla="val 10000"/>
            </a:avLst>
          </a:prstGeom>
          <a:solidFill>
            <a:srgbClr val="EAF2F2"/>
          </a:solidFill>
          <a:ln w="12700">
            <a:solidFill>
              <a:srgbClr val="EAF2F2"/>
            </a:solidFill>
            <a:prstDash val="solid"/>
          </a:ln>
        </p:spPr>
      </p:sp>
      <p:sp>
        <p:nvSpPr>
          <p:cNvPr id="44" name="Text 42"/>
          <p:cNvSpPr txBox="1"/>
          <p:nvPr/>
        </p:nvSpPr>
        <p:spPr>
          <a:xfrm>
            <a:off x="640080" y="114300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Alfonso</a:t>
            </a:r>
            <a:endParaRPr lang="en-US" sz="1400" dirty="0"/>
          </a:p>
          <a:p>
            <a:pPr indent="0" marL="0">
              <a:buNone/>
            </a:pPr>
            <a:r>
              <a:rPr lang="en-US" sz="1200" dirty="0">
                <a:solidFill>
                  <a:srgbClr val="1F2A30"/>
                </a:solidFill>
              </a:rPr>
              <a:t>UC1 Process Sale; SRS integration and editing</a:t>
            </a:r>
            <a:endParaRPr lang="en-US" sz="1400" dirty="0"/>
          </a:p>
        </p:txBody>
      </p:sp>
      <p:sp>
        <p:nvSpPr>
          <p:cNvPr id="45" name="Shape 43"/>
          <p:cNvSpPr/>
          <p:nvPr/>
        </p:nvSpPr>
        <p:spPr>
          <a:xfrm>
            <a:off x="4663440" y="1143000"/>
            <a:ext cx="4023360" cy="731520"/>
          </a:xfrm>
          <a:prstGeom prst="roundRect">
            <a:avLst>
              <a:gd name="adj" fmla="val 10000"/>
            </a:avLst>
          </a:prstGeom>
          <a:solidFill>
            <a:srgbClr val="EAF2F2"/>
          </a:solidFill>
          <a:ln w="12700">
            <a:solidFill>
              <a:srgbClr val="EAF2F2"/>
            </a:solidFill>
            <a:prstDash val="solid"/>
          </a:ln>
        </p:spPr>
      </p:sp>
      <p:sp>
        <p:nvSpPr>
          <p:cNvPr id="46" name="Text 44"/>
          <p:cNvSpPr txBox="1"/>
          <p:nvPr/>
        </p:nvSpPr>
        <p:spPr>
          <a:xfrm>
            <a:off x="4846320" y="114300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Borja</a:t>
            </a:r>
            <a:endParaRPr lang="en-US" sz="1400" dirty="0"/>
          </a:p>
          <a:p>
            <a:pPr indent="0" marL="0">
              <a:buNone/>
            </a:pPr>
            <a:r>
              <a:rPr lang="en-US" sz="1200" dirty="0">
                <a:solidFill>
                  <a:srgbClr val="1F2A30"/>
                </a:solidFill>
              </a:rPr>
              <a:t>Use-case model and UML diagrams</a:t>
            </a:r>
            <a:endParaRPr lang="en-US" sz="1400" dirty="0"/>
          </a:p>
        </p:txBody>
      </p:sp>
      <p:sp>
        <p:nvSpPr>
          <p:cNvPr id="47" name="Shape 45"/>
          <p:cNvSpPr/>
          <p:nvPr/>
        </p:nvSpPr>
        <p:spPr>
          <a:xfrm>
            <a:off x="457200" y="2011680"/>
            <a:ext cx="4023360" cy="731520"/>
          </a:xfrm>
          <a:prstGeom prst="roundRect">
            <a:avLst>
              <a:gd name="adj" fmla="val 10000"/>
            </a:avLst>
          </a:prstGeom>
          <a:solidFill>
            <a:srgbClr val="EAF2F2"/>
          </a:solidFill>
          <a:ln w="12700">
            <a:solidFill>
              <a:srgbClr val="EAF2F2"/>
            </a:solidFill>
            <a:prstDash val="solid"/>
          </a:ln>
        </p:spPr>
      </p:sp>
      <p:sp>
        <p:nvSpPr>
          <p:cNvPr id="48" name="Text 46"/>
          <p:cNvSpPr txBox="1"/>
          <p:nvPr/>
        </p:nvSpPr>
        <p:spPr>
          <a:xfrm>
            <a:off x="640080" y="201168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Josué</a:t>
            </a:r>
            <a:endParaRPr lang="en-US" sz="1400" dirty="0"/>
          </a:p>
          <a:p>
            <a:pPr indent="0" marL="0">
              <a:buNone/>
            </a:pPr>
            <a:r>
              <a:rPr lang="en-US" sz="1200" dirty="0">
                <a:solidFill>
                  <a:srgbClr val="1F2A30"/>
                </a:solidFill>
              </a:rPr>
              <a:t>Quality attributes, security &amp; privacy, traceability</a:t>
            </a:r>
            <a:endParaRPr lang="en-US" sz="1400" dirty="0"/>
          </a:p>
        </p:txBody>
      </p:sp>
      <p:sp>
        <p:nvSpPr>
          <p:cNvPr id="49" name="Shape 47"/>
          <p:cNvSpPr/>
          <p:nvPr/>
        </p:nvSpPr>
        <p:spPr>
          <a:xfrm>
            <a:off x="4663440" y="2011680"/>
            <a:ext cx="4023360" cy="731520"/>
          </a:xfrm>
          <a:prstGeom prst="roundRect">
            <a:avLst>
              <a:gd name="adj" fmla="val 10000"/>
            </a:avLst>
          </a:prstGeom>
          <a:solidFill>
            <a:srgbClr val="EAF2F2"/>
          </a:solidFill>
          <a:ln w="12700">
            <a:solidFill>
              <a:srgbClr val="EAF2F2"/>
            </a:solidFill>
            <a:prstDash val="solid"/>
          </a:ln>
        </p:spPr>
      </p:sp>
      <p:sp>
        <p:nvSpPr>
          <p:cNvPr id="50" name="Text 48"/>
          <p:cNvSpPr txBox="1"/>
          <p:nvPr/>
        </p:nvSpPr>
        <p:spPr>
          <a:xfrm>
            <a:off x="4846320" y="201168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Yasmine</a:t>
            </a:r>
            <a:endParaRPr lang="en-US" sz="1400" dirty="0"/>
          </a:p>
          <a:p>
            <a:pPr indent="0" marL="0">
              <a:buNone/>
            </a:pPr>
            <a:r>
              <a:rPr lang="en-US" sz="1200" dirty="0">
                <a:solidFill>
                  <a:srgbClr val="1F2A30"/>
                </a:solidFill>
              </a:rPr>
              <a:t>UC2 Handle Returns; cashier UI prototype</a:t>
            </a:r>
            <a:endParaRPr lang="en-US" sz="1400" dirty="0"/>
          </a:p>
        </p:txBody>
      </p:sp>
      <p:sp>
        <p:nvSpPr>
          <p:cNvPr id="51" name="Shape 49"/>
          <p:cNvSpPr/>
          <p:nvPr/>
        </p:nvSpPr>
        <p:spPr>
          <a:xfrm>
            <a:off x="457200" y="2880360"/>
            <a:ext cx="4023360" cy="731520"/>
          </a:xfrm>
          <a:prstGeom prst="roundRect">
            <a:avLst>
              <a:gd name="adj" fmla="val 10000"/>
            </a:avLst>
          </a:prstGeom>
          <a:solidFill>
            <a:srgbClr val="EAF2F2"/>
          </a:solidFill>
          <a:ln w="12700">
            <a:solidFill>
              <a:srgbClr val="EAF2F2"/>
            </a:solidFill>
            <a:prstDash val="solid"/>
          </a:ln>
        </p:spPr>
      </p:sp>
      <p:sp>
        <p:nvSpPr>
          <p:cNvPr id="52" name="Text 50"/>
          <p:cNvSpPr txBox="1"/>
          <p:nvPr/>
        </p:nvSpPr>
        <p:spPr>
          <a:xfrm>
            <a:off x="640080" y="288036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Haifa</a:t>
            </a:r>
            <a:endParaRPr lang="en-US" sz="1400" dirty="0"/>
          </a:p>
          <a:p>
            <a:pPr indent="0" marL="0">
              <a:buNone/>
            </a:pPr>
            <a:r>
              <a:rPr lang="en-US" sz="1200" dirty="0">
                <a:solidFill>
                  <a:srgbClr val="1F2A30"/>
                </a:solidFill>
              </a:rPr>
              <a:t>External interface requirements (4 systems)</a:t>
            </a:r>
            <a:endParaRPr lang="en-US" sz="1400" dirty="0"/>
          </a:p>
        </p:txBody>
      </p:sp>
      <p:sp>
        <p:nvSpPr>
          <p:cNvPr id="53" name="Shape 51"/>
          <p:cNvSpPr/>
          <p:nvPr/>
        </p:nvSpPr>
        <p:spPr>
          <a:xfrm>
            <a:off x="4663440" y="2880360"/>
            <a:ext cx="4023360" cy="731520"/>
          </a:xfrm>
          <a:prstGeom prst="roundRect">
            <a:avLst>
              <a:gd name="adj" fmla="val 10000"/>
            </a:avLst>
          </a:prstGeom>
          <a:solidFill>
            <a:srgbClr val="EAF2F2"/>
          </a:solidFill>
          <a:ln w="12700">
            <a:solidFill>
              <a:srgbClr val="EAF2F2"/>
            </a:solidFill>
            <a:prstDash val="solid"/>
          </a:ln>
        </p:spPr>
      </p:sp>
      <p:sp>
        <p:nvSpPr>
          <p:cNvPr id="54" name="Text 52"/>
          <p:cNvSpPr txBox="1"/>
          <p:nvPr/>
        </p:nvSpPr>
        <p:spPr>
          <a:xfrm>
            <a:off x="4846320" y="2880360"/>
            <a:ext cx="3657600" cy="731520"/>
          </a:xfrm>
          <a:prstGeom prst="rect">
            <a:avLst/>
          </a:prstGeom>
          <a:noFill/>
          <a:ln/>
        </p:spPr>
        <p:txBody>
          <a:bodyPr wrap="square" lIns="0" tIns="0" rIns="0" bIns="0" rtlCol="0" anchor="ctr"/>
          <a:lstStyle/>
          <a:p>
            <a:pPr indent="0" marL="0">
              <a:buNone/>
            </a:pPr>
            <a:r>
              <a:rPr lang="en-US" sz="1400" b="1" dirty="0">
                <a:solidFill>
                  <a:srgbClr val="0E4D5C"/>
                </a:solidFill>
              </a:rPr>
              <a:t>Avni</a:t>
            </a:r>
            <a:endParaRPr lang="en-US" sz="1400" dirty="0"/>
          </a:p>
          <a:p>
            <a:pPr indent="0" marL="0">
              <a:buNone/>
            </a:pPr>
            <a:r>
              <a:rPr lang="en-US" sz="1200" dirty="0">
                <a:solidFill>
                  <a:srgbClr val="1F2A30"/>
                </a:solidFill>
              </a:rPr>
              <a:t>UC3 Process Rental, UC4 Start Up; glossary</a:t>
            </a:r>
            <a:endParaRPr lang="en-US" sz="1400" dirty="0"/>
          </a:p>
        </p:txBody>
      </p:sp>
      <p:sp>
        <p:nvSpPr>
          <p:cNvPr id="55" name="Text 53"/>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300" b="1" dirty="0">
                <a:solidFill>
                  <a:srgbClr val="0E4D5C"/>
                </a:solidFill>
              </a:rPr>
              <a:t>Plan: </a:t>
            </a:r>
            <a:pPr indent="0" marL="0">
              <a:buNone/>
            </a:pPr>
            <a:r>
              <a:rPr lang="en-US" sz="1300" dirty="0">
                <a:solidFill>
                  <a:srgbClr val="1F2A30"/>
                </a:solidFill>
              </a:rPr>
              <a:t>section drafts → cross-review via GitHub Issues → SRS v1.0 delivered in week 7</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3 · PROJECT PROGRESS — TEAM COLLABORATION AND MANAGEMENT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Roles and responsibilities</a:t>
            </a:r>
            <a:endParaRPr lang="en-US" sz="2800" dirty="0"/>
          </a:p>
        </p:txBody>
      </p:sp>
      <p:sp>
        <p:nvSpPr>
          <p:cNvPr id="43" name="Shape 41"/>
          <p:cNvSpPr/>
          <p:nvPr/>
        </p:nvSpPr>
        <p:spPr>
          <a:xfrm>
            <a:off x="457200" y="1188720"/>
            <a:ext cx="2651760" cy="1280160"/>
          </a:xfrm>
          <a:prstGeom prst="roundRect">
            <a:avLst>
              <a:gd name="adj" fmla="val 5714"/>
            </a:avLst>
          </a:prstGeom>
          <a:solidFill>
            <a:srgbClr val="EAF2F2"/>
          </a:solidFill>
          <a:ln w="12700">
            <a:solidFill>
              <a:srgbClr val="EAF2F2"/>
            </a:solidFill>
            <a:prstDash val="solid"/>
          </a:ln>
        </p:spPr>
      </p:sp>
      <p:sp>
        <p:nvSpPr>
          <p:cNvPr id="44" name="Shape 42"/>
          <p:cNvSpPr/>
          <p:nvPr/>
        </p:nvSpPr>
        <p:spPr>
          <a:xfrm>
            <a:off x="640080" y="1371600"/>
            <a:ext cx="457200" cy="457200"/>
          </a:xfrm>
          <a:prstGeom prst="ellipse">
            <a:avLst/>
          </a:prstGeom>
          <a:solidFill>
            <a:srgbClr val="1B7F79"/>
          </a:solidFill>
          <a:ln w="12700">
            <a:solidFill>
              <a:srgbClr val="1B7F79"/>
            </a:solidFill>
            <a:prstDash val="solid"/>
          </a:ln>
        </p:spPr>
      </p:sp>
      <p:sp>
        <p:nvSpPr>
          <p:cNvPr id="45" name="Text 43"/>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AP</a:t>
            </a:r>
            <a:endParaRPr lang="en-US" sz="1200" dirty="0"/>
          </a:p>
        </p:txBody>
      </p:sp>
      <p:sp>
        <p:nvSpPr>
          <p:cNvPr id="46" name="Text 44"/>
          <p:cNvSpPr txBox="1"/>
          <p:nvPr/>
        </p:nvSpPr>
        <p:spPr>
          <a:xfrm>
            <a:off x="640080" y="187452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Alfonso Pinto</a:t>
            </a:r>
            <a:endParaRPr lang="en-US" sz="1400" dirty="0"/>
          </a:p>
          <a:p>
            <a:pPr indent="0" marL="0">
              <a:buNone/>
            </a:pPr>
            <a:r>
              <a:rPr lang="en-US" sz="1200" dirty="0">
                <a:solidFill>
                  <a:srgbClr val="1F2A30"/>
                </a:solidFill>
              </a:rPr>
              <a:t>Project lead · Requirements engineer</a:t>
            </a:r>
            <a:endParaRPr lang="en-US" sz="1400" dirty="0"/>
          </a:p>
        </p:txBody>
      </p:sp>
      <p:sp>
        <p:nvSpPr>
          <p:cNvPr id="47" name="Shape 45"/>
          <p:cNvSpPr/>
          <p:nvPr/>
        </p:nvSpPr>
        <p:spPr>
          <a:xfrm>
            <a:off x="3264408" y="1188720"/>
            <a:ext cx="2651760" cy="1280160"/>
          </a:xfrm>
          <a:prstGeom prst="roundRect">
            <a:avLst>
              <a:gd name="adj" fmla="val 5714"/>
            </a:avLst>
          </a:prstGeom>
          <a:solidFill>
            <a:srgbClr val="EAF2F2"/>
          </a:solidFill>
          <a:ln w="12700">
            <a:solidFill>
              <a:srgbClr val="EAF2F2"/>
            </a:solidFill>
            <a:prstDash val="solid"/>
          </a:ln>
        </p:spPr>
      </p:sp>
      <p:sp>
        <p:nvSpPr>
          <p:cNvPr id="48" name="Shape 46"/>
          <p:cNvSpPr/>
          <p:nvPr/>
        </p:nvSpPr>
        <p:spPr>
          <a:xfrm>
            <a:off x="3447288" y="1371600"/>
            <a:ext cx="457200" cy="457200"/>
          </a:xfrm>
          <a:prstGeom prst="ellipse">
            <a:avLst/>
          </a:prstGeom>
          <a:solidFill>
            <a:srgbClr val="1B7F79"/>
          </a:solidFill>
          <a:ln w="12700">
            <a:solidFill>
              <a:srgbClr val="1B7F79"/>
            </a:solidFill>
            <a:prstDash val="solid"/>
          </a:ln>
        </p:spPr>
      </p:sp>
      <p:sp>
        <p:nvSpPr>
          <p:cNvPr id="49" name="Text 47"/>
          <p:cNvSpPr txBox="1"/>
          <p:nvPr/>
        </p:nvSpPr>
        <p:spPr>
          <a:xfrm>
            <a:off x="3447288" y="1371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BN</a:t>
            </a:r>
            <a:endParaRPr lang="en-US" sz="1200" dirty="0"/>
          </a:p>
        </p:txBody>
      </p:sp>
      <p:sp>
        <p:nvSpPr>
          <p:cNvPr id="50" name="Text 48"/>
          <p:cNvSpPr txBox="1"/>
          <p:nvPr/>
        </p:nvSpPr>
        <p:spPr>
          <a:xfrm>
            <a:off x="3447288" y="187452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Borja Nicolás</a:t>
            </a:r>
            <a:endParaRPr lang="en-US" sz="1400" dirty="0"/>
          </a:p>
          <a:p>
            <a:pPr indent="0" marL="0">
              <a:buNone/>
            </a:pPr>
            <a:r>
              <a:rPr lang="en-US" sz="1200" dirty="0">
                <a:solidFill>
                  <a:srgbClr val="1F2A30"/>
                </a:solidFill>
              </a:rPr>
              <a:t>UML modeler · Documentation</a:t>
            </a:r>
            <a:endParaRPr lang="en-US" sz="1400" dirty="0"/>
          </a:p>
        </p:txBody>
      </p:sp>
      <p:sp>
        <p:nvSpPr>
          <p:cNvPr id="51" name="Shape 49"/>
          <p:cNvSpPr/>
          <p:nvPr/>
        </p:nvSpPr>
        <p:spPr>
          <a:xfrm>
            <a:off x="6071616" y="1188720"/>
            <a:ext cx="2651760" cy="1280160"/>
          </a:xfrm>
          <a:prstGeom prst="roundRect">
            <a:avLst>
              <a:gd name="adj" fmla="val 5714"/>
            </a:avLst>
          </a:prstGeom>
          <a:solidFill>
            <a:srgbClr val="EAF2F2"/>
          </a:solidFill>
          <a:ln w="12700">
            <a:solidFill>
              <a:srgbClr val="EAF2F2"/>
            </a:solidFill>
            <a:prstDash val="solid"/>
          </a:ln>
        </p:spPr>
      </p:sp>
      <p:sp>
        <p:nvSpPr>
          <p:cNvPr id="52" name="Shape 50"/>
          <p:cNvSpPr/>
          <p:nvPr/>
        </p:nvSpPr>
        <p:spPr>
          <a:xfrm>
            <a:off x="6254496" y="1371600"/>
            <a:ext cx="457200" cy="457200"/>
          </a:xfrm>
          <a:prstGeom prst="ellipse">
            <a:avLst/>
          </a:prstGeom>
          <a:solidFill>
            <a:srgbClr val="1B7F79"/>
          </a:solidFill>
          <a:ln w="12700">
            <a:solidFill>
              <a:srgbClr val="1B7F79"/>
            </a:solidFill>
            <a:prstDash val="solid"/>
          </a:ln>
        </p:spPr>
      </p:sp>
      <p:sp>
        <p:nvSpPr>
          <p:cNvPr id="53" name="Text 51"/>
          <p:cNvSpPr txBox="1"/>
          <p:nvPr/>
        </p:nvSpPr>
        <p:spPr>
          <a:xfrm>
            <a:off x="6254496" y="1371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JR</a:t>
            </a:r>
            <a:endParaRPr lang="en-US" sz="1200" dirty="0"/>
          </a:p>
        </p:txBody>
      </p:sp>
      <p:sp>
        <p:nvSpPr>
          <p:cNvPr id="54" name="Text 52"/>
          <p:cNvSpPr txBox="1"/>
          <p:nvPr/>
        </p:nvSpPr>
        <p:spPr>
          <a:xfrm>
            <a:off x="6254496" y="187452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Josué Rodríguez</a:t>
            </a:r>
            <a:endParaRPr lang="en-US" sz="1400" dirty="0"/>
          </a:p>
          <a:p>
            <a:pPr indent="0" marL="0">
              <a:buNone/>
            </a:pPr>
            <a:r>
              <a:rPr lang="en-US" sz="1200" dirty="0">
                <a:solidFill>
                  <a:srgbClr val="1F2A30"/>
                </a:solidFill>
              </a:rPr>
              <a:t>Quality, security &amp; traceability</a:t>
            </a:r>
            <a:endParaRPr lang="en-US" sz="1400" dirty="0"/>
          </a:p>
        </p:txBody>
      </p:sp>
      <p:sp>
        <p:nvSpPr>
          <p:cNvPr id="55" name="Shape 53"/>
          <p:cNvSpPr/>
          <p:nvPr/>
        </p:nvSpPr>
        <p:spPr>
          <a:xfrm>
            <a:off x="457200" y="2651760"/>
            <a:ext cx="2651760" cy="1280160"/>
          </a:xfrm>
          <a:prstGeom prst="roundRect">
            <a:avLst>
              <a:gd name="adj" fmla="val 5714"/>
            </a:avLst>
          </a:prstGeom>
          <a:solidFill>
            <a:srgbClr val="EAF2F2"/>
          </a:solidFill>
          <a:ln w="12700">
            <a:solidFill>
              <a:srgbClr val="EAF2F2"/>
            </a:solidFill>
            <a:prstDash val="solid"/>
          </a:ln>
        </p:spPr>
      </p:sp>
      <p:sp>
        <p:nvSpPr>
          <p:cNvPr id="56" name="Shape 54"/>
          <p:cNvSpPr/>
          <p:nvPr/>
        </p:nvSpPr>
        <p:spPr>
          <a:xfrm>
            <a:off x="640080" y="2834640"/>
            <a:ext cx="457200" cy="457200"/>
          </a:xfrm>
          <a:prstGeom prst="ellipse">
            <a:avLst/>
          </a:prstGeom>
          <a:solidFill>
            <a:srgbClr val="1B7F79"/>
          </a:solidFill>
          <a:ln w="12700">
            <a:solidFill>
              <a:srgbClr val="1B7F79"/>
            </a:solidFill>
            <a:prstDash val="solid"/>
          </a:ln>
        </p:spPr>
      </p:sp>
      <p:sp>
        <p:nvSpPr>
          <p:cNvPr id="57" name="Text 55"/>
          <p:cNvSpPr txBox="1"/>
          <p:nvPr/>
        </p:nvSpPr>
        <p:spPr>
          <a:xfrm>
            <a:off x="640080" y="2834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YC</a:t>
            </a:r>
            <a:endParaRPr lang="en-US" sz="1200" dirty="0"/>
          </a:p>
        </p:txBody>
      </p:sp>
      <p:sp>
        <p:nvSpPr>
          <p:cNvPr id="58" name="Text 56"/>
          <p:cNvSpPr txBox="1"/>
          <p:nvPr/>
        </p:nvSpPr>
        <p:spPr>
          <a:xfrm>
            <a:off x="640080" y="333756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Yasmine Chkoundali</a:t>
            </a:r>
            <a:endParaRPr lang="en-US" sz="1400" dirty="0"/>
          </a:p>
          <a:p>
            <a:pPr indent="0" marL="0">
              <a:buNone/>
            </a:pPr>
            <a:r>
              <a:rPr lang="en-US" sz="1200" dirty="0">
                <a:solidFill>
                  <a:srgbClr val="1F2A30"/>
                </a:solidFill>
              </a:rPr>
              <a:t>UI/UX designer</a:t>
            </a:r>
            <a:endParaRPr lang="en-US" sz="1400" dirty="0"/>
          </a:p>
        </p:txBody>
      </p:sp>
      <p:sp>
        <p:nvSpPr>
          <p:cNvPr id="59" name="Shape 57"/>
          <p:cNvSpPr/>
          <p:nvPr/>
        </p:nvSpPr>
        <p:spPr>
          <a:xfrm>
            <a:off x="3264408" y="2651760"/>
            <a:ext cx="2651760" cy="1280160"/>
          </a:xfrm>
          <a:prstGeom prst="roundRect">
            <a:avLst>
              <a:gd name="adj" fmla="val 5714"/>
            </a:avLst>
          </a:prstGeom>
          <a:solidFill>
            <a:srgbClr val="EAF2F2"/>
          </a:solidFill>
          <a:ln w="12700">
            <a:solidFill>
              <a:srgbClr val="EAF2F2"/>
            </a:solidFill>
            <a:prstDash val="solid"/>
          </a:ln>
        </p:spPr>
      </p:sp>
      <p:sp>
        <p:nvSpPr>
          <p:cNvPr id="60" name="Shape 58"/>
          <p:cNvSpPr/>
          <p:nvPr/>
        </p:nvSpPr>
        <p:spPr>
          <a:xfrm>
            <a:off x="3447288" y="2834640"/>
            <a:ext cx="457200" cy="457200"/>
          </a:xfrm>
          <a:prstGeom prst="ellipse">
            <a:avLst/>
          </a:prstGeom>
          <a:solidFill>
            <a:srgbClr val="1B7F79"/>
          </a:solidFill>
          <a:ln w="12700">
            <a:solidFill>
              <a:srgbClr val="1B7F79"/>
            </a:solidFill>
            <a:prstDash val="solid"/>
          </a:ln>
        </p:spPr>
      </p:sp>
      <p:sp>
        <p:nvSpPr>
          <p:cNvPr id="61" name="Text 59"/>
          <p:cNvSpPr txBox="1"/>
          <p:nvPr/>
        </p:nvSpPr>
        <p:spPr>
          <a:xfrm>
            <a:off x="3447288" y="2834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HC</a:t>
            </a:r>
            <a:endParaRPr lang="en-US" sz="1200" dirty="0"/>
          </a:p>
        </p:txBody>
      </p:sp>
      <p:sp>
        <p:nvSpPr>
          <p:cNvPr id="62" name="Text 60"/>
          <p:cNvSpPr txBox="1"/>
          <p:nvPr/>
        </p:nvSpPr>
        <p:spPr>
          <a:xfrm>
            <a:off x="3447288" y="333756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Haifa Chkoundali</a:t>
            </a:r>
            <a:endParaRPr lang="en-US" sz="1400" dirty="0"/>
          </a:p>
          <a:p>
            <a:pPr indent="0" marL="0">
              <a:buNone/>
            </a:pPr>
            <a:r>
              <a:rPr lang="en-US" sz="1200" dirty="0">
                <a:solidFill>
                  <a:srgbClr val="1F2A30"/>
                </a:solidFill>
              </a:rPr>
              <a:t>Integration &amp; full-stack developer</a:t>
            </a:r>
            <a:endParaRPr lang="en-US" sz="1400" dirty="0"/>
          </a:p>
        </p:txBody>
      </p:sp>
      <p:sp>
        <p:nvSpPr>
          <p:cNvPr id="63" name="Shape 61"/>
          <p:cNvSpPr/>
          <p:nvPr/>
        </p:nvSpPr>
        <p:spPr>
          <a:xfrm>
            <a:off x="6071616" y="2651760"/>
            <a:ext cx="2651760" cy="1280160"/>
          </a:xfrm>
          <a:prstGeom prst="roundRect">
            <a:avLst>
              <a:gd name="adj" fmla="val 5714"/>
            </a:avLst>
          </a:prstGeom>
          <a:solidFill>
            <a:srgbClr val="EAF2F2"/>
          </a:solidFill>
          <a:ln w="12700">
            <a:solidFill>
              <a:srgbClr val="EAF2F2"/>
            </a:solidFill>
            <a:prstDash val="solid"/>
          </a:ln>
        </p:spPr>
      </p:sp>
      <p:sp>
        <p:nvSpPr>
          <p:cNvPr id="64" name="Shape 62"/>
          <p:cNvSpPr/>
          <p:nvPr/>
        </p:nvSpPr>
        <p:spPr>
          <a:xfrm>
            <a:off x="6254496" y="2834640"/>
            <a:ext cx="457200" cy="457200"/>
          </a:xfrm>
          <a:prstGeom prst="ellipse">
            <a:avLst/>
          </a:prstGeom>
          <a:solidFill>
            <a:srgbClr val="1B7F79"/>
          </a:solidFill>
          <a:ln w="12700">
            <a:solidFill>
              <a:srgbClr val="1B7F79"/>
            </a:solidFill>
            <a:prstDash val="solid"/>
          </a:ln>
        </p:spPr>
      </p:sp>
      <p:sp>
        <p:nvSpPr>
          <p:cNvPr id="65" name="Text 63"/>
          <p:cNvSpPr txBox="1"/>
          <p:nvPr/>
        </p:nvSpPr>
        <p:spPr>
          <a:xfrm>
            <a:off x="6254496" y="2834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AO</a:t>
            </a:r>
            <a:endParaRPr lang="en-US" sz="1200" dirty="0"/>
          </a:p>
        </p:txBody>
      </p:sp>
      <p:sp>
        <p:nvSpPr>
          <p:cNvPr id="66" name="Text 64"/>
          <p:cNvSpPr txBox="1"/>
          <p:nvPr/>
        </p:nvSpPr>
        <p:spPr>
          <a:xfrm>
            <a:off x="6254496" y="3337560"/>
            <a:ext cx="2377440" cy="548640"/>
          </a:xfrm>
          <a:prstGeom prst="rect">
            <a:avLst/>
          </a:prstGeom>
          <a:noFill/>
          <a:ln/>
        </p:spPr>
        <p:txBody>
          <a:bodyPr wrap="square" lIns="0" tIns="0" rIns="0" bIns="0" rtlCol="0" anchor="t"/>
          <a:lstStyle/>
          <a:p>
            <a:pPr indent="0" marL="0">
              <a:buNone/>
            </a:pPr>
            <a:r>
              <a:rPr lang="en-US" sz="1400" b="1" dirty="0">
                <a:solidFill>
                  <a:srgbClr val="0E4D5C"/>
                </a:solidFill>
              </a:rPr>
              <a:t>Avni Oflaz</a:t>
            </a:r>
            <a:endParaRPr lang="en-US" sz="1400" dirty="0"/>
          </a:p>
          <a:p>
            <a:pPr indent="0" marL="0">
              <a:buNone/>
            </a:pPr>
            <a:r>
              <a:rPr lang="en-US" sz="1200" dirty="0">
                <a:solidFill>
                  <a:srgbClr val="1F2A30"/>
                </a:solidFill>
              </a:rPr>
              <a:t>Developer · Testing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74320" y="4681728"/>
            <a:ext cx="1005840" cy="182880"/>
          </a:xfrm>
          <a:prstGeom prst="rect">
            <a:avLst/>
          </a:prstGeom>
          <a:noFill/>
          <a:ln/>
        </p:spPr>
        <p:txBody>
          <a:bodyPr wrap="square" lIns="0" tIns="0" rIns="0" bIns="0" rtlCol="0" anchor="ctr"/>
          <a:lstStyle/>
          <a:p>
            <a:pPr indent="0" marL="0">
              <a:buNone/>
            </a:pPr>
            <a:r>
              <a:rPr lang="en-US" sz="800" b="1" dirty="0">
                <a:solidFill>
                  <a:srgbClr val="5F6B70"/>
                </a:solidFill>
              </a:rPr>
              <a:t>Course timeline</a:t>
            </a:r>
            <a:endParaRPr lang="en-US" sz="800" dirty="0"/>
          </a:p>
        </p:txBody>
      </p:sp>
      <p:sp>
        <p:nvSpPr>
          <p:cNvPr id="3" name="Shape 1"/>
          <p:cNvSpPr/>
          <p:nvPr/>
        </p:nvSpPr>
        <p:spPr>
          <a:xfrm>
            <a:off x="1325880" y="4773168"/>
            <a:ext cx="6537960" cy="0"/>
          </a:xfrm>
          <a:prstGeom prst="line">
            <a:avLst/>
          </a:prstGeom>
          <a:noFill/>
          <a:ln w="19050">
            <a:solidFill>
              <a:srgbClr val="C9D9D8"/>
            </a:solidFill>
            <a:prstDash val="solid"/>
          </a:ln>
        </p:spPr>
      </p:sp>
      <p:sp>
        <p:nvSpPr>
          <p:cNvPr id="4" name="Shape 2"/>
          <p:cNvSpPr/>
          <p:nvPr/>
        </p:nvSpPr>
        <p:spPr>
          <a:xfrm>
            <a:off x="1325880" y="4773168"/>
            <a:ext cx="1743456" cy="0"/>
          </a:xfrm>
          <a:prstGeom prst="line">
            <a:avLst/>
          </a:prstGeom>
          <a:noFill/>
          <a:ln w="31750">
            <a:solidFill>
              <a:srgbClr val="1B7F79"/>
            </a:solidFill>
            <a:prstDash val="solid"/>
          </a:ln>
        </p:spPr>
      </p:sp>
      <p:sp>
        <p:nvSpPr>
          <p:cNvPr id="5" name="Shape 3"/>
          <p:cNvSpPr/>
          <p:nvPr/>
        </p:nvSpPr>
        <p:spPr>
          <a:xfrm>
            <a:off x="1293876" y="4741164"/>
            <a:ext cx="64008" cy="64008"/>
          </a:xfrm>
          <a:prstGeom prst="ellipse">
            <a:avLst/>
          </a:prstGeom>
          <a:solidFill>
            <a:srgbClr val="1B7F79"/>
          </a:solidFill>
          <a:ln w="12700">
            <a:solidFill>
              <a:srgbClr val="1B7F79"/>
            </a:solidFill>
            <a:prstDash val="solid"/>
          </a:ln>
        </p:spPr>
      </p:sp>
      <p:sp>
        <p:nvSpPr>
          <p:cNvPr id="6" name="Text 4"/>
          <p:cNvSpPr txBox="1"/>
          <p:nvPr/>
        </p:nvSpPr>
        <p:spPr>
          <a:xfrm>
            <a:off x="105156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a:t>
            </a:r>
            <a:endParaRPr lang="en-US" sz="700" dirty="0"/>
          </a:p>
        </p:txBody>
      </p:sp>
      <p:sp>
        <p:nvSpPr>
          <p:cNvPr id="7" name="Shape 5"/>
          <p:cNvSpPr/>
          <p:nvPr/>
        </p:nvSpPr>
        <p:spPr>
          <a:xfrm>
            <a:off x="1729740" y="4741164"/>
            <a:ext cx="64008" cy="64008"/>
          </a:xfrm>
          <a:prstGeom prst="ellipse">
            <a:avLst/>
          </a:prstGeom>
          <a:solidFill>
            <a:srgbClr val="1B7F79"/>
          </a:solidFill>
          <a:ln w="12700">
            <a:solidFill>
              <a:srgbClr val="1B7F79"/>
            </a:solidFill>
            <a:prstDash val="solid"/>
          </a:ln>
        </p:spPr>
      </p:sp>
      <p:sp>
        <p:nvSpPr>
          <p:cNvPr id="8" name="Text 6"/>
          <p:cNvSpPr txBox="1"/>
          <p:nvPr/>
        </p:nvSpPr>
        <p:spPr>
          <a:xfrm>
            <a:off x="148742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W2</a:t>
            </a:r>
            <a:endParaRPr lang="en-US" sz="700" dirty="0"/>
          </a:p>
        </p:txBody>
      </p:sp>
      <p:sp>
        <p:nvSpPr>
          <p:cNvPr id="9" name="Shape 7"/>
          <p:cNvSpPr/>
          <p:nvPr/>
        </p:nvSpPr>
        <p:spPr>
          <a:xfrm>
            <a:off x="2165604" y="4741164"/>
            <a:ext cx="64008" cy="64008"/>
          </a:xfrm>
          <a:prstGeom prst="ellipse">
            <a:avLst/>
          </a:prstGeom>
          <a:solidFill>
            <a:srgbClr val="1B7F79"/>
          </a:solidFill>
          <a:ln w="12700">
            <a:solidFill>
              <a:srgbClr val="1B7F79"/>
            </a:solidFill>
            <a:prstDash val="solid"/>
          </a:ln>
        </p:spPr>
      </p:sp>
      <p:sp>
        <p:nvSpPr>
          <p:cNvPr id="10" name="Text 8"/>
          <p:cNvSpPr txBox="1"/>
          <p:nvPr/>
        </p:nvSpPr>
        <p:spPr>
          <a:xfrm>
            <a:off x="192328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W3</a:t>
            </a:r>
            <a:endParaRPr lang="en-US" sz="700" dirty="0"/>
          </a:p>
        </p:txBody>
      </p:sp>
      <p:sp>
        <p:nvSpPr>
          <p:cNvPr id="11" name="Shape 9"/>
          <p:cNvSpPr/>
          <p:nvPr/>
        </p:nvSpPr>
        <p:spPr>
          <a:xfrm>
            <a:off x="2578608" y="4718304"/>
            <a:ext cx="109728" cy="109728"/>
          </a:xfrm>
          <a:prstGeom prst="ellipse">
            <a:avLst/>
          </a:prstGeom>
          <a:solidFill>
            <a:srgbClr val="1B7F79"/>
          </a:solidFill>
          <a:ln w="12700">
            <a:solidFill>
              <a:srgbClr val="1B7F79"/>
            </a:solidFill>
            <a:prstDash val="solid"/>
          </a:ln>
        </p:spPr>
      </p:sp>
      <p:sp>
        <p:nvSpPr>
          <p:cNvPr id="12" name="Text 10"/>
          <p:cNvSpPr txBox="1"/>
          <p:nvPr/>
        </p:nvSpPr>
        <p:spPr>
          <a:xfrm>
            <a:off x="235915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W4</a:t>
            </a:r>
            <a:endParaRPr lang="en-US" sz="700" dirty="0"/>
          </a:p>
        </p:txBody>
      </p:sp>
      <p:sp>
        <p:nvSpPr>
          <p:cNvPr id="13" name="Text 11"/>
          <p:cNvSpPr txBox="1"/>
          <p:nvPr/>
        </p:nvSpPr>
        <p:spPr>
          <a:xfrm>
            <a:off x="2084832"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Process models</a:t>
            </a:r>
            <a:endParaRPr lang="en-US" sz="700" dirty="0"/>
          </a:p>
        </p:txBody>
      </p:sp>
      <p:sp>
        <p:nvSpPr>
          <p:cNvPr id="14" name="Shape 12"/>
          <p:cNvSpPr/>
          <p:nvPr/>
        </p:nvSpPr>
        <p:spPr>
          <a:xfrm>
            <a:off x="2991612" y="4695444"/>
            <a:ext cx="155448" cy="155448"/>
          </a:xfrm>
          <a:prstGeom prst="ellipse">
            <a:avLst/>
          </a:prstGeom>
          <a:solidFill>
            <a:srgbClr val="E09F3E"/>
          </a:solidFill>
          <a:ln w="12700">
            <a:solidFill>
              <a:srgbClr val="E09F3E"/>
            </a:solidFill>
            <a:prstDash val="solid"/>
          </a:ln>
        </p:spPr>
      </p:sp>
      <p:sp>
        <p:nvSpPr>
          <p:cNvPr id="15" name="Text 13"/>
          <p:cNvSpPr txBox="1"/>
          <p:nvPr/>
        </p:nvSpPr>
        <p:spPr>
          <a:xfrm>
            <a:off x="2795016" y="4855464"/>
            <a:ext cx="548640" cy="146304"/>
          </a:xfrm>
          <a:prstGeom prst="rect">
            <a:avLst/>
          </a:prstGeom>
          <a:noFill/>
          <a:ln/>
        </p:spPr>
        <p:txBody>
          <a:bodyPr wrap="square" lIns="0" tIns="0" rIns="0" bIns="0" rtlCol="0" anchor="ctr"/>
          <a:lstStyle/>
          <a:p>
            <a:pPr algn="ctr" indent="0" marL="0">
              <a:buNone/>
            </a:pPr>
            <a:r>
              <a:rPr lang="en-US" sz="700" b="1" dirty="0">
                <a:solidFill>
                  <a:srgbClr val="E09F3E"/>
                </a:solidFill>
              </a:rPr>
              <a:t>W5 · now</a:t>
            </a:r>
            <a:endParaRPr lang="en-US" sz="700" dirty="0"/>
          </a:p>
        </p:txBody>
      </p:sp>
      <p:sp>
        <p:nvSpPr>
          <p:cNvPr id="16" name="Shape 14"/>
          <p:cNvSpPr/>
          <p:nvPr/>
        </p:nvSpPr>
        <p:spPr>
          <a:xfrm>
            <a:off x="3473196" y="4741164"/>
            <a:ext cx="64008" cy="64008"/>
          </a:xfrm>
          <a:prstGeom prst="ellipse">
            <a:avLst/>
          </a:prstGeom>
          <a:solidFill>
            <a:srgbClr val="C9D9D8"/>
          </a:solidFill>
          <a:ln w="12700">
            <a:solidFill>
              <a:srgbClr val="C9D9D8"/>
            </a:solidFill>
            <a:prstDash val="solid"/>
          </a:ln>
        </p:spPr>
      </p:sp>
      <p:sp>
        <p:nvSpPr>
          <p:cNvPr id="17" name="Text 15"/>
          <p:cNvSpPr txBox="1"/>
          <p:nvPr/>
        </p:nvSpPr>
        <p:spPr>
          <a:xfrm>
            <a:off x="323088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W6</a:t>
            </a:r>
            <a:endParaRPr lang="en-US" sz="700" dirty="0"/>
          </a:p>
        </p:txBody>
      </p:sp>
      <p:sp>
        <p:nvSpPr>
          <p:cNvPr id="18" name="Shape 16"/>
          <p:cNvSpPr/>
          <p:nvPr/>
        </p:nvSpPr>
        <p:spPr>
          <a:xfrm>
            <a:off x="3886200" y="4718304"/>
            <a:ext cx="109728" cy="109728"/>
          </a:xfrm>
          <a:prstGeom prst="ellipse">
            <a:avLst/>
          </a:prstGeom>
          <a:solidFill>
            <a:srgbClr val="0E4D5C"/>
          </a:solidFill>
          <a:ln w="12700">
            <a:solidFill>
              <a:srgbClr val="0E4D5C"/>
            </a:solidFill>
            <a:prstDash val="solid"/>
          </a:ln>
        </p:spPr>
      </p:sp>
      <p:sp>
        <p:nvSpPr>
          <p:cNvPr id="19" name="Text 17"/>
          <p:cNvSpPr txBox="1"/>
          <p:nvPr/>
        </p:nvSpPr>
        <p:spPr>
          <a:xfrm>
            <a:off x="366674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W7</a:t>
            </a:r>
            <a:endParaRPr lang="en-US" sz="700" dirty="0"/>
          </a:p>
        </p:txBody>
      </p:sp>
      <p:sp>
        <p:nvSpPr>
          <p:cNvPr id="20" name="Text 18"/>
          <p:cNvSpPr txBox="1"/>
          <p:nvPr/>
        </p:nvSpPr>
        <p:spPr>
          <a:xfrm>
            <a:off x="3392424"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SRS</a:t>
            </a:r>
            <a:endParaRPr lang="en-US" sz="700" dirty="0"/>
          </a:p>
        </p:txBody>
      </p:sp>
      <p:sp>
        <p:nvSpPr>
          <p:cNvPr id="21" name="Shape 19"/>
          <p:cNvSpPr/>
          <p:nvPr/>
        </p:nvSpPr>
        <p:spPr>
          <a:xfrm>
            <a:off x="4344924" y="4741164"/>
            <a:ext cx="64008" cy="64008"/>
          </a:xfrm>
          <a:prstGeom prst="ellipse">
            <a:avLst/>
          </a:prstGeom>
          <a:solidFill>
            <a:srgbClr val="C9D9D8"/>
          </a:solidFill>
          <a:ln w="12700">
            <a:solidFill>
              <a:srgbClr val="C9D9D8"/>
            </a:solidFill>
            <a:prstDash val="solid"/>
          </a:ln>
        </p:spPr>
      </p:sp>
      <p:sp>
        <p:nvSpPr>
          <p:cNvPr id="22" name="Text 20"/>
          <p:cNvSpPr txBox="1"/>
          <p:nvPr/>
        </p:nvSpPr>
        <p:spPr>
          <a:xfrm>
            <a:off x="410260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W8</a:t>
            </a:r>
            <a:endParaRPr lang="en-US" sz="700" dirty="0"/>
          </a:p>
        </p:txBody>
      </p:sp>
      <p:sp>
        <p:nvSpPr>
          <p:cNvPr id="23" name="Shape 21"/>
          <p:cNvSpPr/>
          <p:nvPr/>
        </p:nvSpPr>
        <p:spPr>
          <a:xfrm>
            <a:off x="4780788" y="4741164"/>
            <a:ext cx="64008" cy="64008"/>
          </a:xfrm>
          <a:prstGeom prst="ellipse">
            <a:avLst/>
          </a:prstGeom>
          <a:solidFill>
            <a:srgbClr val="C9D9D8"/>
          </a:solidFill>
          <a:ln w="12700">
            <a:solidFill>
              <a:srgbClr val="C9D9D8"/>
            </a:solidFill>
            <a:prstDash val="solid"/>
          </a:ln>
        </p:spPr>
      </p:sp>
      <p:sp>
        <p:nvSpPr>
          <p:cNvPr id="24" name="Text 22"/>
          <p:cNvSpPr txBox="1"/>
          <p:nvPr/>
        </p:nvSpPr>
        <p:spPr>
          <a:xfrm>
            <a:off x="453847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W9</a:t>
            </a:r>
            <a:endParaRPr lang="en-US" sz="700" dirty="0"/>
          </a:p>
        </p:txBody>
      </p:sp>
      <p:sp>
        <p:nvSpPr>
          <p:cNvPr id="25" name="Shape 23"/>
          <p:cNvSpPr/>
          <p:nvPr/>
        </p:nvSpPr>
        <p:spPr>
          <a:xfrm>
            <a:off x="5216652" y="4741164"/>
            <a:ext cx="64008" cy="64008"/>
          </a:xfrm>
          <a:prstGeom prst="ellipse">
            <a:avLst/>
          </a:prstGeom>
          <a:solidFill>
            <a:srgbClr val="C9D9D8"/>
          </a:solidFill>
          <a:ln w="12700">
            <a:solidFill>
              <a:srgbClr val="C9D9D8"/>
            </a:solidFill>
            <a:prstDash val="solid"/>
          </a:ln>
        </p:spPr>
      </p:sp>
      <p:sp>
        <p:nvSpPr>
          <p:cNvPr id="26" name="Text 24"/>
          <p:cNvSpPr txBox="1"/>
          <p:nvPr/>
        </p:nvSpPr>
        <p:spPr>
          <a:xfrm>
            <a:off x="497433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W10</a:t>
            </a:r>
            <a:endParaRPr lang="en-US" sz="700" dirty="0"/>
          </a:p>
        </p:txBody>
      </p:sp>
      <p:sp>
        <p:nvSpPr>
          <p:cNvPr id="27" name="Shape 25"/>
          <p:cNvSpPr/>
          <p:nvPr/>
        </p:nvSpPr>
        <p:spPr>
          <a:xfrm>
            <a:off x="5629656" y="4718304"/>
            <a:ext cx="109728" cy="109728"/>
          </a:xfrm>
          <a:prstGeom prst="ellipse">
            <a:avLst/>
          </a:prstGeom>
          <a:solidFill>
            <a:srgbClr val="0E4D5C"/>
          </a:solidFill>
          <a:ln w="12700">
            <a:solidFill>
              <a:srgbClr val="0E4D5C"/>
            </a:solidFill>
            <a:prstDash val="solid"/>
          </a:ln>
        </p:spPr>
      </p:sp>
      <p:sp>
        <p:nvSpPr>
          <p:cNvPr id="28" name="Text 26"/>
          <p:cNvSpPr txBox="1"/>
          <p:nvPr/>
        </p:nvSpPr>
        <p:spPr>
          <a:xfrm>
            <a:off x="541020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W11</a:t>
            </a:r>
            <a:endParaRPr lang="en-US" sz="700" dirty="0"/>
          </a:p>
        </p:txBody>
      </p:sp>
      <p:sp>
        <p:nvSpPr>
          <p:cNvPr id="29" name="Text 27"/>
          <p:cNvSpPr txBox="1"/>
          <p:nvPr/>
        </p:nvSpPr>
        <p:spPr>
          <a:xfrm>
            <a:off x="513588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Design</a:t>
            </a:r>
            <a:endParaRPr lang="en-US" sz="700" dirty="0"/>
          </a:p>
        </p:txBody>
      </p:sp>
      <p:sp>
        <p:nvSpPr>
          <p:cNvPr id="30" name="Shape 28"/>
          <p:cNvSpPr/>
          <p:nvPr/>
        </p:nvSpPr>
        <p:spPr>
          <a:xfrm>
            <a:off x="6088380" y="4741164"/>
            <a:ext cx="64008" cy="64008"/>
          </a:xfrm>
          <a:prstGeom prst="ellipse">
            <a:avLst/>
          </a:prstGeom>
          <a:solidFill>
            <a:srgbClr val="C9D9D8"/>
          </a:solidFill>
          <a:ln w="12700">
            <a:solidFill>
              <a:srgbClr val="C9D9D8"/>
            </a:solidFill>
            <a:prstDash val="solid"/>
          </a:ln>
        </p:spPr>
      </p:sp>
      <p:sp>
        <p:nvSpPr>
          <p:cNvPr id="31" name="Text 29"/>
          <p:cNvSpPr txBox="1"/>
          <p:nvPr/>
        </p:nvSpPr>
        <p:spPr>
          <a:xfrm>
            <a:off x="5846064"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W12</a:t>
            </a:r>
            <a:endParaRPr lang="en-US" sz="700" dirty="0"/>
          </a:p>
        </p:txBody>
      </p:sp>
      <p:sp>
        <p:nvSpPr>
          <p:cNvPr id="32" name="Shape 30"/>
          <p:cNvSpPr/>
          <p:nvPr/>
        </p:nvSpPr>
        <p:spPr>
          <a:xfrm>
            <a:off x="6524244" y="4741164"/>
            <a:ext cx="64008" cy="64008"/>
          </a:xfrm>
          <a:prstGeom prst="ellipse">
            <a:avLst/>
          </a:prstGeom>
          <a:solidFill>
            <a:srgbClr val="C9D9D8"/>
          </a:solidFill>
          <a:ln w="12700">
            <a:solidFill>
              <a:srgbClr val="C9D9D8"/>
            </a:solidFill>
            <a:prstDash val="solid"/>
          </a:ln>
        </p:spPr>
      </p:sp>
      <p:sp>
        <p:nvSpPr>
          <p:cNvPr id="33" name="Text 31"/>
          <p:cNvSpPr txBox="1"/>
          <p:nvPr/>
        </p:nvSpPr>
        <p:spPr>
          <a:xfrm>
            <a:off x="6281928"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W13</a:t>
            </a:r>
            <a:endParaRPr lang="en-US" sz="700" dirty="0"/>
          </a:p>
        </p:txBody>
      </p:sp>
      <p:sp>
        <p:nvSpPr>
          <p:cNvPr id="34" name="Shape 32"/>
          <p:cNvSpPr/>
          <p:nvPr/>
        </p:nvSpPr>
        <p:spPr>
          <a:xfrm>
            <a:off x="6960108" y="4741164"/>
            <a:ext cx="64008" cy="64008"/>
          </a:xfrm>
          <a:prstGeom prst="ellipse">
            <a:avLst/>
          </a:prstGeom>
          <a:solidFill>
            <a:srgbClr val="C9D9D8"/>
          </a:solidFill>
          <a:ln w="12700">
            <a:solidFill>
              <a:srgbClr val="C9D9D8"/>
            </a:solidFill>
            <a:prstDash val="solid"/>
          </a:ln>
        </p:spPr>
      </p:sp>
      <p:sp>
        <p:nvSpPr>
          <p:cNvPr id="35" name="Text 33"/>
          <p:cNvSpPr txBox="1"/>
          <p:nvPr/>
        </p:nvSpPr>
        <p:spPr>
          <a:xfrm>
            <a:off x="6717792"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W14</a:t>
            </a:r>
            <a:endParaRPr lang="en-US" sz="700" dirty="0"/>
          </a:p>
        </p:txBody>
      </p:sp>
      <p:sp>
        <p:nvSpPr>
          <p:cNvPr id="36" name="Shape 34"/>
          <p:cNvSpPr/>
          <p:nvPr/>
        </p:nvSpPr>
        <p:spPr>
          <a:xfrm>
            <a:off x="7395972" y="4741164"/>
            <a:ext cx="64008" cy="64008"/>
          </a:xfrm>
          <a:prstGeom prst="ellipse">
            <a:avLst/>
          </a:prstGeom>
          <a:solidFill>
            <a:srgbClr val="C9D9D8"/>
          </a:solidFill>
          <a:ln w="12700">
            <a:solidFill>
              <a:srgbClr val="C9D9D8"/>
            </a:solidFill>
            <a:prstDash val="solid"/>
          </a:ln>
        </p:spPr>
      </p:sp>
      <p:sp>
        <p:nvSpPr>
          <p:cNvPr id="37" name="Text 35"/>
          <p:cNvSpPr txBox="1"/>
          <p:nvPr/>
        </p:nvSpPr>
        <p:spPr>
          <a:xfrm>
            <a:off x="7153656"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W15</a:t>
            </a:r>
            <a:endParaRPr lang="en-US" sz="700" dirty="0"/>
          </a:p>
        </p:txBody>
      </p:sp>
      <p:sp>
        <p:nvSpPr>
          <p:cNvPr id="38" name="Shape 36"/>
          <p:cNvSpPr/>
          <p:nvPr/>
        </p:nvSpPr>
        <p:spPr>
          <a:xfrm>
            <a:off x="7808976" y="4718304"/>
            <a:ext cx="109728" cy="109728"/>
          </a:xfrm>
          <a:prstGeom prst="ellipse">
            <a:avLst/>
          </a:prstGeom>
          <a:solidFill>
            <a:srgbClr val="0E4D5C"/>
          </a:solidFill>
          <a:ln w="12700">
            <a:solidFill>
              <a:srgbClr val="0E4D5C"/>
            </a:solidFill>
            <a:prstDash val="solid"/>
          </a:ln>
        </p:spPr>
      </p:sp>
      <p:sp>
        <p:nvSpPr>
          <p:cNvPr id="39" name="Text 37"/>
          <p:cNvSpPr txBox="1"/>
          <p:nvPr/>
        </p:nvSpPr>
        <p:spPr>
          <a:xfrm>
            <a:off x="7589520" y="4855464"/>
            <a:ext cx="548640" cy="146304"/>
          </a:xfrm>
          <a:prstGeom prst="rect">
            <a:avLst/>
          </a:prstGeom>
          <a:noFill/>
          <a:ln/>
        </p:spPr>
        <p:txBody>
          <a:bodyPr wrap="square" lIns="0" tIns="0" rIns="0" bIns="0" rtlCol="0" anchor="ctr"/>
          <a:lstStyle/>
          <a:p>
            <a:pPr algn="ctr" indent="0" marL="0">
              <a:buNone/>
            </a:pPr>
            <a:r>
              <a:rPr lang="en-US" sz="700" dirty="0">
                <a:solidFill>
                  <a:srgbClr val="5F6B70"/>
                </a:solidFill>
              </a:rPr>
              <a:t>W16</a:t>
            </a:r>
            <a:endParaRPr lang="en-US" sz="700" dirty="0"/>
          </a:p>
        </p:txBody>
      </p:sp>
      <p:sp>
        <p:nvSpPr>
          <p:cNvPr id="40" name="Text 38"/>
          <p:cNvSpPr txBox="1"/>
          <p:nvPr/>
        </p:nvSpPr>
        <p:spPr>
          <a:xfrm>
            <a:off x="7315200" y="4526280"/>
            <a:ext cx="1097280" cy="146304"/>
          </a:xfrm>
          <a:prstGeom prst="rect">
            <a:avLst/>
          </a:prstGeom>
          <a:noFill/>
          <a:ln/>
        </p:spPr>
        <p:txBody>
          <a:bodyPr wrap="square" lIns="0" tIns="0" rIns="0" bIns="0" rtlCol="0" anchor="ctr"/>
          <a:lstStyle/>
          <a:p>
            <a:pPr algn="ctr" indent="0" marL="0">
              <a:buNone/>
            </a:pPr>
            <a:r>
              <a:rPr lang="en-US" sz="700" b="1" dirty="0">
                <a:solidFill>
                  <a:srgbClr val="0E4D5C"/>
                </a:solidFill>
              </a:rPr>
              <a:t>Launch</a:t>
            </a:r>
            <a:endParaRPr lang="en-US" sz="700" dirty="0"/>
          </a:p>
        </p:txBody>
      </p:sp>
      <p:sp>
        <p:nvSpPr>
          <p:cNvPr id="41" name="Text 39"/>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100" kern="0" dirty="0">
                <a:solidFill>
                  <a:srgbClr val="1B7F79"/>
                </a:solidFill>
              </a:rPr>
              <a:t>3 · PROJECT PROGRESS — TEAM COLLABORATION AND MANAGEMENT</a:t>
            </a:r>
            <a:endParaRPr lang="en-US" sz="1000" dirty="0"/>
          </a:p>
        </p:txBody>
      </p:sp>
      <p:sp>
        <p:nvSpPr>
          <p:cNvPr id="42" name="Text 40"/>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800" b="1" dirty="0">
                <a:solidFill>
                  <a:srgbClr val="0E4D5C"/>
                </a:solidFill>
              </a:rPr>
              <a:t>Project schedule</a:t>
            </a:r>
            <a:endParaRPr lang="en-US" sz="2800" dirty="0"/>
          </a:p>
        </p:txBody>
      </p:sp>
      <p:sp>
        <p:nvSpPr>
          <p:cNvPr id="43" name="Text 41"/>
          <p:cNvSpPr txBox="1"/>
          <p:nvPr/>
        </p:nvSpPr>
        <p:spPr>
          <a:xfrm>
            <a:off x="265176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a:t>
            </a:r>
            <a:endParaRPr lang="en-US" sz="900" dirty="0"/>
          </a:p>
        </p:txBody>
      </p:sp>
      <p:sp>
        <p:nvSpPr>
          <p:cNvPr id="44" name="Text 42"/>
          <p:cNvSpPr txBox="1"/>
          <p:nvPr/>
        </p:nvSpPr>
        <p:spPr>
          <a:xfrm>
            <a:off x="302895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W2</a:t>
            </a:r>
            <a:endParaRPr lang="en-US" sz="900" dirty="0"/>
          </a:p>
        </p:txBody>
      </p:sp>
      <p:sp>
        <p:nvSpPr>
          <p:cNvPr id="45" name="Text 43"/>
          <p:cNvSpPr txBox="1"/>
          <p:nvPr/>
        </p:nvSpPr>
        <p:spPr>
          <a:xfrm>
            <a:off x="340614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W3</a:t>
            </a:r>
            <a:endParaRPr lang="en-US" sz="900" dirty="0"/>
          </a:p>
        </p:txBody>
      </p:sp>
      <p:sp>
        <p:nvSpPr>
          <p:cNvPr id="46" name="Text 44"/>
          <p:cNvSpPr txBox="1"/>
          <p:nvPr/>
        </p:nvSpPr>
        <p:spPr>
          <a:xfrm>
            <a:off x="378333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W4</a:t>
            </a:r>
            <a:endParaRPr lang="en-US" sz="900" dirty="0"/>
          </a:p>
        </p:txBody>
      </p:sp>
      <p:sp>
        <p:nvSpPr>
          <p:cNvPr id="47" name="Shape 45"/>
          <p:cNvSpPr/>
          <p:nvPr/>
        </p:nvSpPr>
        <p:spPr>
          <a:xfrm>
            <a:off x="4160520" y="1143000"/>
            <a:ext cx="377190" cy="2907792"/>
          </a:xfrm>
          <a:prstGeom prst="rect">
            <a:avLst/>
          </a:prstGeom>
          <a:solidFill>
            <a:srgbClr val="FCEFD9"/>
          </a:solidFill>
          <a:ln w="12700">
            <a:solidFill>
              <a:srgbClr val="FCEFD9"/>
            </a:solidFill>
            <a:prstDash val="solid"/>
          </a:ln>
        </p:spPr>
      </p:sp>
      <p:sp>
        <p:nvSpPr>
          <p:cNvPr id="48" name="Text 46"/>
          <p:cNvSpPr txBox="1"/>
          <p:nvPr/>
        </p:nvSpPr>
        <p:spPr>
          <a:xfrm>
            <a:off x="4160520" y="1143000"/>
            <a:ext cx="377190" cy="274320"/>
          </a:xfrm>
          <a:prstGeom prst="rect">
            <a:avLst/>
          </a:prstGeom>
          <a:noFill/>
          <a:ln/>
        </p:spPr>
        <p:txBody>
          <a:bodyPr wrap="square" lIns="0" tIns="0" rIns="0" bIns="0" rtlCol="0" anchor="ctr"/>
          <a:lstStyle/>
          <a:p>
            <a:pPr algn="ctr" indent="0" marL="0">
              <a:buNone/>
            </a:pPr>
            <a:r>
              <a:rPr lang="en-US" sz="900" b="1" dirty="0">
                <a:solidFill>
                  <a:srgbClr val="E09F3E"/>
                </a:solidFill>
              </a:rPr>
              <a:t>W5</a:t>
            </a:r>
            <a:endParaRPr lang="en-US" sz="900" dirty="0"/>
          </a:p>
        </p:txBody>
      </p:sp>
      <p:sp>
        <p:nvSpPr>
          <p:cNvPr id="49" name="Text 47"/>
          <p:cNvSpPr txBox="1"/>
          <p:nvPr/>
        </p:nvSpPr>
        <p:spPr>
          <a:xfrm>
            <a:off x="453771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W6</a:t>
            </a:r>
            <a:endParaRPr lang="en-US" sz="900" dirty="0"/>
          </a:p>
        </p:txBody>
      </p:sp>
      <p:sp>
        <p:nvSpPr>
          <p:cNvPr id="50" name="Text 48"/>
          <p:cNvSpPr txBox="1"/>
          <p:nvPr/>
        </p:nvSpPr>
        <p:spPr>
          <a:xfrm>
            <a:off x="491490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W7</a:t>
            </a:r>
            <a:endParaRPr lang="en-US" sz="900" dirty="0"/>
          </a:p>
        </p:txBody>
      </p:sp>
      <p:sp>
        <p:nvSpPr>
          <p:cNvPr id="51" name="Text 49"/>
          <p:cNvSpPr txBox="1"/>
          <p:nvPr/>
        </p:nvSpPr>
        <p:spPr>
          <a:xfrm>
            <a:off x="529209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W8</a:t>
            </a:r>
            <a:endParaRPr lang="en-US" sz="900" dirty="0"/>
          </a:p>
        </p:txBody>
      </p:sp>
      <p:sp>
        <p:nvSpPr>
          <p:cNvPr id="52" name="Text 50"/>
          <p:cNvSpPr txBox="1"/>
          <p:nvPr/>
        </p:nvSpPr>
        <p:spPr>
          <a:xfrm>
            <a:off x="566928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W9</a:t>
            </a:r>
            <a:endParaRPr lang="en-US" sz="900" dirty="0"/>
          </a:p>
        </p:txBody>
      </p:sp>
      <p:sp>
        <p:nvSpPr>
          <p:cNvPr id="53" name="Text 51"/>
          <p:cNvSpPr txBox="1"/>
          <p:nvPr/>
        </p:nvSpPr>
        <p:spPr>
          <a:xfrm>
            <a:off x="604647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W10</a:t>
            </a:r>
            <a:endParaRPr lang="en-US" sz="900" dirty="0"/>
          </a:p>
        </p:txBody>
      </p:sp>
      <p:sp>
        <p:nvSpPr>
          <p:cNvPr id="54" name="Text 52"/>
          <p:cNvSpPr txBox="1"/>
          <p:nvPr/>
        </p:nvSpPr>
        <p:spPr>
          <a:xfrm>
            <a:off x="642366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W11</a:t>
            </a:r>
            <a:endParaRPr lang="en-US" sz="900" dirty="0"/>
          </a:p>
        </p:txBody>
      </p:sp>
      <p:sp>
        <p:nvSpPr>
          <p:cNvPr id="55" name="Text 53"/>
          <p:cNvSpPr txBox="1"/>
          <p:nvPr/>
        </p:nvSpPr>
        <p:spPr>
          <a:xfrm>
            <a:off x="680085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W12</a:t>
            </a:r>
            <a:endParaRPr lang="en-US" sz="900" dirty="0"/>
          </a:p>
        </p:txBody>
      </p:sp>
      <p:sp>
        <p:nvSpPr>
          <p:cNvPr id="56" name="Text 54"/>
          <p:cNvSpPr txBox="1"/>
          <p:nvPr/>
        </p:nvSpPr>
        <p:spPr>
          <a:xfrm>
            <a:off x="717804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W13</a:t>
            </a:r>
            <a:endParaRPr lang="en-US" sz="900" dirty="0"/>
          </a:p>
        </p:txBody>
      </p:sp>
      <p:sp>
        <p:nvSpPr>
          <p:cNvPr id="57" name="Text 55"/>
          <p:cNvSpPr txBox="1"/>
          <p:nvPr/>
        </p:nvSpPr>
        <p:spPr>
          <a:xfrm>
            <a:off x="755523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W14</a:t>
            </a:r>
            <a:endParaRPr lang="en-US" sz="900" dirty="0"/>
          </a:p>
        </p:txBody>
      </p:sp>
      <p:sp>
        <p:nvSpPr>
          <p:cNvPr id="58" name="Text 56"/>
          <p:cNvSpPr txBox="1"/>
          <p:nvPr/>
        </p:nvSpPr>
        <p:spPr>
          <a:xfrm>
            <a:off x="793242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W15</a:t>
            </a:r>
            <a:endParaRPr lang="en-US" sz="900" dirty="0"/>
          </a:p>
        </p:txBody>
      </p:sp>
      <p:sp>
        <p:nvSpPr>
          <p:cNvPr id="59" name="Text 57"/>
          <p:cNvSpPr txBox="1"/>
          <p:nvPr/>
        </p:nvSpPr>
        <p:spPr>
          <a:xfrm>
            <a:off x="8309610" y="1143000"/>
            <a:ext cx="377190" cy="274320"/>
          </a:xfrm>
          <a:prstGeom prst="rect">
            <a:avLst/>
          </a:prstGeom>
          <a:noFill/>
          <a:ln/>
        </p:spPr>
        <p:txBody>
          <a:bodyPr wrap="square" lIns="0" tIns="0" rIns="0" bIns="0" rtlCol="0" anchor="ctr"/>
          <a:lstStyle/>
          <a:p>
            <a:pPr algn="ctr" indent="0" marL="0">
              <a:buNone/>
            </a:pPr>
            <a:r>
              <a:rPr lang="en-US" sz="900" dirty="0">
                <a:solidFill>
                  <a:srgbClr val="5F6B70"/>
                </a:solidFill>
              </a:rPr>
              <a:t>W16</a:t>
            </a:r>
            <a:endParaRPr lang="en-US" sz="900" dirty="0"/>
          </a:p>
        </p:txBody>
      </p:sp>
      <p:sp>
        <p:nvSpPr>
          <p:cNvPr id="60" name="Text 58"/>
          <p:cNvSpPr txBox="1"/>
          <p:nvPr/>
        </p:nvSpPr>
        <p:spPr>
          <a:xfrm>
            <a:off x="457200" y="1435608"/>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Kickoff &amp; proposal</a:t>
            </a:r>
            <a:endParaRPr lang="en-US" sz="1100" dirty="0"/>
          </a:p>
        </p:txBody>
      </p:sp>
      <p:sp>
        <p:nvSpPr>
          <p:cNvPr id="61" name="Text 59"/>
          <p:cNvSpPr txBox="1"/>
          <p:nvPr/>
        </p:nvSpPr>
        <p:spPr>
          <a:xfrm>
            <a:off x="457200" y="1583741"/>
            <a:ext cx="2148840" cy="148133"/>
          </a:xfrm>
          <a:prstGeom prst="rect">
            <a:avLst/>
          </a:prstGeom>
          <a:noFill/>
          <a:ln/>
        </p:spPr>
        <p:txBody>
          <a:bodyPr wrap="square" lIns="0" tIns="0" rIns="0" bIns="0" rtlCol="0" anchor="t"/>
          <a:lstStyle/>
          <a:p>
            <a:pPr indent="0" marL="0">
              <a:buNone/>
            </a:pPr>
            <a:r>
              <a:rPr lang="en-US" sz="900" dirty="0">
                <a:solidFill>
                  <a:srgbClr val="5F6B70"/>
                </a:solidFill>
              </a:rPr>
              <a:t>All</a:t>
            </a:r>
            <a:endParaRPr lang="en-US" sz="900" dirty="0"/>
          </a:p>
        </p:txBody>
      </p:sp>
      <p:sp>
        <p:nvSpPr>
          <p:cNvPr id="62" name="Shape 60"/>
          <p:cNvSpPr/>
          <p:nvPr/>
        </p:nvSpPr>
        <p:spPr>
          <a:xfrm>
            <a:off x="2679192" y="1490472"/>
            <a:ext cx="322326" cy="219456"/>
          </a:xfrm>
          <a:prstGeom prst="roundRect">
            <a:avLst>
              <a:gd name="adj" fmla="val 20833"/>
            </a:avLst>
          </a:prstGeom>
          <a:solidFill>
            <a:srgbClr val="0E4D5C"/>
          </a:solidFill>
          <a:ln w="12700">
            <a:solidFill>
              <a:srgbClr val="0E4D5C"/>
            </a:solidFill>
            <a:prstDash val="solid"/>
          </a:ln>
        </p:spPr>
      </p:sp>
      <p:sp>
        <p:nvSpPr>
          <p:cNvPr id="63" name="Text 61"/>
          <p:cNvSpPr txBox="1"/>
          <p:nvPr/>
        </p:nvSpPr>
        <p:spPr>
          <a:xfrm>
            <a:off x="457200" y="1764792"/>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Planning &amp; process model</a:t>
            </a:r>
            <a:endParaRPr lang="en-US" sz="1100" dirty="0"/>
          </a:p>
        </p:txBody>
      </p:sp>
      <p:sp>
        <p:nvSpPr>
          <p:cNvPr id="64" name="Text 62"/>
          <p:cNvSpPr txBox="1"/>
          <p:nvPr/>
        </p:nvSpPr>
        <p:spPr>
          <a:xfrm>
            <a:off x="457200" y="1912925"/>
            <a:ext cx="2148840" cy="148133"/>
          </a:xfrm>
          <a:prstGeom prst="rect">
            <a:avLst/>
          </a:prstGeom>
          <a:noFill/>
          <a:ln/>
        </p:spPr>
        <p:txBody>
          <a:bodyPr wrap="square" lIns="0" tIns="0" rIns="0" bIns="0" rtlCol="0" anchor="t"/>
          <a:lstStyle/>
          <a:p>
            <a:pPr indent="0" marL="0">
              <a:buNone/>
            </a:pPr>
            <a:r>
              <a:rPr lang="en-US" sz="900" dirty="0">
                <a:solidFill>
                  <a:srgbClr val="5F6B70"/>
                </a:solidFill>
              </a:rPr>
              <a:t>Alfonso</a:t>
            </a:r>
            <a:endParaRPr lang="en-US" sz="900" dirty="0"/>
          </a:p>
        </p:txBody>
      </p:sp>
      <p:sp>
        <p:nvSpPr>
          <p:cNvPr id="65" name="Shape 63"/>
          <p:cNvSpPr/>
          <p:nvPr/>
        </p:nvSpPr>
        <p:spPr>
          <a:xfrm>
            <a:off x="3056382" y="1819656"/>
            <a:ext cx="1076706" cy="219456"/>
          </a:xfrm>
          <a:prstGeom prst="roundRect">
            <a:avLst>
              <a:gd name="adj" fmla="val 20833"/>
            </a:avLst>
          </a:prstGeom>
          <a:solidFill>
            <a:srgbClr val="0E4D5C"/>
          </a:solidFill>
          <a:ln w="12700">
            <a:solidFill>
              <a:srgbClr val="0E4D5C"/>
            </a:solidFill>
            <a:prstDash val="solid"/>
          </a:ln>
        </p:spPr>
      </p:sp>
      <p:sp>
        <p:nvSpPr>
          <p:cNvPr id="66" name="Text 64"/>
          <p:cNvSpPr txBox="1"/>
          <p:nvPr/>
        </p:nvSpPr>
        <p:spPr>
          <a:xfrm>
            <a:off x="457200" y="2093976"/>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Requirements → SRS</a:t>
            </a:r>
            <a:endParaRPr lang="en-US" sz="1100" dirty="0"/>
          </a:p>
        </p:txBody>
      </p:sp>
      <p:sp>
        <p:nvSpPr>
          <p:cNvPr id="67" name="Text 65"/>
          <p:cNvSpPr txBox="1"/>
          <p:nvPr/>
        </p:nvSpPr>
        <p:spPr>
          <a:xfrm>
            <a:off x="457200" y="2242109"/>
            <a:ext cx="2148840" cy="148133"/>
          </a:xfrm>
          <a:prstGeom prst="rect">
            <a:avLst/>
          </a:prstGeom>
          <a:noFill/>
          <a:ln/>
        </p:spPr>
        <p:txBody>
          <a:bodyPr wrap="square" lIns="0" tIns="0" rIns="0" bIns="0" rtlCol="0" anchor="t"/>
          <a:lstStyle/>
          <a:p>
            <a:pPr indent="0" marL="0">
              <a:buNone/>
            </a:pPr>
            <a:r>
              <a:rPr lang="en-US" sz="900" dirty="0">
                <a:solidFill>
                  <a:srgbClr val="5F6B70"/>
                </a:solidFill>
              </a:rPr>
              <a:t>All (lead Alfonso)</a:t>
            </a:r>
            <a:endParaRPr lang="en-US" sz="900" dirty="0"/>
          </a:p>
        </p:txBody>
      </p:sp>
      <p:sp>
        <p:nvSpPr>
          <p:cNvPr id="68" name="Shape 66"/>
          <p:cNvSpPr/>
          <p:nvPr/>
        </p:nvSpPr>
        <p:spPr>
          <a:xfrm>
            <a:off x="4187952" y="2148840"/>
            <a:ext cx="1076706" cy="219456"/>
          </a:xfrm>
          <a:prstGeom prst="roundRect">
            <a:avLst>
              <a:gd name="adj" fmla="val 20833"/>
            </a:avLst>
          </a:prstGeom>
          <a:solidFill>
            <a:srgbClr val="1B7F79"/>
          </a:solidFill>
          <a:ln w="12700">
            <a:solidFill>
              <a:srgbClr val="1B7F79"/>
            </a:solidFill>
            <a:prstDash val="solid"/>
          </a:ln>
        </p:spPr>
      </p:sp>
      <p:sp>
        <p:nvSpPr>
          <p:cNvPr id="69" name="Text 67"/>
          <p:cNvSpPr txBox="1"/>
          <p:nvPr/>
        </p:nvSpPr>
        <p:spPr>
          <a:xfrm>
            <a:off x="457200" y="2423160"/>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Design → architecture doc</a:t>
            </a:r>
            <a:endParaRPr lang="en-US" sz="1100" dirty="0"/>
          </a:p>
        </p:txBody>
      </p:sp>
      <p:sp>
        <p:nvSpPr>
          <p:cNvPr id="70" name="Text 68"/>
          <p:cNvSpPr txBox="1"/>
          <p:nvPr/>
        </p:nvSpPr>
        <p:spPr>
          <a:xfrm>
            <a:off x="457200" y="2571293"/>
            <a:ext cx="2148840" cy="148133"/>
          </a:xfrm>
          <a:prstGeom prst="rect">
            <a:avLst/>
          </a:prstGeom>
          <a:noFill/>
          <a:ln/>
        </p:spPr>
        <p:txBody>
          <a:bodyPr wrap="square" lIns="0" tIns="0" rIns="0" bIns="0" rtlCol="0" anchor="t"/>
          <a:lstStyle/>
          <a:p>
            <a:pPr indent="0" marL="0">
              <a:buNone/>
            </a:pPr>
            <a:r>
              <a:rPr lang="en-US" sz="900" dirty="0">
                <a:solidFill>
                  <a:srgbClr val="5F6B70"/>
                </a:solidFill>
              </a:rPr>
              <a:t>Borja, Yasmine</a:t>
            </a:r>
            <a:endParaRPr lang="en-US" sz="900" dirty="0"/>
          </a:p>
        </p:txBody>
      </p:sp>
      <p:sp>
        <p:nvSpPr>
          <p:cNvPr id="71" name="Shape 69"/>
          <p:cNvSpPr/>
          <p:nvPr/>
        </p:nvSpPr>
        <p:spPr>
          <a:xfrm>
            <a:off x="5319522" y="2478024"/>
            <a:ext cx="1453896" cy="219456"/>
          </a:xfrm>
          <a:prstGeom prst="roundRect">
            <a:avLst>
              <a:gd name="adj" fmla="val 20833"/>
            </a:avLst>
          </a:prstGeom>
          <a:solidFill>
            <a:srgbClr val="1B7F79"/>
          </a:solidFill>
          <a:ln w="12700">
            <a:solidFill>
              <a:srgbClr val="1B7F79"/>
            </a:solidFill>
            <a:prstDash val="solid"/>
          </a:ln>
        </p:spPr>
      </p:sp>
      <p:sp>
        <p:nvSpPr>
          <p:cNvPr id="72" name="Text 70"/>
          <p:cNvSpPr txBox="1"/>
          <p:nvPr/>
        </p:nvSpPr>
        <p:spPr>
          <a:xfrm>
            <a:off x="457200" y="2752344"/>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Implementation</a:t>
            </a:r>
            <a:endParaRPr lang="en-US" sz="1100" dirty="0"/>
          </a:p>
        </p:txBody>
      </p:sp>
      <p:sp>
        <p:nvSpPr>
          <p:cNvPr id="73" name="Text 71"/>
          <p:cNvSpPr txBox="1"/>
          <p:nvPr/>
        </p:nvSpPr>
        <p:spPr>
          <a:xfrm>
            <a:off x="457200" y="2900477"/>
            <a:ext cx="2148840" cy="148133"/>
          </a:xfrm>
          <a:prstGeom prst="rect">
            <a:avLst/>
          </a:prstGeom>
          <a:noFill/>
          <a:ln/>
        </p:spPr>
        <p:txBody>
          <a:bodyPr wrap="square" lIns="0" tIns="0" rIns="0" bIns="0" rtlCol="0" anchor="t"/>
          <a:lstStyle/>
          <a:p>
            <a:pPr indent="0" marL="0">
              <a:buNone/>
            </a:pPr>
            <a:r>
              <a:rPr lang="en-US" sz="900" dirty="0">
                <a:solidFill>
                  <a:srgbClr val="5F6B70"/>
                </a:solidFill>
              </a:rPr>
              <a:t>Haifa, Avni</a:t>
            </a:r>
            <a:endParaRPr lang="en-US" sz="900" dirty="0"/>
          </a:p>
        </p:txBody>
      </p:sp>
      <p:sp>
        <p:nvSpPr>
          <p:cNvPr id="74" name="Shape 72"/>
          <p:cNvSpPr/>
          <p:nvPr/>
        </p:nvSpPr>
        <p:spPr>
          <a:xfrm>
            <a:off x="6828282" y="2807208"/>
            <a:ext cx="1076706" cy="219456"/>
          </a:xfrm>
          <a:prstGeom prst="roundRect">
            <a:avLst>
              <a:gd name="adj" fmla="val 20833"/>
            </a:avLst>
          </a:prstGeom>
          <a:solidFill>
            <a:srgbClr val="34495E"/>
          </a:solidFill>
          <a:ln w="12700">
            <a:solidFill>
              <a:srgbClr val="34495E"/>
            </a:solidFill>
            <a:prstDash val="solid"/>
          </a:ln>
        </p:spPr>
      </p:sp>
      <p:sp>
        <p:nvSpPr>
          <p:cNvPr id="75" name="Text 73"/>
          <p:cNvSpPr txBox="1"/>
          <p:nvPr/>
        </p:nvSpPr>
        <p:spPr>
          <a:xfrm>
            <a:off x="457200" y="3081528"/>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Testing</a:t>
            </a:r>
            <a:endParaRPr lang="en-US" sz="1100" dirty="0"/>
          </a:p>
        </p:txBody>
      </p:sp>
      <p:sp>
        <p:nvSpPr>
          <p:cNvPr id="76" name="Text 74"/>
          <p:cNvSpPr txBox="1"/>
          <p:nvPr/>
        </p:nvSpPr>
        <p:spPr>
          <a:xfrm>
            <a:off x="457200" y="3229661"/>
            <a:ext cx="2148840" cy="148133"/>
          </a:xfrm>
          <a:prstGeom prst="rect">
            <a:avLst/>
          </a:prstGeom>
          <a:noFill/>
          <a:ln/>
        </p:spPr>
        <p:txBody>
          <a:bodyPr wrap="square" lIns="0" tIns="0" rIns="0" bIns="0" rtlCol="0" anchor="t"/>
          <a:lstStyle/>
          <a:p>
            <a:pPr indent="0" marL="0">
              <a:buNone/>
            </a:pPr>
            <a:r>
              <a:rPr lang="en-US" sz="900" dirty="0">
                <a:solidFill>
                  <a:srgbClr val="5F6B70"/>
                </a:solidFill>
              </a:rPr>
              <a:t>Avni, Josué</a:t>
            </a:r>
            <a:endParaRPr lang="en-US" sz="900" dirty="0"/>
          </a:p>
        </p:txBody>
      </p:sp>
      <p:sp>
        <p:nvSpPr>
          <p:cNvPr id="77" name="Shape 75"/>
          <p:cNvSpPr/>
          <p:nvPr/>
        </p:nvSpPr>
        <p:spPr>
          <a:xfrm>
            <a:off x="7205472" y="3136392"/>
            <a:ext cx="1076706" cy="219456"/>
          </a:xfrm>
          <a:prstGeom prst="roundRect">
            <a:avLst>
              <a:gd name="adj" fmla="val 20833"/>
            </a:avLst>
          </a:prstGeom>
          <a:solidFill>
            <a:srgbClr val="34495E"/>
          </a:solidFill>
          <a:ln w="12700">
            <a:solidFill>
              <a:srgbClr val="34495E"/>
            </a:solidFill>
            <a:prstDash val="solid"/>
          </a:ln>
        </p:spPr>
      </p:sp>
      <p:sp>
        <p:nvSpPr>
          <p:cNvPr id="78" name="Text 76"/>
          <p:cNvSpPr txBox="1"/>
          <p:nvPr/>
        </p:nvSpPr>
        <p:spPr>
          <a:xfrm>
            <a:off x="457200" y="3410712"/>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Launch &amp; pitch</a:t>
            </a:r>
            <a:endParaRPr lang="en-US" sz="1100" dirty="0"/>
          </a:p>
        </p:txBody>
      </p:sp>
      <p:sp>
        <p:nvSpPr>
          <p:cNvPr id="79" name="Text 77"/>
          <p:cNvSpPr txBox="1"/>
          <p:nvPr/>
        </p:nvSpPr>
        <p:spPr>
          <a:xfrm>
            <a:off x="457200" y="3558845"/>
            <a:ext cx="2148840" cy="148133"/>
          </a:xfrm>
          <a:prstGeom prst="rect">
            <a:avLst/>
          </a:prstGeom>
          <a:noFill/>
          <a:ln/>
        </p:spPr>
        <p:txBody>
          <a:bodyPr wrap="square" lIns="0" tIns="0" rIns="0" bIns="0" rtlCol="0" anchor="t"/>
          <a:lstStyle/>
          <a:p>
            <a:pPr indent="0" marL="0">
              <a:buNone/>
            </a:pPr>
            <a:r>
              <a:rPr lang="en-US" sz="900" dirty="0">
                <a:solidFill>
                  <a:srgbClr val="5F6B70"/>
                </a:solidFill>
              </a:rPr>
              <a:t>All</a:t>
            </a:r>
            <a:endParaRPr lang="en-US" sz="900" dirty="0"/>
          </a:p>
        </p:txBody>
      </p:sp>
      <p:sp>
        <p:nvSpPr>
          <p:cNvPr id="80" name="Shape 78"/>
          <p:cNvSpPr/>
          <p:nvPr/>
        </p:nvSpPr>
        <p:spPr>
          <a:xfrm>
            <a:off x="8337042" y="3465576"/>
            <a:ext cx="322326" cy="219456"/>
          </a:xfrm>
          <a:prstGeom prst="roundRect">
            <a:avLst>
              <a:gd name="adj" fmla="val 20833"/>
            </a:avLst>
          </a:prstGeom>
          <a:solidFill>
            <a:srgbClr val="E09F3E"/>
          </a:solidFill>
          <a:ln w="12700">
            <a:solidFill>
              <a:srgbClr val="E09F3E"/>
            </a:solidFill>
            <a:prstDash val="solid"/>
          </a:ln>
        </p:spPr>
      </p:sp>
      <p:sp>
        <p:nvSpPr>
          <p:cNvPr id="81" name="Text 79"/>
          <p:cNvSpPr txBox="1"/>
          <p:nvPr/>
        </p:nvSpPr>
        <p:spPr>
          <a:xfrm>
            <a:off x="457200" y="3739896"/>
            <a:ext cx="2148840" cy="164592"/>
          </a:xfrm>
          <a:prstGeom prst="rect">
            <a:avLst/>
          </a:prstGeom>
          <a:noFill/>
          <a:ln/>
        </p:spPr>
        <p:txBody>
          <a:bodyPr wrap="square" lIns="0" tIns="0" rIns="0" bIns="0" rtlCol="0" anchor="ctr"/>
          <a:lstStyle/>
          <a:p>
            <a:pPr indent="0" marL="0">
              <a:buNone/>
            </a:pPr>
            <a:r>
              <a:rPr lang="en-US" sz="1100" b="1" dirty="0">
                <a:solidFill>
                  <a:srgbClr val="1F2A30"/>
                </a:solidFill>
              </a:rPr>
              <a:t>Weekly reports &amp; work logs</a:t>
            </a:r>
            <a:endParaRPr lang="en-US" sz="1100" dirty="0"/>
          </a:p>
        </p:txBody>
      </p:sp>
      <p:sp>
        <p:nvSpPr>
          <p:cNvPr id="82" name="Text 80"/>
          <p:cNvSpPr txBox="1"/>
          <p:nvPr/>
        </p:nvSpPr>
        <p:spPr>
          <a:xfrm>
            <a:off x="457200" y="3888029"/>
            <a:ext cx="2148840" cy="148133"/>
          </a:xfrm>
          <a:prstGeom prst="rect">
            <a:avLst/>
          </a:prstGeom>
          <a:noFill/>
          <a:ln/>
        </p:spPr>
        <p:txBody>
          <a:bodyPr wrap="square" lIns="0" tIns="0" rIns="0" bIns="0" rtlCol="0" anchor="t"/>
          <a:lstStyle/>
          <a:p>
            <a:pPr indent="0" marL="0">
              <a:buNone/>
            </a:pPr>
            <a:r>
              <a:rPr lang="en-US" sz="900" dirty="0">
                <a:solidFill>
                  <a:srgbClr val="5F6B70"/>
                </a:solidFill>
              </a:rPr>
              <a:t>Rotating</a:t>
            </a:r>
            <a:endParaRPr lang="en-US" sz="900" dirty="0"/>
          </a:p>
        </p:txBody>
      </p:sp>
      <p:sp>
        <p:nvSpPr>
          <p:cNvPr id="83" name="Shape 81"/>
          <p:cNvSpPr/>
          <p:nvPr/>
        </p:nvSpPr>
        <p:spPr>
          <a:xfrm>
            <a:off x="2679192" y="3794760"/>
            <a:ext cx="5980176" cy="219456"/>
          </a:xfrm>
          <a:prstGeom prst="roundRect">
            <a:avLst>
              <a:gd name="adj" fmla="val 20833"/>
            </a:avLst>
          </a:prstGeom>
          <a:solidFill>
            <a:srgbClr val="9BB8B6"/>
          </a:solidFill>
          <a:ln w="12700">
            <a:solidFill>
              <a:srgbClr val="9BB8B6"/>
            </a:solidFill>
            <a:prstDash val="solid"/>
          </a:ln>
        </p:spPr>
      </p:sp>
      <p:sp>
        <p:nvSpPr>
          <p:cNvPr id="84" name="Text 82"/>
          <p:cNvSpPr txBox="1"/>
          <p:nvPr/>
        </p:nvSpPr>
        <p:spPr>
          <a:xfrm>
            <a:off x="3314700" y="1828800"/>
            <a:ext cx="560070" cy="182880"/>
          </a:xfrm>
          <a:prstGeom prst="rect">
            <a:avLst/>
          </a:prstGeom>
          <a:noFill/>
          <a:ln/>
        </p:spPr>
        <p:txBody>
          <a:bodyPr wrap="square" lIns="0" tIns="0" rIns="0" bIns="0" rtlCol="0" anchor="ctr"/>
          <a:lstStyle/>
          <a:p>
            <a:pPr algn="ctr" indent="0" marL="0">
              <a:buNone/>
            </a:pPr>
            <a:r>
              <a:rPr lang="en-US" sz="700" i="1" dirty="0">
                <a:solidFill>
                  <a:srgbClr val="FFFFFF"/>
                </a:solidFill>
              </a:rPr>
              <a:t>Holiday</a:t>
            </a:r>
            <a:endParaRPr lang="en-US" sz="7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400" b="1" dirty="0">
                <a:solidFill>
                  <a:srgbClr val="FFFFFF"/>
                </a:solidFill>
              </a:rPr>
              <a:t>Conclusion</a:t>
            </a:r>
            <a:endParaRPr lang="en-US" sz="3400" dirty="0"/>
          </a:p>
        </p:txBody>
      </p:sp>
      <p:sp>
        <p:nvSpPr>
          <p:cNvPr id="3" name="Shape 1"/>
          <p:cNvSpPr/>
          <p:nvPr/>
        </p:nvSpPr>
        <p:spPr>
          <a:xfrm>
            <a:off x="548640" y="1325880"/>
            <a:ext cx="2514600" cy="1874520"/>
          </a:xfrm>
          <a:prstGeom prst="roundRect">
            <a:avLst>
              <a:gd name="adj" fmla="val 3902"/>
            </a:avLst>
          </a:prstGeom>
          <a:solidFill>
            <a:srgbClr val="15606F"/>
          </a:solidFill>
          <a:ln w="12700">
            <a:solidFill>
              <a:srgbClr val="15606F"/>
            </a:solidFill>
            <a:prstDash val="solid"/>
          </a:ln>
        </p:spPr>
      </p:sp>
      <p:sp>
        <p:nvSpPr>
          <p:cNvPr id="4" name="Shape 2"/>
          <p:cNvSpPr/>
          <p:nvPr/>
        </p:nvSpPr>
        <p:spPr>
          <a:xfrm>
            <a:off x="731520" y="1481328"/>
            <a:ext cx="457200" cy="457200"/>
          </a:xfrm>
          <a:prstGeom prst="ellipse">
            <a:avLst/>
          </a:prstGeom>
          <a:solidFill>
            <a:srgbClr val="E09F3E"/>
          </a:solidFill>
          <a:ln w="12700">
            <a:solidFill>
              <a:srgbClr val="E09F3E"/>
            </a:solidFill>
            <a:prstDash val="solid"/>
          </a:ln>
        </p:spPr>
      </p:sp>
      <p:sp>
        <p:nvSpPr>
          <p:cNvPr id="5" name="Text 3"/>
          <p:cNvSpPr txBox="1"/>
          <p:nvPr/>
        </p:nvSpPr>
        <p:spPr>
          <a:xfrm>
            <a:off x="7315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Text 4"/>
          <p:cNvSpPr txBox="1"/>
          <p:nvPr/>
        </p:nvSpPr>
        <p:spPr>
          <a:xfrm>
            <a:off x="7315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Foundation in place</a:t>
            </a:r>
            <a:endParaRPr lang="en-US" sz="1500" dirty="0"/>
          </a:p>
          <a:p>
            <a:pPr indent="0" marL="0">
              <a:spcAft>
                <a:spcPts val="400"/>
              </a:spcAft>
              <a:buNone/>
            </a:pPr>
            <a:r>
              <a:rPr lang="en-US" sz="1200" dirty="0">
                <a:solidFill>
                  <a:srgbClr val="DCEBEA"/>
                </a:solidFill>
              </a:rPr>
              <a:t>Scope, system context and quality goals are defined on a proven POS case study.</a:t>
            </a:r>
            <a:endParaRPr lang="en-US" sz="1500" dirty="0"/>
          </a:p>
        </p:txBody>
      </p:sp>
      <p:sp>
        <p:nvSpPr>
          <p:cNvPr id="7" name="Shape 5"/>
          <p:cNvSpPr/>
          <p:nvPr/>
        </p:nvSpPr>
        <p:spPr>
          <a:xfrm>
            <a:off x="3291840" y="1325880"/>
            <a:ext cx="2514600" cy="1874520"/>
          </a:xfrm>
          <a:prstGeom prst="roundRect">
            <a:avLst>
              <a:gd name="adj" fmla="val 3902"/>
            </a:avLst>
          </a:prstGeom>
          <a:solidFill>
            <a:srgbClr val="15606F"/>
          </a:solidFill>
          <a:ln w="12700">
            <a:solidFill>
              <a:srgbClr val="15606F"/>
            </a:solidFill>
            <a:prstDash val="solid"/>
          </a:ln>
        </p:spPr>
      </p:sp>
      <p:sp>
        <p:nvSpPr>
          <p:cNvPr id="8" name="Shape 6"/>
          <p:cNvSpPr/>
          <p:nvPr/>
        </p:nvSpPr>
        <p:spPr>
          <a:xfrm>
            <a:off x="3474720" y="1481328"/>
            <a:ext cx="457200" cy="457200"/>
          </a:xfrm>
          <a:prstGeom prst="ellipse">
            <a:avLst/>
          </a:prstGeom>
          <a:solidFill>
            <a:srgbClr val="E09F3E"/>
          </a:solidFill>
          <a:ln w="12700">
            <a:solidFill>
              <a:srgbClr val="E09F3E"/>
            </a:solidFill>
            <a:prstDash val="solid"/>
          </a:ln>
        </p:spPr>
      </p:sp>
      <p:sp>
        <p:nvSpPr>
          <p:cNvPr id="9" name="Text 7"/>
          <p:cNvSpPr txBox="1"/>
          <p:nvPr/>
        </p:nvSpPr>
        <p:spPr>
          <a:xfrm>
            <a:off x="34747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txBox="1"/>
          <p:nvPr/>
        </p:nvSpPr>
        <p:spPr>
          <a:xfrm>
            <a:off x="34747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Process decided</a:t>
            </a:r>
            <a:endParaRPr lang="en-US" sz="1500" dirty="0"/>
          </a:p>
          <a:p>
            <a:pPr indent="0" marL="0">
              <a:spcAft>
                <a:spcPts val="400"/>
              </a:spcAft>
              <a:buNone/>
            </a:pPr>
            <a:r>
              <a:rPr lang="en-US" sz="1200" dirty="0">
                <a:solidFill>
                  <a:srgbClr val="DCEBEA"/>
                </a:solidFill>
              </a:rPr>
              <a:t>Iterative-incremental life cycle: one increment per course milestone, with peer review after each one.</a:t>
            </a:r>
            <a:endParaRPr lang="en-US" sz="1500" dirty="0"/>
          </a:p>
        </p:txBody>
      </p:sp>
      <p:sp>
        <p:nvSpPr>
          <p:cNvPr id="11" name="Shape 9"/>
          <p:cNvSpPr/>
          <p:nvPr/>
        </p:nvSpPr>
        <p:spPr>
          <a:xfrm>
            <a:off x="6035040" y="1325880"/>
            <a:ext cx="2514600" cy="1874520"/>
          </a:xfrm>
          <a:prstGeom prst="roundRect">
            <a:avLst>
              <a:gd name="adj" fmla="val 3902"/>
            </a:avLst>
          </a:prstGeom>
          <a:solidFill>
            <a:srgbClr val="15606F"/>
          </a:solidFill>
          <a:ln w="12700">
            <a:solidFill>
              <a:srgbClr val="15606F"/>
            </a:solidFill>
            <a:prstDash val="solid"/>
          </a:ln>
        </p:spPr>
      </p:sp>
      <p:sp>
        <p:nvSpPr>
          <p:cNvPr id="12" name="Shape 10"/>
          <p:cNvSpPr/>
          <p:nvPr/>
        </p:nvSpPr>
        <p:spPr>
          <a:xfrm>
            <a:off x="6217920" y="1481328"/>
            <a:ext cx="457200" cy="457200"/>
          </a:xfrm>
          <a:prstGeom prst="ellipse">
            <a:avLst/>
          </a:prstGeom>
          <a:solidFill>
            <a:srgbClr val="E09F3E"/>
          </a:solidFill>
          <a:ln w="12700">
            <a:solidFill>
              <a:srgbClr val="E09F3E"/>
            </a:solidFill>
            <a:prstDash val="solid"/>
          </a:ln>
        </p:spPr>
      </p:sp>
      <p:sp>
        <p:nvSpPr>
          <p:cNvPr id="13" name="Text 11"/>
          <p:cNvSpPr txBox="1"/>
          <p:nvPr/>
        </p:nvSpPr>
        <p:spPr>
          <a:xfrm>
            <a:off x="621792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4" name="Text 12"/>
          <p:cNvSpPr txBox="1"/>
          <p:nvPr/>
        </p:nvSpPr>
        <p:spPr>
          <a:xfrm>
            <a:off x="6217920" y="2029968"/>
            <a:ext cx="2148840" cy="109728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Ready for requirements</a:t>
            </a:r>
            <a:endParaRPr lang="en-US" sz="1500" dirty="0"/>
          </a:p>
          <a:p>
            <a:pPr indent="0" marL="0">
              <a:spcAft>
                <a:spcPts val="400"/>
              </a:spcAft>
              <a:buNone/>
            </a:pPr>
            <a:r>
              <a:rPr lang="en-US" sz="1200" dirty="0">
                <a:solidFill>
                  <a:srgbClr val="DCEBEA"/>
                </a:solidFill>
              </a:rPr>
              <a:t>Requirements classified and SRS work assigned to all six members.</a:t>
            </a:r>
            <a:endParaRPr lang="en-US" sz="1500" dirty="0"/>
          </a:p>
        </p:txBody>
      </p:sp>
      <p:sp>
        <p:nvSpPr>
          <p:cNvPr id="15" name="Text 13"/>
          <p:cNvSpPr txBox="1"/>
          <p:nvPr/>
        </p:nvSpPr>
        <p:spPr>
          <a:xfrm>
            <a:off x="548640" y="3474720"/>
            <a:ext cx="8046720" cy="548640"/>
          </a:xfrm>
          <a:prstGeom prst="rect">
            <a:avLst/>
          </a:prstGeom>
          <a:noFill/>
          <a:ln/>
        </p:spPr>
        <p:txBody>
          <a:bodyPr wrap="square" lIns="0" tIns="0" rIns="0" bIns="0" rtlCol="0" anchor="ctr"/>
          <a:lstStyle/>
          <a:p>
            <a:pPr indent="0" marL="0">
              <a:buNone/>
            </a:pPr>
            <a:r>
              <a:rPr lang="en-US" sz="1400" b="1" dirty="0">
                <a:solidFill>
                  <a:srgbClr val="E09F3E"/>
                </a:solidFill>
              </a:rPr>
              <a:t>Next week: </a:t>
            </a:r>
            <a:pPr indent="0" marL="0">
              <a:buNone/>
            </a:pPr>
            <a:r>
              <a:rPr lang="en-US" sz="1400" dirty="0">
                <a:solidFill>
                  <a:srgbClr val="FFFFFF"/>
                </a:solidFill>
              </a:rPr>
              <a:t>requirements engineering fundamentals and elicitation → first SRS drafts, on track for SRS v1.0 in week 7.</a:t>
            </a:r>
            <a:endParaRPr lang="en-US" sz="1400" dirty="0"/>
          </a:p>
        </p:txBody>
      </p:sp>
      <p:sp>
        <p:nvSpPr>
          <p:cNvPr id="16" name="Text 14"/>
          <p:cNvSpPr txBox="1"/>
          <p:nvPr/>
        </p:nvSpPr>
        <p:spPr>
          <a:xfrm>
            <a:off x="548640" y="4251960"/>
            <a:ext cx="8046720" cy="365760"/>
          </a:xfrm>
          <a:prstGeom prst="rect">
            <a:avLst/>
          </a:prstGeom>
          <a:noFill/>
          <a:ln/>
        </p:spPr>
        <p:txBody>
          <a:bodyPr wrap="square" lIns="0" tIns="0" rIns="0" bIns="0" rtlCol="0" anchor="ctr"/>
          <a:lstStyle/>
          <a:p>
            <a:pPr indent="0" marL="0">
              <a:buNone/>
            </a:pPr>
            <a:r>
              <a:rPr lang="en-US" sz="1600" b="1" dirty="0">
                <a:solidFill>
                  <a:srgbClr val="CFE3E1"/>
                </a:solidFill>
              </a:rPr>
              <a:t>Thank you · Questions?</a:t>
            </a:r>
            <a:endParaRPr lang="en-US" sz="1600" dirty="0"/>
          </a:p>
        </p:txBody>
      </p:sp>
    </p:spTree>
  </p:cSld>
  <p:clrMapOvr>
    <a:masterClrMapping/>
  </p:clrMapOvr>
</p:sld>
</file>

<file path=ppt/theme/theme1.xml><?xml version="1.0" encoding="utf-8"?>
<a:theme xmlns:a="http://schemas.openxmlformats.org/drawingml/2006/main" name="NewEra">
  <a:themeElements>
    <a:clrScheme name="NewEra">
      <a:dk1>
        <a:srgbClr val="1F2A30"/>
      </a:dk1>
      <a:lt1>
        <a:srgbClr val="FFFFFF"/>
      </a:lt1>
      <a:dk2>
        <a:srgbClr val="0E4D5C"/>
      </a:dk2>
      <a:lt2>
        <a:srgbClr val="EAF2F2"/>
      </a:lt2>
      <a:accent1>
        <a:srgbClr val="0E4D5C"/>
      </a:accent1>
      <a:accent2>
        <a:srgbClr val="1B7F79"/>
      </a:accent2>
      <a:accent3>
        <a:srgbClr val="E09F3E"/>
      </a:accent3>
      <a:accent4>
        <a:srgbClr val="5B8E7D"/>
      </a:accent4>
      <a:accent5>
        <a:srgbClr val="34495E"/>
      </a:accent5>
      <a:accent6>
        <a:srgbClr val="9BB8B6"/>
      </a:accent6>
      <a:hlink>
        <a:srgbClr val="1B7F79"/>
      </a:hlink>
      <a:folHlink>
        <a:srgbClr val="5B8E7D"/>
      </a:folHlink>
    </a:clrScheme>
    <a:fontScheme name="NewE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NewEra POS — Weekly Report W05</dc:title>
  <dc:subject>PptxGenJS Presentation</dc:subject>
  <dc:creator>Team D</dc:creator>
  <cp:lastModifiedBy>Team D</cp:lastModifiedBy>
  <cp:revision>1</cp:revision>
  <dcterms:created xsi:type="dcterms:W3CDTF">2026-10-14T12:29:14Z</dcterms:created>
  <dcterms:modified xsi:type="dcterms:W3CDTF">2026-10-14T12:29:14Z</dcterms:modified>
</cp:coreProperties>
</file>